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89S/qafa3B+U0Sguy0hpE66F5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00"/>
              <a:buFont typeface="Arial"/>
              <a:buNone/>
              <a:defRPr/>
            </a:lvl1pPr>
            <a:lvl2pPr indent="0" lvl="1" marL="0" algn="r">
              <a:buClr>
                <a:schemeClr val="dk2"/>
              </a:buClr>
              <a:buSzPts val="1300"/>
              <a:buFont typeface="Arial"/>
              <a:buNone/>
              <a:defRPr/>
            </a:lvl2pPr>
            <a:lvl3pPr indent="0" lvl="2" marL="0" algn="r">
              <a:buClr>
                <a:schemeClr val="dk2"/>
              </a:buClr>
              <a:buSzPts val="1300"/>
              <a:buFont typeface="Arial"/>
              <a:buNone/>
              <a:defRPr/>
            </a:lvl3pPr>
            <a:lvl4pPr indent="0" lvl="3" marL="0" algn="r">
              <a:buClr>
                <a:schemeClr val="dk2"/>
              </a:buClr>
              <a:buSzPts val="1300"/>
              <a:buFont typeface="Arial"/>
              <a:buNone/>
              <a:defRPr/>
            </a:lvl4pPr>
            <a:lvl5pPr indent="0" lvl="4" marL="0" algn="r">
              <a:buClr>
                <a:schemeClr val="dk2"/>
              </a:buClr>
              <a:buSzPts val="1300"/>
              <a:buFont typeface="Arial"/>
              <a:buNone/>
              <a:defRPr/>
            </a:lvl5pPr>
            <a:lvl6pPr indent="0" lvl="5" marL="0" algn="r">
              <a:buClr>
                <a:schemeClr val="dk2"/>
              </a:buClr>
              <a:buSzPts val="1300"/>
              <a:buFont typeface="Arial"/>
              <a:buNone/>
              <a:defRPr/>
            </a:lvl6pPr>
            <a:lvl7pPr indent="0" lvl="6" marL="0" algn="r">
              <a:buClr>
                <a:schemeClr val="dk2"/>
              </a:buClr>
              <a:buSzPts val="1300"/>
              <a:buFont typeface="Arial"/>
              <a:buNone/>
              <a:defRPr/>
            </a:lvl7pPr>
            <a:lvl8pPr indent="0" lvl="7" marL="0" algn="r">
              <a:buClr>
                <a:schemeClr val="dk2"/>
              </a:buClr>
              <a:buSzPts val="1300"/>
              <a:buFont typeface="Arial"/>
              <a:buNone/>
              <a:defRPr/>
            </a:lvl8pPr>
            <a:lvl9pPr indent="0" lvl="8" marL="0" algn="r">
              <a:buClr>
                <a:schemeClr val="dk2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2" name="Google Shape;112;p2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3" name="Google Shape;113;p2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27" name="Google Shape;127;p3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28" name="Google Shape;128;p3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35" name="Google Shape;135;p3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3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grpSp>
        <p:nvGrpSpPr>
          <p:cNvPr id="88" name="Google Shape;88;p11"/>
          <p:cNvGrpSpPr/>
          <p:nvPr/>
        </p:nvGrpSpPr>
        <p:grpSpPr>
          <a:xfrm>
            <a:off x="209121" y="5597131"/>
            <a:ext cx="11819607" cy="1270396"/>
            <a:chOff x="209121" y="5597130"/>
            <a:chExt cx="11819607" cy="1270396"/>
          </a:xfrm>
        </p:grpSpPr>
        <p:pic>
          <p:nvPicPr>
            <p:cNvPr id="89" name="Google Shape;89;p1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0609392" y="5597130"/>
              <a:ext cx="1419336" cy="1270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1"/>
            <p:cNvPicPr preferRelativeResize="0"/>
            <p:nvPr/>
          </p:nvPicPr>
          <p:blipFill rotWithShape="1">
            <a:blip r:embed="rId2">
              <a:alphaModFix/>
            </a:blip>
            <a:srcRect b="19175" l="8000" r="7160" t="18013"/>
            <a:stretch/>
          </p:blipFill>
          <p:spPr>
            <a:xfrm>
              <a:off x="209121" y="5820720"/>
              <a:ext cx="3194157" cy="87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1"/>
            <p:cNvPicPr preferRelativeResize="0"/>
            <p:nvPr/>
          </p:nvPicPr>
          <p:blipFill rotWithShape="1">
            <a:blip r:embed="rId3">
              <a:alphaModFix/>
            </a:blip>
            <a:srcRect b="0" l="8825" r="60425" t="41592"/>
            <a:stretch/>
          </p:blipFill>
          <p:spPr>
            <a:xfrm>
              <a:off x="5851890" y="5668273"/>
              <a:ext cx="1291424" cy="10921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 amt="16000"/>
          </a:blip>
          <a:srcRect b="15144" l="32990" r="22075" t="7113"/>
          <a:stretch/>
        </p:blipFill>
        <p:spPr>
          <a:xfrm rot="-5400000">
            <a:off x="2614613" y="-2719386"/>
            <a:ext cx="6905625" cy="12287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"/>
          <p:cNvGrpSpPr/>
          <p:nvPr/>
        </p:nvGrpSpPr>
        <p:grpSpPr>
          <a:xfrm>
            <a:off x="133351" y="-152399"/>
            <a:ext cx="11728226" cy="2381249"/>
            <a:chOff x="100013" y="-114300"/>
            <a:chExt cx="8796169" cy="1785937"/>
          </a:xfrm>
        </p:grpSpPr>
        <p:pic>
          <p:nvPicPr>
            <p:cNvPr id="145" name="Google Shape;145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00862" y="-114300"/>
              <a:ext cx="1995320" cy="1785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"/>
            <p:cNvPicPr preferRelativeResize="0"/>
            <p:nvPr/>
          </p:nvPicPr>
          <p:blipFill rotWithShape="1">
            <a:blip r:embed="rId5">
              <a:alphaModFix/>
            </a:blip>
            <a:srcRect b="19175" l="8000" r="7160" t="18013"/>
            <a:stretch/>
          </p:blipFill>
          <p:spPr>
            <a:xfrm>
              <a:off x="100013" y="200025"/>
              <a:ext cx="4490382" cy="1226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1"/>
            <p:cNvPicPr preferRelativeResize="0"/>
            <p:nvPr/>
          </p:nvPicPr>
          <p:blipFill rotWithShape="1">
            <a:blip r:embed="rId6">
              <a:alphaModFix/>
            </a:blip>
            <a:srcRect b="0" l="8825" r="60425" t="41592"/>
            <a:stretch/>
          </p:blipFill>
          <p:spPr>
            <a:xfrm>
              <a:off x="4818994" y="-14287"/>
              <a:ext cx="1815497" cy="153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8705227" y="5246275"/>
            <a:ext cx="4007764" cy="1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 sz="18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M.C. María Fernanda Largo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 sz="18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lang="es-MX" sz="18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de Mayo del 2026</a:t>
            </a:r>
            <a:endParaRPr sz="1800">
              <a:solidFill>
                <a:srgbClr val="1C4587"/>
              </a:solidFill>
            </a:endParaRPr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7">
            <a:alphaModFix/>
          </a:blip>
          <a:srcRect b="16464" l="11286" r="2388" t="17149"/>
          <a:stretch/>
        </p:blipFill>
        <p:spPr>
          <a:xfrm>
            <a:off x="-37075" y="2151842"/>
            <a:ext cx="8742302" cy="4706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743198" y="1632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s-MX" sz="4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HÁBITOS PERSONALES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743198" y="1488808"/>
            <a:ext cx="1095399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Mantener en todo momento las batas </a:t>
            </a:r>
            <a:r>
              <a:rPr lang="es-MX" sz="2400">
                <a:latin typeface="Roboto"/>
                <a:ea typeface="Roboto"/>
                <a:cs typeface="Roboto"/>
                <a:sym typeface="Roboto"/>
              </a:rPr>
              <a:t>abrochadas</a:t>
            </a:r>
            <a:endParaRPr/>
          </a:p>
          <a:p>
            <a:pPr indent="-20193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abandonar objetos personales en mesas de trabajo.</a:t>
            </a:r>
            <a:endParaRPr/>
          </a:p>
          <a:p>
            <a:pPr indent="-20193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ingerir alimentos en el laboratorio.</a:t>
            </a:r>
            <a:endParaRPr/>
          </a:p>
          <a:p>
            <a:pPr indent="-20193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colocar alimentos ni bebidas en las mesas de trabajo.</a:t>
            </a:r>
            <a:endParaRPr/>
          </a:p>
          <a:p>
            <a:pPr indent="-20193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fumar en el laboratorio.</a:t>
            </a:r>
            <a:endParaRPr/>
          </a:p>
          <a:p>
            <a:pPr indent="-20193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Lavarse las manos antes de realizar un experimento y al retirarse del laboratorio.</a:t>
            </a:r>
            <a:endParaRPr/>
          </a:p>
          <a:p>
            <a:pPr indent="-20193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Llevar el cabello recogido.</a:t>
            </a:r>
            <a:endParaRPr/>
          </a:p>
          <a:p>
            <a:pPr indent="-20193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maquillarse dentro del laboratorio.</a:t>
            </a:r>
            <a:endParaRPr/>
          </a:p>
          <a:p>
            <a:pPr indent="-20193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llevar pulseras, colgantes o mangas anchas que pudieran engancharse con los equipos.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/>
          <p:nvPr/>
        </p:nvSpPr>
        <p:spPr>
          <a:xfrm>
            <a:off x="956463" y="-31723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LINEAMIENTOS GENERALES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956474" y="915353"/>
            <a:ext cx="10752000" cy="43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debe trabajar una persona sola el experimento.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También debe comprobarse la ventilación general del laboratorio.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Nunca debe estar permitido fumar ni comer en el laboratorio.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Debe regularse adecuadamente la eliminación de residuos. Tener especial cuidado en no eliminar por el desagüe, aunque sea en pequeñas cantidades productos tales como: los que reaccionan violentamente con el agua, Muy tóxicos (incluyendo metales pesados), inflamables, no biodegradables y cancerígenos (Ejemplo:Bromuro de etidio).</a:t>
            </a:r>
            <a:endParaRPr/>
          </a:p>
          <a:p>
            <a:pPr indent="0" lvl="0" marL="114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Mantener el orden y la disciplina en los experimentos (cuidar los equipos).</a:t>
            </a:r>
            <a:endParaRPr/>
          </a:p>
          <a:p>
            <a:pPr indent="-16510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s-MX" sz="4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MEDIOS DE PROTECCIÓN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Las batas serán obligatorias en trabajos con productos químicos y deberán ser 100% de algodón. No se deberá salir con la bata puesta del laboratorio y en especial a zonas comunes como la cafetería ó sanitario.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Utilizar los guantes de nitrilo en cada experimento (no tocarse la cara, el cabello u otra parte del cuerpo con los guantes puestos).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s-MX" sz="4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HÁBITOS DE TRABAJO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296883" y="1182975"/>
            <a:ext cx="11056917" cy="47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Seguir las indicaciones y recomendaciones del profesor a cargo de cada grupo de trabajo (ellos los guiarán en del desarrollo del experimento).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Utilizar en todo momento gradillas de trabajo.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llevar material o reactivo de laboratorio en los bolsillos de las batas.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tocar con las manos ni probar los reactivos químicos.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efectuar pipeteo con la boca.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trabajar separados de la mesa.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Asegurarse del enfriamiento de los materiales antes de aplicar directamente las manos (Ejemplo: En la preparacion de gel de agaros ó uso del termobloque).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 terminar el trabajo, asegurarse de la desconexión de equipos.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4346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4346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s-MX" sz="4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HÁBITOS DE TRABAJO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296883" y="1182975"/>
            <a:ext cx="11056917" cy="47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 finalizar una tarea u operación, recoger materiales, reactivos, equipos, etc., evitando las acumulaciones innecesarias.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 la mesa de trabajo no habrá más reactivos que los que se vayan a utilizar en ese momento.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Emplear siempre las micropipetas en el intervalo de volumen indicado en su etiqueta (</a:t>
            </a:r>
            <a:r>
              <a:rPr b="1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cada micropipeta está calibrada y su mal uso puede generar mediciones erróneas</a:t>
            </a: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Antes de empezar un experimento </a:t>
            </a:r>
            <a:r>
              <a:rPr b="1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desinfectar</a:t>
            </a: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las mesas de trabajo con hipoclorito de sodio 0.1%, </a:t>
            </a:r>
            <a:r>
              <a:rPr b="1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limpieza</a:t>
            </a:r>
            <a:r>
              <a:rPr b="0" i="0" lang="es-MX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con SDS 0.1%, y etanol al 70% (Muy importante para evitar la contaminación cruzada). </a:t>
            </a:r>
            <a:endParaRPr b="0" i="0" sz="1867" u="none" cap="none" strike="noStrike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4346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MX" sz="4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 caso de accidente: Salpicaduras</a:t>
            </a:r>
            <a:endParaRPr/>
          </a:p>
        </p:txBody>
      </p:sp>
      <p:sp>
        <p:nvSpPr>
          <p:cNvPr id="185" name="Google Shape;185;p7"/>
          <p:cNvSpPr txBox="1"/>
          <p:nvPr>
            <p:ph idx="1" type="body"/>
          </p:nvPr>
        </p:nvSpPr>
        <p:spPr>
          <a:xfrm>
            <a:off x="415600" y="1477256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MX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 piel y ojos: 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Deben lavarse con abundante agua. No intentar neutralizar. Acudir al médico con prontitud.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MX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 batas o vestidos: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Debe quitarse rápidamente la bata y según la magnitud de la impregnación si hay contacto con la piel, acudir al médico si es necesario.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édico Hablando Por Teléfono Móvil Imagen de archivo - Imagen de experto,  persona: 183443971" id="190" name="Google Shape;190;p8"/>
          <p:cNvPicPr preferRelativeResize="0"/>
          <p:nvPr/>
        </p:nvPicPr>
        <p:blipFill rotWithShape="1">
          <a:blip r:embed="rId3">
            <a:alphaModFix/>
          </a:blip>
          <a:srcRect b="8652" l="0" r="0" t="0"/>
          <a:stretch/>
        </p:blipFill>
        <p:spPr>
          <a:xfrm>
            <a:off x="1972311" y="593367"/>
            <a:ext cx="7454956" cy="4950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 s c u e l @ 3.0: El celular como recurso en el aula" id="191" name="Google Shape;1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800100"/>
            <a:ext cx="310515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2023-04-27T20:26:52Z</dcterms:created>
  <dc:creator>miguel ruiz de la cruz</dc:creator>
</cp:coreProperties>
</file>