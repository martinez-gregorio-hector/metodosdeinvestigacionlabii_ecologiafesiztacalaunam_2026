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36"/>
  </p:notesMasterIdLst>
  <p:sldIdLst>
    <p:sldId id="256" r:id="rId3"/>
    <p:sldId id="257" r:id="rId4"/>
    <p:sldId id="258" r:id="rId5"/>
    <p:sldId id="259" r:id="rId6"/>
    <p:sldId id="260" r:id="rId7"/>
    <p:sldId id="331" r:id="rId8"/>
    <p:sldId id="261" r:id="rId9"/>
    <p:sldId id="279" r:id="rId10"/>
    <p:sldId id="487" r:id="rId11"/>
    <p:sldId id="263" r:id="rId12"/>
    <p:sldId id="264" r:id="rId13"/>
    <p:sldId id="352" r:id="rId14"/>
    <p:sldId id="265" r:id="rId15"/>
    <p:sldId id="266" r:id="rId16"/>
    <p:sldId id="267" r:id="rId17"/>
    <p:sldId id="268" r:id="rId18"/>
    <p:sldId id="269" r:id="rId19"/>
    <p:sldId id="488" r:id="rId20"/>
    <p:sldId id="270" r:id="rId21"/>
    <p:sldId id="271" r:id="rId22"/>
    <p:sldId id="489" r:id="rId23"/>
    <p:sldId id="272" r:id="rId24"/>
    <p:sldId id="492" r:id="rId25"/>
    <p:sldId id="419" r:id="rId26"/>
    <p:sldId id="490" r:id="rId27"/>
    <p:sldId id="491" r:id="rId28"/>
    <p:sldId id="273" r:id="rId29"/>
    <p:sldId id="274" r:id="rId30"/>
    <p:sldId id="493" r:id="rId31"/>
    <p:sldId id="275" r:id="rId32"/>
    <p:sldId id="276" r:id="rId33"/>
    <p:sldId id="277" r:id="rId34"/>
    <p:sldId id="278" r:id="rId35"/>
  </p:sldIdLst>
  <p:sldSz cx="12192000" cy="6858000"/>
  <p:notesSz cx="6858000" cy="9144000"/>
  <p:embeddedFontLst>
    <p:embeddedFont>
      <p:font typeface="EB Garamond" pitchFamily="2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1" roundtripDataSignature="AMtx7mgAhWhAhjkgYzQUF1rdYmFEAdCE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35"/>
    <p:restoredTop sz="94619"/>
  </p:normalViewPr>
  <p:slideViewPr>
    <p:cSldViewPr snapToGrid="0">
      <p:cViewPr varScale="1">
        <p:scale>
          <a:sx n="102" d="100"/>
          <a:sy n="102" d="100"/>
        </p:scale>
        <p:origin x="216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3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2.fntdata"/><Relationship Id="rId20" Type="http://schemas.openxmlformats.org/officeDocument/2006/relationships/slide" Target="slides/slide18.xml"/><Relationship Id="rId41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1d5e866377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21d5e866377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1ea4789aaa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g21ea4789aaa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1ea4789aaa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21ea4789aaa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1ea4789aaa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21ea4789aaa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1ea4789aaa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21ea4789aaa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1ea4789aaa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g21ea4789aaa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888288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3b698d004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g23b698d004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1ea4789aaa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g21ea4789aaa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1ea4789aaa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g21ea4789aaa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1ea4789aaa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g21ea4789aaa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1ea4789aaa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g21ea4789aaa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1ea4789aaa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g21ea4789aaa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1ea4789aaa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g21ea4789aaa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80A0E16D-A0A9-DCFA-B3C0-30DB69BEC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1ea4789aaa_0_160:notes">
            <a:extLst>
              <a:ext uri="{FF2B5EF4-FFF2-40B4-BE49-F238E27FC236}">
                <a16:creationId xmlns:a16="http://schemas.microsoft.com/office/drawing/2014/main" id="{3846636C-4664-AE20-F089-A64DFA16FB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g21ea4789aaa_0_160:notes">
            <a:extLst>
              <a:ext uri="{FF2B5EF4-FFF2-40B4-BE49-F238E27FC236}">
                <a16:creationId xmlns:a16="http://schemas.microsoft.com/office/drawing/2014/main" id="{7111935E-FF78-E54C-FD83-46941B6065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80978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1ea4789aaa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21ea4789aaa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1ea4789aaa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g21ea4789aaa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EEEFCFD-5E15-F278-B6A5-4970F32D4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1ea4789aaa_0_160:notes">
            <a:extLst>
              <a:ext uri="{FF2B5EF4-FFF2-40B4-BE49-F238E27FC236}">
                <a16:creationId xmlns:a16="http://schemas.microsoft.com/office/drawing/2014/main" id="{11C7D53F-ADE2-98C4-1188-A5497D2736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g21ea4789aaa_0_160:notes">
            <a:extLst>
              <a:ext uri="{FF2B5EF4-FFF2-40B4-BE49-F238E27FC236}">
                <a16:creationId xmlns:a16="http://schemas.microsoft.com/office/drawing/2014/main" id="{0765A053-01E9-28AD-6139-B615DA6825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51899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1ea4789aaa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21ea4789aaa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338389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312888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11298-D125-7A24-22E2-211DA3143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5663AD0-2A52-2025-CE44-3A3C059C9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14E415-05C2-9301-0F90-02931A0D7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20457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099C5-05F4-2EBE-ADB9-397072278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11148BE-534F-EAEB-D4E4-02DF7115C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8533AA0-7995-C447-5589-6960E3ECC4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328399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1ea4789aaa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g21ea4789aaa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1ea4789aaa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g21ea4789aaa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1ea4789aaa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g21ea4789aaa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1ea4789aaa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g21ea4789aaa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1ea4789aaa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g21ea4789aaa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24ffc091f5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g124ffc091f5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7"/>
          <p:cNvSpPr txBox="1">
            <a:spLocks noGrp="1"/>
          </p:cNvSpPr>
          <p:nvPr>
            <p:ph type="body" idx="1"/>
          </p:nvPr>
        </p:nvSpPr>
        <p:spPr>
          <a:xfrm rot="5400000">
            <a:off x="3920332" y="-1256506"/>
            <a:ext cx="4351337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5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8" name="Google Shape;48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4" name="Google Shape;54;p5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5" name="Google Shape;55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6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6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6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6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6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1ea4789aaa_0_76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90" name="Google Shape;90;g21ea4789aaa_0_76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91" name="Google Shape;91;g21ea4789aaa_0_7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1ea4789aaa_0_80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4" name="Google Shape;94;g21ea4789aaa_0_8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1ea4789aaa_0_8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g21ea4789aaa_0_8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g21ea4789aaa_0_8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1ea4789aaa_0_8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21ea4789aaa_0_8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2" name="Google Shape;102;g21ea4789aaa_0_87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3" name="Google Shape;103;g21ea4789aaa_0_8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1ea4789aaa_0_9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g21ea4789aaa_0_9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1ea4789aaa_0_95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09" name="Google Shape;109;g21ea4789aaa_0_95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10" name="Google Shape;110;g21ea4789aaa_0_9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1ea4789aaa_0_99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113" name="Google Shape;113;g21ea4789aaa_0_9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1ea4789aaa_0_102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21ea4789aaa_0_102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17" name="Google Shape;117;g21ea4789aaa_0_102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8" name="Google Shape;118;g21ea4789aaa_0_102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19" name="Google Shape;119;g21ea4789aaa_0_10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1ea4789aaa_0_108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122" name="Google Shape;122;g21ea4789aaa_0_10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1ea4789aaa_0_1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25" name="Google Shape;125;g21ea4789aaa_0_1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26" name="Google Shape;126;g21ea4789aaa_0_1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1ea4789aaa_0_11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1ea4789aaa_0_6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g21ea4789aaa_0_6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g21ea4789aaa_0_6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84" name="Google Shape;84;g21ea4789aaa_0_68"/>
          <p:cNvGrpSpPr/>
          <p:nvPr/>
        </p:nvGrpSpPr>
        <p:grpSpPr>
          <a:xfrm>
            <a:off x="209121" y="5597130"/>
            <a:ext cx="11819607" cy="1270396"/>
            <a:chOff x="209121" y="5597130"/>
            <a:chExt cx="11819607" cy="1270396"/>
          </a:xfrm>
        </p:grpSpPr>
        <p:pic>
          <p:nvPicPr>
            <p:cNvPr id="85" name="Google Shape;85;g21ea4789aaa_0_68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10609392" y="5597130"/>
              <a:ext cx="1419336" cy="12703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g21ea4789aaa_0_68"/>
            <p:cNvPicPr preferRelativeResize="0"/>
            <p:nvPr/>
          </p:nvPicPr>
          <p:blipFill rotWithShape="1">
            <a:blip r:embed="rId14">
              <a:alphaModFix/>
            </a:blip>
            <a:srcRect l="8000" t="18013" r="7160" b="19175"/>
            <a:stretch/>
          </p:blipFill>
          <p:spPr>
            <a:xfrm>
              <a:off x="209121" y="5820720"/>
              <a:ext cx="3194157" cy="872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g21ea4789aaa_0_68"/>
            <p:cNvPicPr preferRelativeResize="0"/>
            <p:nvPr/>
          </p:nvPicPr>
          <p:blipFill rotWithShape="1">
            <a:blip r:embed="rId15">
              <a:alphaModFix/>
            </a:blip>
            <a:srcRect l="8825" t="41592" r="60425"/>
            <a:stretch/>
          </p:blipFill>
          <p:spPr>
            <a:xfrm>
              <a:off x="5851890" y="5668273"/>
              <a:ext cx="1291424" cy="109211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18.jp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jp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11" Type="http://schemas.openxmlformats.org/officeDocument/2006/relationships/image" Target="../media/image33.jpg"/><Relationship Id="rId5" Type="http://schemas.openxmlformats.org/officeDocument/2006/relationships/image" Target="../media/image27.png"/><Relationship Id="rId10" Type="http://schemas.openxmlformats.org/officeDocument/2006/relationships/image" Target="../media/image32.jp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Cd6B5HRaZ8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7.jpeg"/><Relationship Id="rId5" Type="http://schemas.openxmlformats.org/officeDocument/2006/relationships/hyperlink" Target="https://www.youtube.com/watch?v=fCd6B5HRaZ8" TargetMode="External"/><Relationship Id="rId4" Type="http://schemas.openxmlformats.org/officeDocument/2006/relationships/image" Target="../media/image46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7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2.png"/><Relationship Id="rId4" Type="http://schemas.openxmlformats.org/officeDocument/2006/relationships/image" Target="../media/image51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g21d5e866377_0_93"/>
          <p:cNvPicPr preferRelativeResize="0"/>
          <p:nvPr/>
        </p:nvPicPr>
        <p:blipFill rotWithShape="1">
          <a:blip r:embed="rId3">
            <a:alphaModFix amt="16000"/>
          </a:blip>
          <a:srcRect l="32990" t="7113" r="22074" b="15144"/>
          <a:stretch/>
        </p:blipFill>
        <p:spPr>
          <a:xfrm rot="-5400000">
            <a:off x="2614612" y="-2719387"/>
            <a:ext cx="6905625" cy="1228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21d5e866377_0_9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01150" y="-152400"/>
            <a:ext cx="2660426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21d5e866377_0_93"/>
          <p:cNvPicPr preferRelativeResize="0"/>
          <p:nvPr/>
        </p:nvPicPr>
        <p:blipFill rotWithShape="1">
          <a:blip r:embed="rId5">
            <a:alphaModFix/>
          </a:blip>
          <a:srcRect l="8000" t="18013" r="7160" b="19175"/>
          <a:stretch/>
        </p:blipFill>
        <p:spPr>
          <a:xfrm>
            <a:off x="133350" y="266700"/>
            <a:ext cx="5987174" cy="1635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21d5e866377_0_93"/>
          <p:cNvPicPr preferRelativeResize="0"/>
          <p:nvPr/>
        </p:nvPicPr>
        <p:blipFill rotWithShape="1">
          <a:blip r:embed="rId6">
            <a:alphaModFix/>
          </a:blip>
          <a:srcRect l="8825" t="41592" r="60425"/>
          <a:stretch/>
        </p:blipFill>
        <p:spPr>
          <a:xfrm>
            <a:off x="6425325" y="-19050"/>
            <a:ext cx="2420663" cy="2047067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21d5e866377_0_93"/>
          <p:cNvSpPr txBox="1">
            <a:spLocks noGrp="1"/>
          </p:cNvSpPr>
          <p:nvPr>
            <p:ph type="ctrTitle"/>
          </p:nvPr>
        </p:nvSpPr>
        <p:spPr>
          <a:xfrm>
            <a:off x="131750" y="3218800"/>
            <a:ext cx="119286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endParaRPr sz="3200" b="1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Fundamentos de la secuenciación masiva en paralelo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38" name="Google Shape;138;g21d5e866377_0_93"/>
          <p:cNvSpPr txBox="1">
            <a:spLocks noGrp="1"/>
          </p:cNvSpPr>
          <p:nvPr>
            <p:ph type="subTitle" idx="1"/>
          </p:nvPr>
        </p:nvSpPr>
        <p:spPr>
          <a:xfrm>
            <a:off x="7913400" y="5809650"/>
            <a:ext cx="5040600" cy="14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s-MX" sz="2000" dirty="0">
                <a:solidFill>
                  <a:srgbClr val="7F6000"/>
                </a:solidFill>
              </a:rPr>
              <a:t>Dr. Felipe Vaca Paniagua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s-MX" sz="2000" dirty="0">
                <a:solidFill>
                  <a:srgbClr val="7F6000"/>
                </a:solidFill>
              </a:rPr>
              <a:t>29 abril 2025</a:t>
            </a:r>
            <a:endParaRPr sz="2000" dirty="0">
              <a:solidFill>
                <a:srgbClr val="7F6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1ea4789aaa_0_65"/>
          <p:cNvSpPr txBox="1">
            <a:spLocks noGrp="1"/>
          </p:cNvSpPr>
          <p:nvPr>
            <p:ph type="title" idx="4294967295"/>
          </p:nvPr>
        </p:nvSpPr>
        <p:spPr>
          <a:xfrm>
            <a:off x="838200" y="185737"/>
            <a:ext cx="105156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n-US" sz="2600" b="1"/>
              <a:t>¿Qué es la secuenciación?</a:t>
            </a:r>
            <a:endParaRPr sz="2600" b="1"/>
          </a:p>
        </p:txBody>
      </p:sp>
      <p:pic>
        <p:nvPicPr>
          <p:cNvPr id="144" name="Google Shape;144;g21ea4789aaa_0_65"/>
          <p:cNvPicPr preferRelativeResize="0"/>
          <p:nvPr/>
        </p:nvPicPr>
        <p:blipFill rotWithShape="1">
          <a:blip r:embed="rId3">
            <a:alphaModFix/>
          </a:blip>
          <a:srcRect l="12197" t="24450" r="12130" b="2884"/>
          <a:stretch/>
        </p:blipFill>
        <p:spPr>
          <a:xfrm>
            <a:off x="2376650" y="928288"/>
            <a:ext cx="7438700" cy="5001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1ea4789aaa_0_119"/>
          <p:cNvSpPr txBox="1">
            <a:spLocks noGrp="1"/>
          </p:cNvSpPr>
          <p:nvPr>
            <p:ph type="title" idx="4294967295"/>
          </p:nvPr>
        </p:nvSpPr>
        <p:spPr>
          <a:xfrm>
            <a:off x="838200" y="185737"/>
            <a:ext cx="105156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n-US" sz="2600" b="1"/>
              <a:t>El modelo de la doble hélice</a:t>
            </a:r>
            <a:endParaRPr sz="2600" b="1"/>
          </a:p>
        </p:txBody>
      </p:sp>
      <p:pic>
        <p:nvPicPr>
          <p:cNvPr id="150" name="Google Shape;150;g21ea4789aaa_0_1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825" y="944600"/>
            <a:ext cx="3714949" cy="345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21ea4789aaa_0_119"/>
          <p:cNvSpPr txBox="1">
            <a:spLocks noGrp="1"/>
          </p:cNvSpPr>
          <p:nvPr>
            <p:ph type="title" idx="4294967295"/>
          </p:nvPr>
        </p:nvSpPr>
        <p:spPr>
          <a:xfrm>
            <a:off x="164200" y="4740925"/>
            <a:ext cx="52413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n-US" sz="1500" b="1" i="1"/>
              <a:t>Fotografía 51.</a:t>
            </a:r>
            <a:r>
              <a:rPr lang="en-US" sz="1500"/>
              <a:t> Difracción de Rayos X tomada por R. Gosling, alumno de Rosalind Franklin, Mayo de 1952.</a:t>
            </a:r>
            <a:endParaRPr sz="1500"/>
          </a:p>
        </p:txBody>
      </p:sp>
      <p:grpSp>
        <p:nvGrpSpPr>
          <p:cNvPr id="152" name="Google Shape;152;g21ea4789aaa_0_119"/>
          <p:cNvGrpSpPr/>
          <p:nvPr/>
        </p:nvGrpSpPr>
        <p:grpSpPr>
          <a:xfrm>
            <a:off x="6343775" y="792200"/>
            <a:ext cx="5338368" cy="4683251"/>
            <a:chOff x="6800975" y="1097000"/>
            <a:chExt cx="5338368" cy="4683251"/>
          </a:xfrm>
        </p:grpSpPr>
        <p:pic>
          <p:nvPicPr>
            <p:cNvPr id="153" name="Google Shape;153;g21ea4789aaa_0_119"/>
            <p:cNvPicPr preferRelativeResize="0"/>
            <p:nvPr/>
          </p:nvPicPr>
          <p:blipFill rotWithShape="1">
            <a:blip r:embed="rId4">
              <a:alphaModFix/>
            </a:blip>
            <a:srcRect l="7501" t="10825" r="43307"/>
            <a:stretch/>
          </p:blipFill>
          <p:spPr>
            <a:xfrm>
              <a:off x="6800975" y="1097000"/>
              <a:ext cx="3711575" cy="467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g21ea4789aaa_0_119"/>
            <p:cNvPicPr preferRelativeResize="0"/>
            <p:nvPr/>
          </p:nvPicPr>
          <p:blipFill rotWithShape="1">
            <a:blip r:embed="rId5">
              <a:alphaModFix/>
            </a:blip>
            <a:srcRect r="6558" b="7372"/>
            <a:stretch/>
          </p:blipFill>
          <p:spPr>
            <a:xfrm>
              <a:off x="10650025" y="1359851"/>
              <a:ext cx="1489318" cy="4420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5" name="Google Shape;155;g21ea4789aaa_0_119"/>
          <p:cNvSpPr txBox="1"/>
          <p:nvPr/>
        </p:nvSpPr>
        <p:spPr>
          <a:xfrm>
            <a:off x="6825737" y="6314962"/>
            <a:ext cx="40530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Rosalind E. Franklin and R. G. Gosling., Nature, 1953.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21ea4789aaa_0_119"/>
          <p:cNvSpPr txBox="1"/>
          <p:nvPr/>
        </p:nvSpPr>
        <p:spPr>
          <a:xfrm>
            <a:off x="6826312" y="6503987"/>
            <a:ext cx="40530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J. D. Watson, F. H. C. Crick., Nature, 1953.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1ea4789aaa_0_124"/>
          <p:cNvSpPr txBox="1"/>
          <p:nvPr/>
        </p:nvSpPr>
        <p:spPr>
          <a:xfrm>
            <a:off x="258928" y="1996475"/>
            <a:ext cx="5623200" cy="25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Char char="-"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Francis Harry Compton Crick 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Char char="-"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James Dewey Watson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Char char="-"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Maurice Hugh Frederick Wilkins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Rosalind Franklin murió en 1958.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g21ea4789aaa_0_124" descr="Captura de pantalla 2015-08-12 a las 10.47.2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2399" y="915600"/>
            <a:ext cx="5025225" cy="459382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21ea4789aaa_0_124"/>
          <p:cNvSpPr txBox="1">
            <a:spLocks noGrp="1"/>
          </p:cNvSpPr>
          <p:nvPr>
            <p:ph type="title" idx="4294967295"/>
          </p:nvPr>
        </p:nvSpPr>
        <p:spPr>
          <a:xfrm>
            <a:off x="838200" y="185737"/>
            <a:ext cx="105156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n-US" sz="2600" b="1"/>
              <a:t>Premio Nobel de Medicina 1962</a:t>
            </a:r>
            <a:endParaRPr sz="26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g21ea4789aaa_0_1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6474" y="776425"/>
            <a:ext cx="8387424" cy="471792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21ea4789aaa_0_127"/>
          <p:cNvSpPr txBox="1">
            <a:spLocks noGrp="1"/>
          </p:cNvSpPr>
          <p:nvPr>
            <p:ph type="title" idx="4294967295"/>
          </p:nvPr>
        </p:nvSpPr>
        <p:spPr>
          <a:xfrm>
            <a:off x="838200" y="185737"/>
            <a:ext cx="105156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n-US" sz="2600" b="1"/>
              <a:t>Estructura molecular del DNA</a:t>
            </a:r>
            <a:endParaRPr sz="26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/>
          <p:nvPr/>
        </p:nvSpPr>
        <p:spPr>
          <a:xfrm>
            <a:off x="2807289" y="77026"/>
            <a:ext cx="6577426" cy="50889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</a:pPr>
            <a:endParaRPr sz="3200" b="1" dirty="0">
              <a:latin typeface="+mj-lt"/>
              <a:ea typeface="+mj-ea"/>
              <a:cs typeface="+mj-cs"/>
              <a:sym typeface="Helvetica Neue Bold Condensed"/>
            </a:endParaRPr>
          </a:p>
          <a:p>
            <a:pPr algn="ctr">
              <a:spcBef>
                <a:spcPct val="0"/>
              </a:spcBef>
            </a:pPr>
            <a:r>
              <a:rPr lang="es-ES_tradnl" sz="3200" b="1" dirty="0">
                <a:latin typeface="+mj-lt"/>
                <a:ea typeface="+mj-ea"/>
                <a:cs typeface="+mj-cs"/>
                <a:sym typeface="Helvetica Neue Bold Condensed"/>
              </a:rPr>
              <a:t>Definición de secuenciación</a:t>
            </a:r>
            <a:endParaRPr sz="3200" b="1" dirty="0">
              <a:latin typeface="+mj-lt"/>
              <a:ea typeface="+mj-ea"/>
              <a:cs typeface="+mj-cs"/>
              <a:sym typeface="Helvetica Neue Bold Condensed"/>
            </a:endParaRPr>
          </a:p>
          <a:p>
            <a:pPr algn="ctr">
              <a:spcBef>
                <a:spcPct val="0"/>
              </a:spcBef>
            </a:pPr>
            <a:r>
              <a:rPr sz="3200" b="1" dirty="0">
                <a:latin typeface="+mj-lt"/>
                <a:ea typeface="+mj-ea"/>
                <a:cs typeface="+mj-cs"/>
                <a:sym typeface="Helvetica Neue Bold Condensed"/>
              </a:rPr>
              <a:t>			</a:t>
            </a:r>
          </a:p>
        </p:txBody>
      </p:sp>
      <p:pic>
        <p:nvPicPr>
          <p:cNvPr id="129" name="Captura de pantalla 2014-01-20 a las 16.png" descr="Captura de pantalla 2014-01-20 a las 16.24.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361" y="1440673"/>
            <a:ext cx="7797850" cy="4241602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Rectángulo 1"/>
          <p:cNvSpPr/>
          <p:nvPr/>
        </p:nvSpPr>
        <p:spPr>
          <a:xfrm>
            <a:off x="776435" y="688779"/>
            <a:ext cx="10820621" cy="649032"/>
          </a:xfrm>
          <a:prstGeom prst="rect">
            <a:avLst/>
          </a:prstGeom>
        </p:spPr>
        <p:txBody>
          <a:bodyPr wrap="square" lIns="64268" tIns="32135" rIns="64268" bIns="32135">
            <a:spAutoFit/>
          </a:bodyPr>
          <a:lstStyle/>
          <a:p>
            <a:pPr algn="just"/>
            <a:r>
              <a:rPr lang="es-ES" sz="1898" dirty="0"/>
              <a:t>La secuenciación del DNA es el proceso de determinar el orden preciso de los nucleótidos dentro de una molécula de DNA. Incluye cualquier método o tecnología.</a:t>
            </a:r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82B56-AF4B-B14A-AD18-9ED1705C003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9396136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g21ea4789aaa_0_1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8293" y="1107142"/>
            <a:ext cx="5759349" cy="450081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5" name="Google Shape;175;g21ea4789aaa_0_130" descr="Image result for frederick sanger"/>
          <p:cNvPicPr preferRelativeResize="0"/>
          <p:nvPr/>
        </p:nvPicPr>
        <p:blipFill rotWithShape="1">
          <a:blip r:embed="rId4">
            <a:alphaModFix/>
          </a:blip>
          <a:srcRect l="23482" r="22597"/>
          <a:stretch/>
        </p:blipFill>
        <p:spPr>
          <a:xfrm>
            <a:off x="9743613" y="2940527"/>
            <a:ext cx="2298317" cy="2667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21ea4789aaa_0_130"/>
          <p:cNvPicPr preferRelativeResize="0"/>
          <p:nvPr/>
        </p:nvPicPr>
        <p:blipFill rotWithShape="1">
          <a:blip r:embed="rId5">
            <a:alphaModFix/>
          </a:blip>
          <a:srcRect r="6942" b="1283"/>
          <a:stretch/>
        </p:blipFill>
        <p:spPr>
          <a:xfrm>
            <a:off x="6386250" y="1094225"/>
            <a:ext cx="3357375" cy="27674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7" name="Google Shape;177;g21ea4789aaa_0_130"/>
          <p:cNvSpPr txBox="1">
            <a:spLocks noGrp="1"/>
          </p:cNvSpPr>
          <p:nvPr>
            <p:ph type="title" idx="4294967295"/>
          </p:nvPr>
        </p:nvSpPr>
        <p:spPr>
          <a:xfrm>
            <a:off x="838200" y="185737"/>
            <a:ext cx="105156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n-US" sz="2600" b="1"/>
              <a:t>Secuenciación con terminadores de cadena</a:t>
            </a:r>
            <a:endParaRPr sz="2600" b="1"/>
          </a:p>
        </p:txBody>
      </p:sp>
      <p:sp>
        <p:nvSpPr>
          <p:cNvPr id="178" name="Google Shape;178;g21ea4789aaa_0_130"/>
          <p:cNvSpPr txBox="1"/>
          <p:nvPr/>
        </p:nvSpPr>
        <p:spPr>
          <a:xfrm>
            <a:off x="6938962" y="6351587"/>
            <a:ext cx="40530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F. Sanger </a:t>
            </a:r>
            <a:r>
              <a:rPr lang="en-US" sz="14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 al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., Biochemistry, 1977.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8811C12-A760-6724-50C0-BC0CAE6B0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698" y="1706086"/>
            <a:ext cx="9404604" cy="3445828"/>
          </a:xfrm>
          <a:prstGeom prst="rect">
            <a:avLst/>
          </a:prstGeom>
        </p:spPr>
      </p:pic>
      <p:sp>
        <p:nvSpPr>
          <p:cNvPr id="4" name="Google Shape;177;g21ea4789aaa_0_130">
            <a:extLst>
              <a:ext uri="{FF2B5EF4-FFF2-40B4-BE49-F238E27FC236}">
                <a16:creationId xmlns:a16="http://schemas.microsoft.com/office/drawing/2014/main" id="{5BC6F3A7-DA0E-28E5-30CB-A7E6D6C69507}"/>
              </a:ext>
            </a:extLst>
          </p:cNvPr>
          <p:cNvSpPr txBox="1">
            <a:spLocks/>
          </p:cNvSpPr>
          <p:nvPr/>
        </p:nvSpPr>
        <p:spPr>
          <a:xfrm>
            <a:off x="838200" y="185737"/>
            <a:ext cx="10510381" cy="1079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90000"/>
              </a:lnSpc>
              <a:buSzPts val="2600"/>
              <a:buFont typeface="Calibri"/>
              <a:buNone/>
            </a:pPr>
            <a:r>
              <a:rPr lang="en-US" sz="2600" b="1" dirty="0"/>
              <a:t>El Dr. Sanger también </a:t>
            </a:r>
            <a:r>
              <a:rPr lang="en-US" sz="2600" b="1" dirty="0" err="1"/>
              <a:t>implementó</a:t>
            </a:r>
            <a:r>
              <a:rPr lang="en-US" sz="2600" b="1" dirty="0"/>
              <a:t> </a:t>
            </a:r>
            <a:r>
              <a:rPr lang="en-US" sz="2600" b="1" dirty="0" err="1"/>
              <a:t>el</a:t>
            </a:r>
            <a:r>
              <a:rPr lang="en-US" sz="2600" b="1" dirty="0"/>
              <a:t> </a:t>
            </a:r>
            <a:r>
              <a:rPr lang="en-US" sz="2600" b="1" dirty="0" err="1"/>
              <a:t>uso</a:t>
            </a:r>
            <a:r>
              <a:rPr lang="en-US" sz="2600" b="1" dirty="0"/>
              <a:t> de </a:t>
            </a:r>
            <a:r>
              <a:rPr lang="en-US" sz="2600" b="1" dirty="0" err="1"/>
              <a:t>los</a:t>
            </a:r>
            <a:r>
              <a:rPr lang="en-US" sz="2600" b="1" dirty="0"/>
              <a:t> </a:t>
            </a:r>
            <a:r>
              <a:rPr lang="en-US" sz="2600" b="1" dirty="0" err="1"/>
              <a:t>geles</a:t>
            </a:r>
            <a:r>
              <a:rPr lang="en-US" sz="2600" b="1" dirty="0"/>
              <a:t> de </a:t>
            </a:r>
            <a:r>
              <a:rPr lang="en-US" sz="2600" b="1" dirty="0" err="1"/>
              <a:t>acrilamida</a:t>
            </a:r>
            <a:r>
              <a:rPr lang="en-US" sz="2600" b="1" dirty="0"/>
              <a:t> para la </a:t>
            </a:r>
            <a:r>
              <a:rPr lang="en-US" sz="2600" b="1" dirty="0" err="1"/>
              <a:t>secuenciación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3490915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82B56-AF4B-B14A-AD18-9ED1705C003A}" type="slidenum">
              <a:rPr lang="es-ES" smtClean="0"/>
              <a:t>9</a:t>
            </a:fld>
            <a:endParaRPr lang="es-ES"/>
          </a:p>
        </p:txBody>
      </p:sp>
      <p:pic>
        <p:nvPicPr>
          <p:cNvPr id="80898" name="Picture 2" descr="esultado de imagen para dna synthesi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640" y="832541"/>
            <a:ext cx="7497043" cy="475463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87;g21ea4789aaa_0_136">
            <a:extLst>
              <a:ext uri="{FF2B5EF4-FFF2-40B4-BE49-F238E27FC236}">
                <a16:creationId xmlns:a16="http://schemas.microsoft.com/office/drawing/2014/main" id="{7166BDA7-6CEA-46B9-06EC-D340B1DE68B2}"/>
              </a:ext>
            </a:extLst>
          </p:cNvPr>
          <p:cNvSpPr txBox="1">
            <a:spLocks/>
          </p:cNvSpPr>
          <p:nvPr/>
        </p:nvSpPr>
        <p:spPr>
          <a:xfrm>
            <a:off x="838200" y="185737"/>
            <a:ext cx="105156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90000"/>
              </a:lnSpc>
              <a:buSzPts val="2600"/>
              <a:buFont typeface="Calibri"/>
              <a:buNone/>
            </a:pPr>
            <a:r>
              <a:rPr lang="en-US" sz="2600" b="1" dirty="0"/>
              <a:t>Formación del enlace </a:t>
            </a:r>
            <a:r>
              <a:rPr lang="en-US" sz="2600" b="1" dirty="0" err="1"/>
              <a:t>fosfodiéster</a:t>
            </a:r>
            <a:endParaRPr lang="en-US" sz="2600" b="1" dirty="0"/>
          </a:p>
        </p:txBody>
      </p:sp>
      <p:pic>
        <p:nvPicPr>
          <p:cNvPr id="4" name="Google Shape;183;g21ea4789aaa_0_136">
            <a:extLst>
              <a:ext uri="{FF2B5EF4-FFF2-40B4-BE49-F238E27FC236}">
                <a16:creationId xmlns:a16="http://schemas.microsoft.com/office/drawing/2014/main" id="{F493CBA5-C8B2-AEA2-0D1C-63D3ECB8CB4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5172" b="4720"/>
          <a:stretch/>
        </p:blipFill>
        <p:spPr>
          <a:xfrm>
            <a:off x="8266878" y="884657"/>
            <a:ext cx="3676482" cy="45586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1BBBA040-97B1-85DB-029D-6585678D67E7}"/>
              </a:ext>
            </a:extLst>
          </p:cNvPr>
          <p:cNvGrpSpPr/>
          <p:nvPr/>
        </p:nvGrpSpPr>
        <p:grpSpPr>
          <a:xfrm>
            <a:off x="6633012" y="4830949"/>
            <a:ext cx="2863068" cy="1315869"/>
            <a:chOff x="6633012" y="4830949"/>
            <a:chExt cx="2863068" cy="1315869"/>
          </a:xfrm>
        </p:grpSpPr>
        <p:sp>
          <p:nvSpPr>
            <p:cNvPr id="12" name="Google Shape;185;g21ea4789aaa_0_136">
              <a:extLst>
                <a:ext uri="{FF2B5EF4-FFF2-40B4-BE49-F238E27FC236}">
                  <a16:creationId xmlns:a16="http://schemas.microsoft.com/office/drawing/2014/main" id="{4AC8350E-715A-5144-6FB3-FE4E435F2344}"/>
                </a:ext>
              </a:extLst>
            </p:cNvPr>
            <p:cNvSpPr txBox="1"/>
            <p:nvPr/>
          </p:nvSpPr>
          <p:spPr>
            <a:xfrm>
              <a:off x="6633012" y="5904100"/>
              <a:ext cx="2863068" cy="242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Frederick Sanger (1980)</a:t>
              </a:r>
              <a:endParaRPr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3" name="Google Shape;186;g21ea4789aaa_0_136" descr="Image result for frederick sanger">
              <a:extLst>
                <a:ext uri="{FF2B5EF4-FFF2-40B4-BE49-F238E27FC236}">
                  <a16:creationId xmlns:a16="http://schemas.microsoft.com/office/drawing/2014/main" id="{82D059D0-0607-39DC-110B-1D2F75D89AE0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041010" y="4830949"/>
              <a:ext cx="2151045" cy="10999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9D90683-7D59-902B-1CBB-DC29F44D8B21}"/>
              </a:ext>
            </a:extLst>
          </p:cNvPr>
          <p:cNvSpPr txBox="1"/>
          <p:nvPr/>
        </p:nvSpPr>
        <p:spPr>
          <a:xfrm>
            <a:off x="2070463" y="3075057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4000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925851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3b698d0044_0_0"/>
          <p:cNvSpPr txBox="1">
            <a:spLocks noGrp="1"/>
          </p:cNvSpPr>
          <p:nvPr>
            <p:ph type="title" idx="4294967295"/>
          </p:nvPr>
        </p:nvSpPr>
        <p:spPr>
          <a:xfrm>
            <a:off x="838200" y="185737"/>
            <a:ext cx="105156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n-US" sz="2600" b="1"/>
              <a:t>Secuenciación Sanger</a:t>
            </a:r>
            <a:endParaRPr sz="2600" b="1"/>
          </a:p>
        </p:txBody>
      </p:sp>
      <p:pic>
        <p:nvPicPr>
          <p:cNvPr id="194" name="Google Shape;194;g23b698d0044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89020" y="994579"/>
            <a:ext cx="4687499" cy="43572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5" name="Google Shape;195;g23b698d0044_0_0"/>
          <p:cNvGrpSpPr/>
          <p:nvPr/>
        </p:nvGrpSpPr>
        <p:grpSpPr>
          <a:xfrm>
            <a:off x="228742" y="1765559"/>
            <a:ext cx="4141523" cy="2008726"/>
            <a:chOff x="1150175" y="2323901"/>
            <a:chExt cx="4141523" cy="2008726"/>
          </a:xfrm>
        </p:grpSpPr>
        <p:pic>
          <p:nvPicPr>
            <p:cNvPr id="196" name="Google Shape;196;g23b698d0044_0_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50175" y="2323901"/>
              <a:ext cx="4141523" cy="20087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" name="Google Shape;197;g23b698d0044_0_0"/>
            <p:cNvSpPr txBox="1"/>
            <p:nvPr/>
          </p:nvSpPr>
          <p:spPr>
            <a:xfrm>
              <a:off x="1439800" y="3043563"/>
              <a:ext cx="480000" cy="5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lang="en-US" sz="25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sz="2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g23b698d0044_0_0"/>
            <p:cNvSpPr txBox="1"/>
            <p:nvPr/>
          </p:nvSpPr>
          <p:spPr>
            <a:xfrm>
              <a:off x="2400500" y="3043563"/>
              <a:ext cx="480000" cy="5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lang="en-US" sz="25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sz="2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g23b698d0044_0_0"/>
            <p:cNvSpPr txBox="1"/>
            <p:nvPr/>
          </p:nvSpPr>
          <p:spPr>
            <a:xfrm>
              <a:off x="3411750" y="3043563"/>
              <a:ext cx="480000" cy="5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lang="en-US" sz="25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sz="2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g23b698d0044_0_0"/>
            <p:cNvSpPr txBox="1"/>
            <p:nvPr/>
          </p:nvSpPr>
          <p:spPr>
            <a:xfrm>
              <a:off x="4423000" y="3043575"/>
              <a:ext cx="480000" cy="5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lang="en-US" sz="25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sz="25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01" name="Google Shape;201;g23b698d0044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12817" y="5419129"/>
            <a:ext cx="4750125" cy="36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FADFAFE2-ACB1-4E29-304B-855EE7E07D8E}"/>
              </a:ext>
            </a:extLst>
          </p:cNvPr>
          <p:cNvSpPr txBox="1"/>
          <p:nvPr/>
        </p:nvSpPr>
        <p:spPr>
          <a:xfrm>
            <a:off x="1479067" y="3980228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800" dirty="0">
                <a:solidFill>
                  <a:srgbClr val="0070C0"/>
                </a:solidFill>
              </a:rPr>
              <a:t>ddNTP 1:100</a:t>
            </a:r>
          </a:p>
        </p:txBody>
      </p:sp>
      <p:pic>
        <p:nvPicPr>
          <p:cNvPr id="3" name="Google Shape;175;g21ea4789aaa_0_130" descr="Image result for frederick sanger">
            <a:extLst>
              <a:ext uri="{FF2B5EF4-FFF2-40B4-BE49-F238E27FC236}">
                <a16:creationId xmlns:a16="http://schemas.microsoft.com/office/drawing/2014/main" id="{8C6EDE0D-D869-73A9-5664-F3603BD7E31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23482" r="22597"/>
          <a:stretch/>
        </p:blipFill>
        <p:spPr>
          <a:xfrm>
            <a:off x="9664941" y="1720905"/>
            <a:ext cx="2298317" cy="2667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1ea4789aaa_0_133"/>
          <p:cNvSpPr txBox="1">
            <a:spLocks noGrp="1"/>
          </p:cNvSpPr>
          <p:nvPr>
            <p:ph type="title" idx="4294967295"/>
          </p:nvPr>
        </p:nvSpPr>
        <p:spPr>
          <a:xfrm>
            <a:off x="838200" y="185737"/>
            <a:ext cx="105156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n-US" sz="2600" b="1"/>
              <a:t>Secuenciación capilar automatizada</a:t>
            </a:r>
            <a:endParaRPr sz="2600" b="1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4BC9EB2-F0D5-D08B-B872-40E0D2212782}"/>
              </a:ext>
            </a:extLst>
          </p:cNvPr>
          <p:cNvSpPr txBox="1"/>
          <p:nvPr/>
        </p:nvSpPr>
        <p:spPr>
          <a:xfrm>
            <a:off x="611597" y="1784959"/>
            <a:ext cx="8322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dirty="0">
                <a:solidFill>
                  <a:srgbClr val="0070C0"/>
                </a:solidFill>
              </a:rPr>
              <a:t>ddNTPs</a:t>
            </a:r>
          </a:p>
          <a:p>
            <a:pPr algn="ctr"/>
            <a:r>
              <a:rPr lang="es-MX" dirty="0">
                <a:solidFill>
                  <a:srgbClr val="0070C0"/>
                </a:solidFill>
              </a:rPr>
              <a:t>1:100</a:t>
            </a:r>
          </a:p>
        </p:txBody>
      </p:sp>
      <p:pic>
        <p:nvPicPr>
          <p:cNvPr id="4" name="Google Shape;207;g21ea4789aaa_0_133">
            <a:extLst>
              <a:ext uri="{FF2B5EF4-FFF2-40B4-BE49-F238E27FC236}">
                <a16:creationId xmlns:a16="http://schemas.microsoft.com/office/drawing/2014/main" id="{5AD44819-C9B0-EDC3-1549-2E4BE785E7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7236" t="10118" b="56099"/>
          <a:stretch/>
        </p:blipFill>
        <p:spPr>
          <a:xfrm>
            <a:off x="7889965" y="761312"/>
            <a:ext cx="3010559" cy="217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07;g21ea4789aaa_0_133">
            <a:extLst>
              <a:ext uri="{FF2B5EF4-FFF2-40B4-BE49-F238E27FC236}">
                <a16:creationId xmlns:a16="http://schemas.microsoft.com/office/drawing/2014/main" id="{1918A1FE-87D0-DB38-99BA-427FB3B759F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46270" r="68399" b="11689"/>
          <a:stretch/>
        </p:blipFill>
        <p:spPr>
          <a:xfrm>
            <a:off x="1752812" y="3085009"/>
            <a:ext cx="2903668" cy="27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07;g21ea4789aaa_0_133">
            <a:extLst>
              <a:ext uri="{FF2B5EF4-FFF2-40B4-BE49-F238E27FC236}">
                <a16:creationId xmlns:a16="http://schemas.microsoft.com/office/drawing/2014/main" id="{BBF97A49-B583-1F87-0DC4-C685EA6F9D7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4918" t="46270" r="32318" b="12748"/>
          <a:stretch/>
        </p:blipFill>
        <p:spPr>
          <a:xfrm>
            <a:off x="5113679" y="3085009"/>
            <a:ext cx="3010559" cy="2636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07;g21ea4789aaa_0_133">
            <a:extLst>
              <a:ext uri="{FF2B5EF4-FFF2-40B4-BE49-F238E27FC236}">
                <a16:creationId xmlns:a16="http://schemas.microsoft.com/office/drawing/2014/main" id="{EBCB0BCD-C586-404B-D34D-5BD454C368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7236" t="46270" b="11689"/>
          <a:stretch/>
        </p:blipFill>
        <p:spPr>
          <a:xfrm>
            <a:off x="8235702" y="3085009"/>
            <a:ext cx="3010558" cy="270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07;g21ea4789aaa_0_133">
            <a:extLst>
              <a:ext uri="{FF2B5EF4-FFF2-40B4-BE49-F238E27FC236}">
                <a16:creationId xmlns:a16="http://schemas.microsoft.com/office/drawing/2014/main" id="{9617A942-799B-E5F7-DDBB-D1ED9AB9F84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3259" t="10118" r="34423" b="56099"/>
          <a:stretch/>
        </p:blipFill>
        <p:spPr>
          <a:xfrm>
            <a:off x="4767944" y="761312"/>
            <a:ext cx="2969621" cy="2173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rupo 9">
            <a:extLst>
              <a:ext uri="{FF2B5EF4-FFF2-40B4-BE49-F238E27FC236}">
                <a16:creationId xmlns:a16="http://schemas.microsoft.com/office/drawing/2014/main" id="{0C2A326A-7235-A3ED-D26C-16F517113C0F}"/>
              </a:ext>
            </a:extLst>
          </p:cNvPr>
          <p:cNvGrpSpPr/>
          <p:nvPr/>
        </p:nvGrpSpPr>
        <p:grpSpPr>
          <a:xfrm>
            <a:off x="1559475" y="761312"/>
            <a:ext cx="3097005" cy="2256208"/>
            <a:chOff x="1559475" y="761312"/>
            <a:chExt cx="3097005" cy="2256208"/>
          </a:xfrm>
        </p:grpSpPr>
        <p:pic>
          <p:nvPicPr>
            <p:cNvPr id="207" name="Google Shape;207;g21ea4789aaa_0_133"/>
            <p:cNvPicPr preferRelativeResize="0"/>
            <p:nvPr/>
          </p:nvPicPr>
          <p:blipFill rotWithShape="1">
            <a:blip r:embed="rId3">
              <a:alphaModFix/>
            </a:blip>
            <a:srcRect t="10118" r="66295" b="54813"/>
            <a:stretch/>
          </p:blipFill>
          <p:spPr>
            <a:xfrm>
              <a:off x="1559475" y="761312"/>
              <a:ext cx="3097005" cy="22562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550B6034-164C-5BCE-1996-C5BEBBF12518}"/>
                </a:ext>
              </a:extLst>
            </p:cNvPr>
            <p:cNvSpPr txBox="1"/>
            <p:nvPr/>
          </p:nvSpPr>
          <p:spPr>
            <a:xfrm>
              <a:off x="4101900" y="2281608"/>
              <a:ext cx="152670" cy="19110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endParaRPr lang="es-MX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rcRect l="3307" r="1619" b="50788"/>
          <a:stretch/>
        </p:blipFill>
        <p:spPr>
          <a:xfrm>
            <a:off x="2662828" y="845681"/>
            <a:ext cx="6382580" cy="2535632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7973876" y="845681"/>
            <a:ext cx="39613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 dirty="0" err="1">
                <a:solidFill>
                  <a:srgbClr val="0070C0"/>
                </a:solidFill>
              </a:rPr>
              <a:t>Bigdye</a:t>
            </a:r>
            <a:r>
              <a:rPr lang="es-ES_tradnl" b="1" dirty="0">
                <a:solidFill>
                  <a:srgbClr val="0070C0"/>
                </a:solidFill>
              </a:rPr>
              <a:t> </a:t>
            </a:r>
            <a:r>
              <a:rPr lang="es-ES_tradnl" sz="1200" b="1" dirty="0">
                <a:solidFill>
                  <a:srgbClr val="0070C0"/>
                </a:solidFill>
              </a:rPr>
              <a:t>(</a:t>
            </a:r>
            <a:r>
              <a:rPr lang="es-ES_tradnl" sz="1200" b="1" dirty="0" err="1">
                <a:solidFill>
                  <a:srgbClr val="0070C0"/>
                </a:solidFill>
              </a:rPr>
              <a:t>Applied</a:t>
            </a:r>
            <a:r>
              <a:rPr lang="es-ES_tradnl" sz="1200" b="1" dirty="0">
                <a:solidFill>
                  <a:srgbClr val="0070C0"/>
                </a:solidFill>
              </a:rPr>
              <a:t> </a:t>
            </a:r>
            <a:r>
              <a:rPr lang="es-ES_tradnl" sz="1200" b="1" dirty="0" err="1">
                <a:solidFill>
                  <a:srgbClr val="0070C0"/>
                </a:solidFill>
              </a:rPr>
              <a:t>Biosystems</a:t>
            </a:r>
            <a:r>
              <a:rPr lang="es-ES_tradnl" sz="1200" b="1" dirty="0">
                <a:solidFill>
                  <a:srgbClr val="0070C0"/>
                </a:solidFill>
              </a:rPr>
              <a:t> –</a:t>
            </a:r>
            <a:r>
              <a:rPr lang="es-ES_tradnl" sz="1200" b="1" dirty="0" err="1">
                <a:solidFill>
                  <a:srgbClr val="0070C0"/>
                </a:solidFill>
              </a:rPr>
              <a:t>Thermo</a:t>
            </a:r>
            <a:r>
              <a:rPr lang="es-ES_tradnl" sz="1200" b="1" dirty="0">
                <a:solidFill>
                  <a:srgbClr val="0070C0"/>
                </a:solidFill>
              </a:rPr>
              <a:t> </a:t>
            </a:r>
            <a:r>
              <a:rPr lang="es-ES_tradnl" sz="1200" b="1" dirty="0" err="1">
                <a:solidFill>
                  <a:srgbClr val="0070C0"/>
                </a:solidFill>
              </a:rPr>
              <a:t>Scientiphic</a:t>
            </a:r>
            <a:r>
              <a:rPr lang="es-ES_tradnl" sz="1200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5" name="Rectángulo 4"/>
          <p:cNvSpPr/>
          <p:nvPr/>
        </p:nvSpPr>
        <p:spPr>
          <a:xfrm>
            <a:off x="5386850" y="6522958"/>
            <a:ext cx="17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b-NO" sz="1600" dirty="0" err="1">
                <a:solidFill>
                  <a:srgbClr val="000066"/>
                </a:solidFill>
                <a:latin typeface="AdvTimes" charset="0"/>
              </a:rPr>
              <a:t>Bergot</a:t>
            </a:r>
            <a:r>
              <a:rPr lang="nb-NO" sz="1600" dirty="0">
                <a:solidFill>
                  <a:srgbClr val="000066"/>
                </a:solidFill>
                <a:latin typeface="AdvTimes" charset="0"/>
              </a:rPr>
              <a:t> </a:t>
            </a:r>
            <a:r>
              <a:rPr lang="nb-NO" sz="1600" dirty="0">
                <a:solidFill>
                  <a:srgbClr val="000066"/>
                </a:solidFill>
                <a:latin typeface="AdvMc_Times" charset="0"/>
              </a:rPr>
              <a:t>et al</a:t>
            </a:r>
            <a:r>
              <a:rPr lang="nb-NO" sz="1600" dirty="0">
                <a:solidFill>
                  <a:srgbClr val="000066"/>
                </a:solidFill>
                <a:latin typeface="AdvTimes" charset="0"/>
              </a:rPr>
              <a:t>., 1994</a:t>
            </a:r>
            <a:endParaRPr lang="nb-NO" sz="160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82B56-AF4B-B14A-AD18-9ED1705C003A}" type="slidenum">
              <a:rPr lang="es-ES" smtClean="0"/>
              <a:t>12</a:t>
            </a:fld>
            <a:endParaRPr lang="es-ES"/>
          </a:p>
        </p:txBody>
      </p:sp>
      <p:sp>
        <p:nvSpPr>
          <p:cNvPr id="7" name="Google Shape;206;g21ea4789aaa_0_133">
            <a:extLst>
              <a:ext uri="{FF2B5EF4-FFF2-40B4-BE49-F238E27FC236}">
                <a16:creationId xmlns:a16="http://schemas.microsoft.com/office/drawing/2014/main" id="{3559C9A5-AE9F-F229-8543-E26977D1CBEE}"/>
              </a:ext>
            </a:extLst>
          </p:cNvPr>
          <p:cNvSpPr txBox="1">
            <a:spLocks/>
          </p:cNvSpPr>
          <p:nvPr/>
        </p:nvSpPr>
        <p:spPr>
          <a:xfrm>
            <a:off x="838200" y="185737"/>
            <a:ext cx="105156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90000"/>
              </a:lnSpc>
              <a:buSzPts val="2600"/>
              <a:buFont typeface="Calibri"/>
              <a:buNone/>
            </a:pPr>
            <a:r>
              <a:rPr lang="en-US" sz="2600" b="1" dirty="0" err="1"/>
              <a:t>Nucleótidos</a:t>
            </a:r>
            <a:r>
              <a:rPr lang="en-US" sz="2600" b="1" dirty="0"/>
              <a:t> </a:t>
            </a:r>
            <a:r>
              <a:rPr lang="en-US" sz="2600" b="1" dirty="0" err="1"/>
              <a:t>didesoxi</a:t>
            </a:r>
            <a:r>
              <a:rPr lang="en-US" sz="2600" b="1" dirty="0"/>
              <a:t> </a:t>
            </a:r>
            <a:r>
              <a:rPr lang="en-US" sz="2600" b="1" dirty="0" err="1"/>
              <a:t>actuales</a:t>
            </a:r>
            <a:endParaRPr lang="en-US" sz="2600" b="1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969762C-861F-9422-7449-EECB66264E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13" t="54534" b="1762"/>
          <a:stretch/>
        </p:blipFill>
        <p:spPr>
          <a:xfrm>
            <a:off x="2638841" y="3450557"/>
            <a:ext cx="6430554" cy="225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052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g21ea4789aaa_0_1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5588" y="852625"/>
            <a:ext cx="6280825" cy="471065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g21ea4789aaa_0_139"/>
          <p:cNvSpPr txBox="1">
            <a:spLocks noGrp="1"/>
          </p:cNvSpPr>
          <p:nvPr>
            <p:ph type="title" idx="4294967295"/>
          </p:nvPr>
        </p:nvSpPr>
        <p:spPr>
          <a:xfrm>
            <a:off x="838200" y="185737"/>
            <a:ext cx="105156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n-US" sz="2600" b="1"/>
              <a:t>Secuenciación de primera generación</a:t>
            </a:r>
            <a:endParaRPr sz="2600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1ea4789aaa_0_145"/>
          <p:cNvSpPr txBox="1">
            <a:spLocks noGrp="1"/>
          </p:cNvSpPr>
          <p:nvPr>
            <p:ph type="title" idx="4294967295"/>
          </p:nvPr>
        </p:nvSpPr>
        <p:spPr>
          <a:xfrm>
            <a:off x="838200" y="185737"/>
            <a:ext cx="105156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n-US" sz="2600" b="1"/>
              <a:t>Proyecto Genoma Humano</a:t>
            </a:r>
            <a:endParaRPr sz="2600" b="1"/>
          </a:p>
        </p:txBody>
      </p:sp>
      <p:pic>
        <p:nvPicPr>
          <p:cNvPr id="219" name="Google Shape;219;g21ea4789aaa_0_145" descr="Image result for NIH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4200" y="4887473"/>
            <a:ext cx="5364541" cy="8238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0" name="Google Shape;220;g21ea4789aaa_0_145"/>
          <p:cNvGrpSpPr/>
          <p:nvPr/>
        </p:nvGrpSpPr>
        <p:grpSpPr>
          <a:xfrm>
            <a:off x="2604042" y="1183208"/>
            <a:ext cx="7859419" cy="707232"/>
            <a:chOff x="2141567" y="323558"/>
            <a:chExt cx="7859419" cy="707232"/>
          </a:xfrm>
        </p:grpSpPr>
        <p:pic>
          <p:nvPicPr>
            <p:cNvPr id="221" name="Google Shape;221;g21ea4789aaa_0_145" descr="Image result for united kingdom fla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40515" y="338748"/>
              <a:ext cx="1369155" cy="6845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g21ea4789aaa_0_145" descr="Image result for germany fla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316542" y="338748"/>
              <a:ext cx="1153403" cy="6920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g21ea4789aaa_0_145" descr="Image result for france fla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718725" y="323559"/>
              <a:ext cx="965791" cy="6426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g21ea4789aaa_0_145" descr="Image result for china fla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035196" y="323558"/>
              <a:ext cx="965790" cy="6438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5" name="Google Shape;225;g21ea4789aaa_0_145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141567" y="338748"/>
              <a:ext cx="1301959" cy="6845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6" name="Google Shape;226;g21ea4789aaa_0_145" descr="Image result for japan fla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253761" y="323558"/>
              <a:ext cx="1062781" cy="70723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27" name="Google Shape;227;g21ea4789aaa_0_145" descr="Image result for human genome project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909551" y="2231052"/>
            <a:ext cx="2555825" cy="25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21ea4789aaa_0_145"/>
          <p:cNvSpPr txBox="1"/>
          <p:nvPr/>
        </p:nvSpPr>
        <p:spPr>
          <a:xfrm>
            <a:off x="8061065" y="5272025"/>
            <a:ext cx="20040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1990-2003</a:t>
            </a:r>
            <a:endParaRPr sz="3000" b="1" i="0" u="none" strike="noStrike" cap="non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2.7 mmdd</a:t>
            </a:r>
            <a:endParaRPr sz="3000" b="1" i="0" u="none" strike="noStrike" cap="non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g21ea4789aaa_0_145" descr="Image result for nature human genome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435500" y="2496200"/>
            <a:ext cx="3255125" cy="2170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4937CF99-D5E8-77A8-4446-E3A3A8E636E3}"/>
              </a:ext>
            </a:extLst>
          </p:cNvPr>
          <p:cNvSpPr txBox="1"/>
          <p:nvPr/>
        </p:nvSpPr>
        <p:spPr>
          <a:xfrm>
            <a:off x="10065065" y="608286"/>
            <a:ext cx="19419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solidFill>
                  <a:srgbClr val="0070C0"/>
                </a:solidFill>
              </a:rPr>
              <a:t>Terminadores BigDye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1ea4789aaa_0_142"/>
          <p:cNvSpPr txBox="1">
            <a:spLocks noGrp="1"/>
          </p:cNvSpPr>
          <p:nvPr>
            <p:ph type="title" idx="4294967295"/>
          </p:nvPr>
        </p:nvSpPr>
        <p:spPr>
          <a:xfrm>
            <a:off x="838200" y="16636"/>
            <a:ext cx="105156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n-US" sz="2600" b="1" dirty="0"/>
              <a:t>Costos de </a:t>
            </a:r>
            <a:r>
              <a:rPr lang="en-US" sz="2600" b="1" dirty="0" err="1"/>
              <a:t>secuenciación</a:t>
            </a:r>
            <a:r>
              <a:rPr lang="en-US" sz="2600" b="1" dirty="0"/>
              <a:t> del </a:t>
            </a:r>
            <a:r>
              <a:rPr lang="en-US" sz="2600" b="1" dirty="0" err="1"/>
              <a:t>genoma</a:t>
            </a:r>
            <a:r>
              <a:rPr lang="en-US" sz="2600" b="1" dirty="0"/>
              <a:t> </a:t>
            </a:r>
            <a:r>
              <a:rPr lang="en-US" sz="2600" b="1" dirty="0" err="1"/>
              <a:t>humano</a:t>
            </a:r>
            <a:endParaRPr sz="2600" b="1" dirty="0"/>
          </a:p>
        </p:txBody>
      </p:sp>
      <p:pic>
        <p:nvPicPr>
          <p:cNvPr id="3074" name="Picture 2" descr="DNA Sequencing Costs: Data">
            <a:extLst>
              <a:ext uri="{FF2B5EF4-FFF2-40B4-BE49-F238E27FC236}">
                <a16:creationId xmlns:a16="http://schemas.microsoft.com/office/drawing/2014/main" id="{EF8623F8-8C8C-1479-17C6-0C08EEE3D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159" y="544113"/>
            <a:ext cx="8873271" cy="4993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AD6206B-B509-5E9E-95F6-1B3636ABBB3F}"/>
              </a:ext>
            </a:extLst>
          </p:cNvPr>
          <p:cNvSpPr txBox="1"/>
          <p:nvPr/>
        </p:nvSpPr>
        <p:spPr>
          <a:xfrm>
            <a:off x="3505721" y="5501430"/>
            <a:ext cx="60970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dirty="0"/>
              <a:t>https://www.genome.gov/about-genomics/fact-sheets/DNA-Sequencing-Costs-Data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1ea4789aaa_0_151"/>
          <p:cNvSpPr txBox="1">
            <a:spLocks noGrp="1"/>
          </p:cNvSpPr>
          <p:nvPr>
            <p:ph type="title" idx="4294967295"/>
          </p:nvPr>
        </p:nvSpPr>
        <p:spPr>
          <a:xfrm>
            <a:off x="1634259" y="1856626"/>
            <a:ext cx="89235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n-US" sz="3800" b="1"/>
              <a:t>SECUENCIACIÓN MASIVA EN PARALELO</a:t>
            </a:r>
            <a:endParaRPr sz="5100"/>
          </a:p>
        </p:txBody>
      </p:sp>
      <p:pic>
        <p:nvPicPr>
          <p:cNvPr id="241" name="Google Shape;241;g21ea4789aaa_0_151"/>
          <p:cNvPicPr preferRelativeResize="0"/>
          <p:nvPr/>
        </p:nvPicPr>
        <p:blipFill rotWithShape="1">
          <a:blip r:embed="rId3">
            <a:alphaModFix/>
          </a:blip>
          <a:srcRect t="68495" r="81159" b="10413"/>
          <a:stretch/>
        </p:blipFill>
        <p:spPr>
          <a:xfrm>
            <a:off x="4697275" y="3667669"/>
            <a:ext cx="2797450" cy="21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1ea4789aaa_0_160"/>
          <p:cNvSpPr txBox="1">
            <a:spLocks noGrp="1"/>
          </p:cNvSpPr>
          <p:nvPr>
            <p:ph type="title" idx="4294967295"/>
          </p:nvPr>
        </p:nvSpPr>
        <p:spPr>
          <a:xfrm>
            <a:off x="838200" y="185737"/>
            <a:ext cx="105156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n-US" sz="2600" b="1"/>
              <a:t>Flujo de trabajo</a:t>
            </a:r>
            <a:endParaRPr sz="2600" b="1"/>
          </a:p>
        </p:txBody>
      </p:sp>
      <p:pic>
        <p:nvPicPr>
          <p:cNvPr id="247" name="Google Shape;247;g21ea4789aaa_0_160"/>
          <p:cNvPicPr preferRelativeResize="0"/>
          <p:nvPr/>
        </p:nvPicPr>
        <p:blipFill rotWithShape="1">
          <a:blip r:embed="rId3">
            <a:alphaModFix/>
          </a:blip>
          <a:srcRect t="4643" b="10003"/>
          <a:stretch/>
        </p:blipFill>
        <p:spPr>
          <a:xfrm>
            <a:off x="1970888" y="963463"/>
            <a:ext cx="8250225" cy="4931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3CF3638E-500E-130F-A7CC-38CD1E4DF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1ea4789aaa_0_160">
            <a:extLst>
              <a:ext uri="{FF2B5EF4-FFF2-40B4-BE49-F238E27FC236}">
                <a16:creationId xmlns:a16="http://schemas.microsoft.com/office/drawing/2014/main" id="{F1390CA9-4AE8-95F5-AA51-BDEE3F1A361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185737"/>
            <a:ext cx="105156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n-US" sz="2600" b="1"/>
              <a:t>Flujo de trabajo</a:t>
            </a:r>
            <a:endParaRPr sz="2600" b="1"/>
          </a:p>
        </p:txBody>
      </p:sp>
      <p:pic>
        <p:nvPicPr>
          <p:cNvPr id="247" name="Google Shape;247;g21ea4789aaa_0_160">
            <a:extLst>
              <a:ext uri="{FF2B5EF4-FFF2-40B4-BE49-F238E27FC236}">
                <a16:creationId xmlns:a16="http://schemas.microsoft.com/office/drawing/2014/main" id="{02E05305-3F9D-DFD3-3BF6-7A11C958882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4643" b="10003"/>
          <a:stretch/>
        </p:blipFill>
        <p:spPr>
          <a:xfrm>
            <a:off x="1970888" y="963463"/>
            <a:ext cx="8250225" cy="493107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redondeado 1">
            <a:extLst>
              <a:ext uri="{FF2B5EF4-FFF2-40B4-BE49-F238E27FC236}">
                <a16:creationId xmlns:a16="http://schemas.microsoft.com/office/drawing/2014/main" id="{35B6811B-F4DB-0875-9D6F-801A9ADF1BA9}"/>
              </a:ext>
            </a:extLst>
          </p:cNvPr>
          <p:cNvSpPr/>
          <p:nvPr/>
        </p:nvSpPr>
        <p:spPr>
          <a:xfrm>
            <a:off x="6256751" y="713984"/>
            <a:ext cx="3964362" cy="2761989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26503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1ea4789aaa_0_163"/>
          <p:cNvSpPr txBox="1">
            <a:spLocks noGrp="1"/>
          </p:cNvSpPr>
          <p:nvPr>
            <p:ph type="title" idx="4294967295"/>
          </p:nvPr>
        </p:nvSpPr>
        <p:spPr>
          <a:xfrm>
            <a:off x="838200" y="185737"/>
            <a:ext cx="105156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n-US" sz="2600" b="1"/>
              <a:t>Preparación de bibliotecas genómicas </a:t>
            </a:r>
            <a:endParaRPr sz="2600" b="1"/>
          </a:p>
        </p:txBody>
      </p:sp>
      <p:pic>
        <p:nvPicPr>
          <p:cNvPr id="253" name="Google Shape;253;g21ea4789aaa_0_163"/>
          <p:cNvPicPr preferRelativeResize="0"/>
          <p:nvPr/>
        </p:nvPicPr>
        <p:blipFill rotWithShape="1">
          <a:blip r:embed="rId3">
            <a:alphaModFix/>
          </a:blip>
          <a:srcRect t="22249" b="13109"/>
          <a:stretch/>
        </p:blipFill>
        <p:spPr>
          <a:xfrm>
            <a:off x="576888" y="930963"/>
            <a:ext cx="11038223" cy="499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1ea4789aaa_0_166"/>
          <p:cNvSpPr txBox="1">
            <a:spLocks noGrp="1"/>
          </p:cNvSpPr>
          <p:nvPr>
            <p:ph type="title" idx="4294967295"/>
          </p:nvPr>
        </p:nvSpPr>
        <p:spPr>
          <a:xfrm>
            <a:off x="838200" y="197587"/>
            <a:ext cx="105156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n-US" sz="2600" b="1"/>
              <a:t>Estructura de una biblioteca genómica</a:t>
            </a:r>
            <a:endParaRPr sz="2600" b="1"/>
          </a:p>
        </p:txBody>
      </p:sp>
      <p:pic>
        <p:nvPicPr>
          <p:cNvPr id="259" name="Google Shape;259;g21ea4789aaa_0_166"/>
          <p:cNvPicPr preferRelativeResize="0"/>
          <p:nvPr/>
        </p:nvPicPr>
        <p:blipFill rotWithShape="1">
          <a:blip r:embed="rId3">
            <a:alphaModFix/>
          </a:blip>
          <a:srcRect t="33229" b="36729"/>
          <a:stretch/>
        </p:blipFill>
        <p:spPr>
          <a:xfrm>
            <a:off x="64850" y="2160337"/>
            <a:ext cx="12062300" cy="2537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CAE39FF6-A9C0-6651-0CEA-77F224508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1ea4789aaa_0_160">
            <a:extLst>
              <a:ext uri="{FF2B5EF4-FFF2-40B4-BE49-F238E27FC236}">
                <a16:creationId xmlns:a16="http://schemas.microsoft.com/office/drawing/2014/main" id="{5F019BE0-DD22-23B8-F7B9-FA7B6062B44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185737"/>
            <a:ext cx="105156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n-US" sz="2600" b="1"/>
              <a:t>Flujo de trabajo</a:t>
            </a:r>
            <a:endParaRPr sz="2600" b="1"/>
          </a:p>
        </p:txBody>
      </p:sp>
      <p:pic>
        <p:nvPicPr>
          <p:cNvPr id="247" name="Google Shape;247;g21ea4789aaa_0_160">
            <a:extLst>
              <a:ext uri="{FF2B5EF4-FFF2-40B4-BE49-F238E27FC236}">
                <a16:creationId xmlns:a16="http://schemas.microsoft.com/office/drawing/2014/main" id="{B56F402E-DE71-5DA7-4D6A-392D21677B6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4643" b="10003"/>
          <a:stretch/>
        </p:blipFill>
        <p:spPr>
          <a:xfrm>
            <a:off x="1970888" y="963463"/>
            <a:ext cx="8250225" cy="493107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redondeado 1">
            <a:extLst>
              <a:ext uri="{FF2B5EF4-FFF2-40B4-BE49-F238E27FC236}">
                <a16:creationId xmlns:a16="http://schemas.microsoft.com/office/drawing/2014/main" id="{E283F76E-2CBD-12B9-DDAF-7EED5D455E92}"/>
              </a:ext>
            </a:extLst>
          </p:cNvPr>
          <p:cNvSpPr/>
          <p:nvPr/>
        </p:nvSpPr>
        <p:spPr>
          <a:xfrm>
            <a:off x="1960323" y="3615618"/>
            <a:ext cx="3964362" cy="2282635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355166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1ea4789aaa_0_169"/>
          <p:cNvSpPr txBox="1">
            <a:spLocks noGrp="1"/>
          </p:cNvSpPr>
          <p:nvPr>
            <p:ph type="title" idx="4294967295"/>
          </p:nvPr>
        </p:nvSpPr>
        <p:spPr>
          <a:xfrm>
            <a:off x="838200" y="185737"/>
            <a:ext cx="105156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n-US" sz="2600" b="1"/>
              <a:t>Secuenciación por síntesis</a:t>
            </a:r>
            <a:endParaRPr sz="2600" b="1"/>
          </a:p>
        </p:txBody>
      </p:sp>
      <p:grpSp>
        <p:nvGrpSpPr>
          <p:cNvPr id="265" name="Google Shape;265;g21ea4789aaa_0_169"/>
          <p:cNvGrpSpPr/>
          <p:nvPr/>
        </p:nvGrpSpPr>
        <p:grpSpPr>
          <a:xfrm>
            <a:off x="51187" y="1603288"/>
            <a:ext cx="12089638" cy="3651416"/>
            <a:chOff x="294824" y="1601775"/>
            <a:chExt cx="11431201" cy="3452549"/>
          </a:xfrm>
        </p:grpSpPr>
        <p:pic>
          <p:nvPicPr>
            <p:cNvPr id="266" name="Google Shape;266;g21ea4789aaa_0_169"/>
            <p:cNvPicPr preferRelativeResize="0"/>
            <p:nvPr/>
          </p:nvPicPr>
          <p:blipFill rotWithShape="1">
            <a:blip r:embed="rId3">
              <a:alphaModFix/>
            </a:blip>
            <a:srcRect l="5149" t="5052" r="57577" b="52058"/>
            <a:stretch/>
          </p:blipFill>
          <p:spPr>
            <a:xfrm>
              <a:off x="294824" y="1601775"/>
              <a:ext cx="2683976" cy="34525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" name="Google Shape;267;g21ea4789aaa_0_169"/>
            <p:cNvPicPr preferRelativeResize="0"/>
            <p:nvPr/>
          </p:nvPicPr>
          <p:blipFill rotWithShape="1">
            <a:blip r:embed="rId3">
              <a:alphaModFix/>
            </a:blip>
            <a:srcRect l="5151" t="52401" r="59173" b="4708"/>
            <a:stretch/>
          </p:blipFill>
          <p:spPr>
            <a:xfrm>
              <a:off x="5789475" y="1601775"/>
              <a:ext cx="2568977" cy="34525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" name="Google Shape;268;g21ea4789aaa_0_169"/>
            <p:cNvPicPr preferRelativeResize="0"/>
            <p:nvPr/>
          </p:nvPicPr>
          <p:blipFill rotWithShape="1">
            <a:blip r:embed="rId3">
              <a:alphaModFix/>
            </a:blip>
            <a:srcRect l="48286" t="5052" r="10374" b="52058"/>
            <a:stretch/>
          </p:blipFill>
          <p:spPr>
            <a:xfrm>
              <a:off x="2845527" y="1601775"/>
              <a:ext cx="2976776" cy="34525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9" name="Google Shape;269;g21ea4789aaa_0_169"/>
            <p:cNvPicPr preferRelativeResize="0"/>
            <p:nvPr/>
          </p:nvPicPr>
          <p:blipFill rotWithShape="1">
            <a:blip r:embed="rId3">
              <a:alphaModFix/>
            </a:blip>
            <a:srcRect l="47085" t="52401" r="5093" b="4708"/>
            <a:stretch/>
          </p:blipFill>
          <p:spPr>
            <a:xfrm>
              <a:off x="8282250" y="1601775"/>
              <a:ext cx="3443775" cy="34525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18877E-9C29-BA5A-BB02-6E9EB2553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504546"/>
            <a:ext cx="11360700" cy="1122300"/>
          </a:xfrm>
        </p:spPr>
        <p:txBody>
          <a:bodyPr>
            <a:normAutofit fontScale="90000"/>
          </a:bodyPr>
          <a:lstStyle/>
          <a:p>
            <a:r>
              <a:rPr lang="es-MX" dirty="0"/>
              <a:t>Secuenciación con terminadores </a:t>
            </a:r>
            <a:r>
              <a:rPr lang="es-MX" dirty="0">
                <a:solidFill>
                  <a:srgbClr val="FF0000"/>
                </a:solidFill>
              </a:rPr>
              <a:t>reversibles</a:t>
            </a:r>
          </a:p>
        </p:txBody>
      </p:sp>
    </p:spTree>
    <p:extLst>
      <p:ext uri="{BB962C8B-B14F-4D97-AF65-F5344CB8AC3E}">
        <p14:creationId xmlns:p14="http://schemas.microsoft.com/office/powerpoint/2010/main" val="10260842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3"/>
          <a:srcRect l="18518" t="21241" r="35233" b="7392"/>
          <a:stretch/>
        </p:blipFill>
        <p:spPr>
          <a:xfrm>
            <a:off x="2264452" y="151702"/>
            <a:ext cx="5628773" cy="5428643"/>
          </a:xfrm>
          <a:prstGeom prst="rect">
            <a:avLst/>
          </a:prstGeom>
        </p:spPr>
      </p:pic>
      <p:sp>
        <p:nvSpPr>
          <p:cNvPr id="2" name="CuadroTexto 1"/>
          <p:cNvSpPr txBox="1"/>
          <p:nvPr/>
        </p:nvSpPr>
        <p:spPr>
          <a:xfrm>
            <a:off x="1801095" y="1139863"/>
            <a:ext cx="34290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b="1" dirty="0">
                <a:solidFill>
                  <a:srgbClr val="0000FF"/>
                </a:solidFill>
              </a:rPr>
              <a:t>Se añaden los 4 </a:t>
            </a:r>
            <a:r>
              <a:rPr lang="es-ES" b="1" dirty="0" err="1">
                <a:solidFill>
                  <a:srgbClr val="0000FF"/>
                </a:solidFill>
              </a:rPr>
              <a:t>nt</a:t>
            </a:r>
            <a:r>
              <a:rPr lang="es-ES" b="1" dirty="0">
                <a:solidFill>
                  <a:srgbClr val="0000FF"/>
                </a:solidFill>
              </a:rPr>
              <a:t> a la vez</a:t>
            </a:r>
          </a:p>
          <a:p>
            <a:pPr marL="342900" indent="-342900">
              <a:buFont typeface="+mj-lt"/>
              <a:buAutoNum type="arabicPeriod"/>
            </a:pPr>
            <a:endParaRPr lang="es-ES" b="1" dirty="0">
              <a:solidFill>
                <a:srgbClr val="0000FF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b="1" dirty="0">
                <a:solidFill>
                  <a:srgbClr val="0000FF"/>
                </a:solidFill>
              </a:rPr>
              <a:t>Nucleótidos: tienen un bloqueador reversible en 3’</a:t>
            </a:r>
          </a:p>
          <a:p>
            <a:pPr marL="342900" indent="-342900">
              <a:buFont typeface="+mj-lt"/>
              <a:buAutoNum type="arabicPeriod"/>
            </a:pPr>
            <a:endParaRPr lang="es-ES" b="1" dirty="0">
              <a:solidFill>
                <a:srgbClr val="0000FF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b="1" dirty="0">
                <a:solidFill>
                  <a:srgbClr val="0000FF"/>
                </a:solidFill>
              </a:rPr>
              <a:t>Sólo se incorpora un nucleótido a la vez</a:t>
            </a:r>
          </a:p>
          <a:p>
            <a:pPr marL="342900" indent="-342900">
              <a:buFont typeface="+mj-lt"/>
              <a:buAutoNum type="arabicPeriod"/>
            </a:pPr>
            <a:endParaRPr lang="es-ES" b="1" dirty="0">
              <a:solidFill>
                <a:srgbClr val="0000FF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b="1" dirty="0">
                <a:solidFill>
                  <a:srgbClr val="0000FF"/>
                </a:solidFill>
              </a:rPr>
              <a:t>Cada incorporación = 1 ciclo</a:t>
            </a:r>
          </a:p>
          <a:p>
            <a:pPr marL="342900" indent="-342900">
              <a:buFont typeface="+mj-lt"/>
              <a:buAutoNum type="arabicPeriod"/>
            </a:pPr>
            <a:endParaRPr lang="es-ES" b="1" dirty="0">
              <a:solidFill>
                <a:srgbClr val="0000FF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b="1" dirty="0">
                <a:solidFill>
                  <a:srgbClr val="0000FF"/>
                </a:solidFill>
              </a:rPr>
              <a:t>Los </a:t>
            </a:r>
            <a:r>
              <a:rPr lang="es-ES" b="1" dirty="0" err="1">
                <a:solidFill>
                  <a:srgbClr val="0000FF"/>
                </a:solidFill>
              </a:rPr>
              <a:t>nt</a:t>
            </a:r>
            <a:r>
              <a:rPr lang="es-ES" b="1" dirty="0">
                <a:solidFill>
                  <a:srgbClr val="0000FF"/>
                </a:solidFill>
              </a:rPr>
              <a:t> en exceso se lavan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82B56-AF4B-B14A-AD18-9ED1705C003A}" type="slidenum">
              <a:rPr lang="es-ES" smtClean="0"/>
              <a:t>24</a:t>
            </a:fld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E352514-4056-AB1D-6714-0561D65DF237}"/>
              </a:ext>
            </a:extLst>
          </p:cNvPr>
          <p:cNvSpPr txBox="1"/>
          <p:nvPr/>
        </p:nvSpPr>
        <p:spPr>
          <a:xfrm>
            <a:off x="7690299" y="874731"/>
            <a:ext cx="2851049" cy="280341"/>
          </a:xfrm>
          <a:prstGeom prst="rect">
            <a:avLst/>
          </a:prstGeom>
          <a:noFill/>
        </p:spPr>
        <p:txBody>
          <a:bodyPr wrap="square" lIns="64268" tIns="32135" rIns="64268" bIns="32135" rtlCol="0">
            <a:spAutoFit/>
          </a:bodyPr>
          <a:lstStyle/>
          <a:p>
            <a:pPr algn="l"/>
            <a:r>
              <a:rPr lang="es-ES" dirty="0"/>
              <a:t>1. Incorporación}</a:t>
            </a:r>
          </a:p>
        </p:txBody>
      </p:sp>
    </p:spTree>
    <p:extLst>
      <p:ext uri="{BB962C8B-B14F-4D97-AF65-F5344CB8AC3E}">
        <p14:creationId xmlns:p14="http://schemas.microsoft.com/office/powerpoint/2010/main" val="7887868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D639F-BE16-4581-8D06-7D16CAFE8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F0343DD-4E6E-0262-AF14-3904819AD7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518" t="21241" r="35233" b="7392"/>
          <a:stretch/>
        </p:blipFill>
        <p:spPr>
          <a:xfrm>
            <a:off x="2264452" y="151702"/>
            <a:ext cx="5628773" cy="5428643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BC079D-38F3-1BF3-FEF6-7054EDE1C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82B56-AF4B-B14A-AD18-9ED1705C003A}" type="slidenum">
              <a:rPr lang="es-ES" smtClean="0"/>
              <a:t>25</a:t>
            </a:fld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08F8AD2-9975-697F-BC65-32E28428111A}"/>
              </a:ext>
            </a:extLst>
          </p:cNvPr>
          <p:cNvSpPr/>
          <p:nvPr/>
        </p:nvSpPr>
        <p:spPr>
          <a:xfrm>
            <a:off x="6678321" y="1941534"/>
            <a:ext cx="3356521" cy="292482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11AD39B8-F938-365A-64BA-ED02A498D8B3}"/>
              </a:ext>
            </a:extLst>
          </p:cNvPr>
          <p:cNvCxnSpPr>
            <a:cxnSpLocks/>
          </p:cNvCxnSpPr>
          <p:nvPr/>
        </p:nvCxnSpPr>
        <p:spPr>
          <a:xfrm flipV="1">
            <a:off x="6742658" y="1319619"/>
            <a:ext cx="947641" cy="138241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22FDD5DE-5B79-F5D6-C9B9-7CA251B4A5B6}"/>
              </a:ext>
            </a:extLst>
          </p:cNvPr>
          <p:cNvSpPr/>
          <p:nvPr/>
        </p:nvSpPr>
        <p:spPr>
          <a:xfrm>
            <a:off x="6454940" y="3293476"/>
            <a:ext cx="506967" cy="70018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30FD7D35-532D-33AB-E412-972E84EF8035}"/>
              </a:ext>
            </a:extLst>
          </p:cNvPr>
          <p:cNvCxnSpPr/>
          <p:nvPr/>
        </p:nvCxnSpPr>
        <p:spPr>
          <a:xfrm flipH="1" flipV="1">
            <a:off x="6708804" y="2843764"/>
            <a:ext cx="1574075" cy="193330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66D26C92-17A5-6484-7D5B-05D86FC6BFFF}"/>
              </a:ext>
            </a:extLst>
          </p:cNvPr>
          <p:cNvSpPr txBox="1"/>
          <p:nvPr/>
        </p:nvSpPr>
        <p:spPr>
          <a:xfrm>
            <a:off x="7690299" y="874731"/>
            <a:ext cx="2851049" cy="495785"/>
          </a:xfrm>
          <a:prstGeom prst="rect">
            <a:avLst/>
          </a:prstGeom>
          <a:noFill/>
        </p:spPr>
        <p:txBody>
          <a:bodyPr wrap="square" lIns="64268" tIns="32135" rIns="64268" bIns="32135" rtlCol="0">
            <a:spAutoFit/>
          </a:bodyPr>
          <a:lstStyle/>
          <a:p>
            <a:pPr algn="l"/>
            <a:r>
              <a:rPr lang="es-ES" dirty="0"/>
              <a:t>1. Incorporación</a:t>
            </a:r>
          </a:p>
          <a:p>
            <a:pPr algn="l"/>
            <a:r>
              <a:rPr lang="es-ES" dirty="0">
                <a:solidFill>
                  <a:srgbClr val="FF0000"/>
                </a:solidFill>
              </a:rPr>
              <a:t>2. Escaneo</a:t>
            </a:r>
          </a:p>
        </p:txBody>
      </p:sp>
    </p:spTree>
    <p:extLst>
      <p:ext uri="{BB962C8B-B14F-4D97-AF65-F5344CB8AC3E}">
        <p14:creationId xmlns:p14="http://schemas.microsoft.com/office/powerpoint/2010/main" val="40561171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56EDA-F2FD-923F-9F8E-022CAC45F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3C3B073-4A15-AA42-E37C-7012B8405C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518" t="21241" r="35233" b="7392"/>
          <a:stretch/>
        </p:blipFill>
        <p:spPr>
          <a:xfrm>
            <a:off x="2264452" y="151702"/>
            <a:ext cx="5628773" cy="5428643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AE3ABF-3771-640A-2F91-25DF2E03A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82B56-AF4B-B14A-AD18-9ED1705C003A}" type="slidenum">
              <a:rPr lang="es-ES" smtClean="0"/>
              <a:t>26</a:t>
            </a:fld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FE91C45-6506-3A02-7CB9-D9DDD964C522}"/>
              </a:ext>
            </a:extLst>
          </p:cNvPr>
          <p:cNvSpPr/>
          <p:nvPr/>
        </p:nvSpPr>
        <p:spPr>
          <a:xfrm>
            <a:off x="6678321" y="1941534"/>
            <a:ext cx="3356521" cy="292482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31CA3241-7E33-DBE8-4598-1A50FE3C88F5}"/>
              </a:ext>
            </a:extLst>
          </p:cNvPr>
          <p:cNvCxnSpPr>
            <a:cxnSpLocks/>
          </p:cNvCxnSpPr>
          <p:nvPr/>
        </p:nvCxnSpPr>
        <p:spPr>
          <a:xfrm flipV="1">
            <a:off x="6742658" y="1319619"/>
            <a:ext cx="947641" cy="138241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347DABE0-B026-6AF1-CBF3-DE755DEBCF95}"/>
              </a:ext>
            </a:extLst>
          </p:cNvPr>
          <p:cNvSpPr/>
          <p:nvPr/>
        </p:nvSpPr>
        <p:spPr>
          <a:xfrm>
            <a:off x="6454940" y="3293476"/>
            <a:ext cx="506967" cy="70018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C8140A68-5747-937F-C3A8-8E1040CCDB77}"/>
              </a:ext>
            </a:extLst>
          </p:cNvPr>
          <p:cNvCxnSpPr/>
          <p:nvPr/>
        </p:nvCxnSpPr>
        <p:spPr>
          <a:xfrm flipH="1" flipV="1">
            <a:off x="6708804" y="2843764"/>
            <a:ext cx="1574075" cy="193330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D52597F9-86E5-BA6E-69D0-F054E86772C5}"/>
              </a:ext>
            </a:extLst>
          </p:cNvPr>
          <p:cNvSpPr txBox="1"/>
          <p:nvPr/>
        </p:nvSpPr>
        <p:spPr>
          <a:xfrm>
            <a:off x="7690299" y="874731"/>
            <a:ext cx="2851049" cy="711228"/>
          </a:xfrm>
          <a:prstGeom prst="rect">
            <a:avLst/>
          </a:prstGeom>
          <a:noFill/>
        </p:spPr>
        <p:txBody>
          <a:bodyPr wrap="square" lIns="64268" tIns="32135" rIns="64268" bIns="32135" rtlCol="0">
            <a:spAutoFit/>
          </a:bodyPr>
          <a:lstStyle/>
          <a:p>
            <a:pPr algn="l"/>
            <a:r>
              <a:rPr lang="es-ES" dirty="0"/>
              <a:t>1. Incorporación</a:t>
            </a:r>
          </a:p>
          <a:p>
            <a:pPr algn="l"/>
            <a:r>
              <a:rPr lang="es-ES" dirty="0"/>
              <a:t>2. Escaneo</a:t>
            </a:r>
          </a:p>
          <a:p>
            <a:r>
              <a:rPr lang="es-ES" dirty="0">
                <a:solidFill>
                  <a:srgbClr val="FF0000"/>
                </a:solidFill>
              </a:rPr>
              <a:t>3. Eliminación de bloqueador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F429303-388E-856F-5C5E-9DEDF6CE0CBD}"/>
              </a:ext>
            </a:extLst>
          </p:cNvPr>
          <p:cNvSpPr txBox="1"/>
          <p:nvPr/>
        </p:nvSpPr>
        <p:spPr>
          <a:xfrm>
            <a:off x="6109692" y="2625273"/>
            <a:ext cx="532197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MX" sz="1200" dirty="0">
                <a:solidFill>
                  <a:srgbClr val="0070C0"/>
                </a:solidFill>
              </a:rPr>
              <a:t>3’-OH</a:t>
            </a:r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F456EACB-3864-5F4A-6778-B56D70205F73}"/>
              </a:ext>
            </a:extLst>
          </p:cNvPr>
          <p:cNvGrpSpPr/>
          <p:nvPr/>
        </p:nvGrpSpPr>
        <p:grpSpPr>
          <a:xfrm>
            <a:off x="956423" y="143760"/>
            <a:ext cx="4307280" cy="5154301"/>
            <a:chOff x="956423" y="143760"/>
            <a:chExt cx="4307280" cy="5154301"/>
          </a:xfrm>
        </p:grpSpPr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DD6E597F-A366-9541-CFE8-E6EE52568720}"/>
                </a:ext>
              </a:extLst>
            </p:cNvPr>
            <p:cNvGrpSpPr/>
            <p:nvPr/>
          </p:nvGrpSpPr>
          <p:grpSpPr>
            <a:xfrm>
              <a:off x="956423" y="143760"/>
              <a:ext cx="4307280" cy="5154301"/>
              <a:chOff x="-411002" y="966095"/>
              <a:chExt cx="4307280" cy="5154301"/>
            </a:xfrm>
          </p:grpSpPr>
          <p:grpSp>
            <p:nvGrpSpPr>
              <p:cNvPr id="11" name="Agrupar 14">
                <a:extLst>
                  <a:ext uri="{FF2B5EF4-FFF2-40B4-BE49-F238E27FC236}">
                    <a16:creationId xmlns:a16="http://schemas.microsoft.com/office/drawing/2014/main" id="{054AD3AC-F6B9-C3B1-B0B4-1456072854DF}"/>
                  </a:ext>
                </a:extLst>
              </p:cNvPr>
              <p:cNvGrpSpPr/>
              <p:nvPr/>
            </p:nvGrpSpPr>
            <p:grpSpPr>
              <a:xfrm>
                <a:off x="-411002" y="966095"/>
                <a:ext cx="3922871" cy="4684106"/>
                <a:chOff x="-584536" y="1374001"/>
                <a:chExt cx="5579194" cy="6661840"/>
              </a:xfrm>
            </p:grpSpPr>
            <p:pic>
              <p:nvPicPr>
                <p:cNvPr id="14" name="Imagen 13">
                  <a:extLst>
                    <a:ext uri="{FF2B5EF4-FFF2-40B4-BE49-F238E27FC236}">
                      <a16:creationId xmlns:a16="http://schemas.microsoft.com/office/drawing/2014/main" id="{F77F4506-529D-6E1D-040E-0F43945EE5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42179" y="1374001"/>
                  <a:ext cx="3952479" cy="6661840"/>
                </a:xfrm>
                <a:prstGeom prst="rect">
                  <a:avLst/>
                </a:prstGeom>
              </p:spPr>
            </p:pic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05EB4E9F-2DA8-E732-DC8B-402C02E6AAD9}"/>
                    </a:ext>
                  </a:extLst>
                </p:cNvPr>
                <p:cNvSpPr txBox="1"/>
                <p:nvPr/>
              </p:nvSpPr>
              <p:spPr>
                <a:xfrm>
                  <a:off x="113896" y="2282347"/>
                  <a:ext cx="1414538" cy="2347674"/>
                </a:xfrm>
                <a:prstGeom prst="rect">
                  <a:avLst/>
                </a:prstGeom>
                <a:solidFill>
                  <a:srgbClr val="FFFFFF"/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s-ES" sz="1266" dirty="0"/>
                </a:p>
                <a:p>
                  <a:endParaRPr lang="es-ES" sz="1266" dirty="0"/>
                </a:p>
                <a:p>
                  <a:endParaRPr lang="es-ES" sz="1266" dirty="0"/>
                </a:p>
                <a:p>
                  <a:endParaRPr lang="es-ES" sz="1266" dirty="0"/>
                </a:p>
                <a:p>
                  <a:endParaRPr lang="es-ES" sz="1266" dirty="0"/>
                </a:p>
                <a:p>
                  <a:endParaRPr lang="es-ES" sz="1266" dirty="0"/>
                </a:p>
                <a:p>
                  <a:endParaRPr lang="es-ES" sz="1266" dirty="0"/>
                </a:p>
                <a:p>
                  <a:r>
                    <a:rPr lang="es-ES" sz="1266" dirty="0"/>
                    <a:t>    </a:t>
                  </a:r>
                </a:p>
              </p:txBody>
            </p:sp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A7ED4FCE-3267-6623-FA73-5DF56E68CC8C}"/>
                    </a:ext>
                  </a:extLst>
                </p:cNvPr>
                <p:cNvSpPr txBox="1"/>
                <p:nvPr/>
              </p:nvSpPr>
              <p:spPr>
                <a:xfrm>
                  <a:off x="803197" y="3351368"/>
                  <a:ext cx="2278128" cy="3214932"/>
                </a:xfrm>
                <a:prstGeom prst="rect">
                  <a:avLst/>
                </a:prstGeom>
                <a:solidFill>
                  <a:srgbClr val="FFFFFF"/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s-ES" sz="1266" dirty="0"/>
                </a:p>
                <a:p>
                  <a:endParaRPr lang="es-ES" sz="1266" dirty="0"/>
                </a:p>
                <a:p>
                  <a:endParaRPr lang="es-ES" sz="1266" dirty="0"/>
                </a:p>
                <a:p>
                  <a:endParaRPr lang="es-ES" sz="1266" dirty="0"/>
                </a:p>
              </p:txBody>
            </p:sp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72056F61-1675-BACC-FE4C-98E37CA1BD49}"/>
                    </a:ext>
                  </a:extLst>
                </p:cNvPr>
                <p:cNvSpPr txBox="1"/>
                <p:nvPr/>
              </p:nvSpPr>
              <p:spPr>
                <a:xfrm>
                  <a:off x="177556" y="1376884"/>
                  <a:ext cx="1414538" cy="1239497"/>
                </a:xfrm>
                <a:prstGeom prst="rect">
                  <a:avLst/>
                </a:prstGeom>
                <a:solidFill>
                  <a:srgbClr val="FFFFFF"/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s-ES" sz="1266" dirty="0"/>
                </a:p>
                <a:p>
                  <a:endParaRPr lang="es-ES" sz="1266" dirty="0"/>
                </a:p>
                <a:p>
                  <a:endParaRPr lang="es-ES" sz="1266" dirty="0"/>
                </a:p>
                <a:p>
                  <a:endParaRPr lang="es-ES" sz="1266" dirty="0"/>
                </a:p>
              </p:txBody>
            </p:sp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FC79B04F-5E1E-609B-214E-04D43B767862}"/>
                    </a:ext>
                  </a:extLst>
                </p:cNvPr>
                <p:cNvSpPr txBox="1"/>
                <p:nvPr/>
              </p:nvSpPr>
              <p:spPr>
                <a:xfrm>
                  <a:off x="-584536" y="5201453"/>
                  <a:ext cx="4097304" cy="10543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sz="1406" b="1" dirty="0"/>
                    <a:t>TCEP: Tris(2-carboxietil)fosfina</a:t>
                  </a:r>
                </a:p>
                <a:p>
                  <a:pPr marL="342900" indent="-342900">
                    <a:buAutoNum type="arabicPeriod"/>
                  </a:pPr>
                  <a:r>
                    <a:rPr lang="es-ES" sz="1406" b="1" dirty="0"/>
                    <a:t>Regenera el 3’-OH</a:t>
                  </a:r>
                </a:p>
                <a:p>
                  <a:pPr marL="342900" indent="-342900">
                    <a:buAutoNum type="arabicPeriod"/>
                  </a:pPr>
                  <a:r>
                    <a:rPr lang="es-ES" sz="1406" b="1" dirty="0"/>
                    <a:t>Elimina el </a:t>
                  </a:r>
                  <a:r>
                    <a:rPr lang="es-ES" sz="1406" b="1" dirty="0" err="1"/>
                    <a:t>fluoróforo</a:t>
                  </a:r>
                  <a:endParaRPr lang="es-ES" sz="1406" b="1" dirty="0"/>
                </a:p>
              </p:txBody>
            </p:sp>
          </p:grpSp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28A08842-F67C-FE09-C486-10DEB232A1AC}"/>
                  </a:ext>
                </a:extLst>
              </p:cNvPr>
              <p:cNvSpPr/>
              <p:nvPr/>
            </p:nvSpPr>
            <p:spPr>
              <a:xfrm>
                <a:off x="2453094" y="5668990"/>
                <a:ext cx="857927" cy="4514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ES" baseline="30000" dirty="0">
                    <a:solidFill>
                      <a:srgbClr val="FF0000"/>
                    </a:solidFill>
                  </a:rPr>
                  <a:t>Bloqueador:</a:t>
                </a:r>
              </a:p>
              <a:p>
                <a:r>
                  <a:rPr lang="es-ES" baseline="30000" dirty="0">
                    <a:solidFill>
                      <a:srgbClr val="FF0000"/>
                    </a:solidFill>
                  </a:rPr>
                  <a:t>3′-azidometil</a:t>
                </a:r>
                <a:endParaRPr lang="es-E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47E859B1-487B-A168-7F66-5EAA872AFE2F}"/>
                  </a:ext>
                </a:extLst>
              </p:cNvPr>
              <p:cNvSpPr txBox="1"/>
              <p:nvPr/>
            </p:nvSpPr>
            <p:spPr>
              <a:xfrm>
                <a:off x="2725765" y="5076182"/>
                <a:ext cx="117051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ES" b="1" dirty="0">
                    <a:solidFill>
                      <a:srgbClr val="FF0000"/>
                    </a:solidFill>
                  </a:rPr>
                  <a:t>Terminador</a:t>
                </a:r>
              </a:p>
              <a:p>
                <a:pPr algn="ctr"/>
                <a:r>
                  <a:rPr lang="es-ES" b="1" dirty="0">
                    <a:solidFill>
                      <a:srgbClr val="FF0000"/>
                    </a:solidFill>
                  </a:rPr>
                  <a:t> reversible</a:t>
                </a:r>
              </a:p>
            </p:txBody>
          </p:sp>
        </p:grp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F7341298-490F-E366-0230-A7AAB3AFA7E0}"/>
                </a:ext>
              </a:extLst>
            </p:cNvPr>
            <p:cNvSpPr txBox="1"/>
            <p:nvPr/>
          </p:nvSpPr>
          <p:spPr>
            <a:xfrm>
              <a:off x="4509732" y="2558246"/>
              <a:ext cx="6126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>
                  <a:solidFill>
                    <a:srgbClr val="00B0F0"/>
                  </a:solidFill>
                </a:rPr>
                <a:t>linker</a:t>
              </a:r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FC04C62C-C4C8-0568-2BE1-A21F667C94B1}"/>
                </a:ext>
              </a:extLst>
            </p:cNvPr>
            <p:cNvSpPr txBox="1"/>
            <p:nvPr/>
          </p:nvSpPr>
          <p:spPr>
            <a:xfrm>
              <a:off x="2172542" y="1132308"/>
              <a:ext cx="9396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/>
                <a:t>fluoróforo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4920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1ea4789aaa_0_172"/>
          <p:cNvSpPr txBox="1">
            <a:spLocks noGrp="1"/>
          </p:cNvSpPr>
          <p:nvPr>
            <p:ph type="title" idx="4294967295"/>
          </p:nvPr>
        </p:nvSpPr>
        <p:spPr>
          <a:xfrm>
            <a:off x="838200" y="185737"/>
            <a:ext cx="105156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n-US" sz="2600" b="1" dirty="0" err="1"/>
              <a:t>Representación</a:t>
            </a:r>
            <a:r>
              <a:rPr lang="en-US" sz="2600" b="1" dirty="0"/>
              <a:t> del </a:t>
            </a:r>
            <a:r>
              <a:rPr lang="en-US" sz="2600" b="1" dirty="0" err="1"/>
              <a:t>llamado</a:t>
            </a:r>
            <a:r>
              <a:rPr lang="en-US" sz="2600" b="1" dirty="0"/>
              <a:t> de bases a </a:t>
            </a:r>
            <a:r>
              <a:rPr lang="en-US" sz="2600" b="1" dirty="0" err="1"/>
              <a:t>partir</a:t>
            </a:r>
            <a:r>
              <a:rPr lang="en-US" sz="2600" b="1" dirty="0"/>
              <a:t> de </a:t>
            </a:r>
            <a:r>
              <a:rPr lang="en-US" sz="2600" b="1" dirty="0" err="1"/>
              <a:t>datos</a:t>
            </a:r>
            <a:r>
              <a:rPr lang="en-US" sz="2600" b="1" dirty="0"/>
              <a:t> crudos</a:t>
            </a:r>
            <a:endParaRPr sz="2600" b="1" dirty="0"/>
          </a:p>
        </p:txBody>
      </p:sp>
      <p:pic>
        <p:nvPicPr>
          <p:cNvPr id="275" name="Google Shape;275;g21ea4789aaa_0_172"/>
          <p:cNvPicPr preferRelativeResize="0"/>
          <p:nvPr/>
        </p:nvPicPr>
        <p:blipFill rotWithShape="1">
          <a:blip r:embed="rId3">
            <a:alphaModFix/>
          </a:blip>
          <a:srcRect l="24012" t="22645" r="24512" b="41648"/>
          <a:stretch/>
        </p:blipFill>
        <p:spPr>
          <a:xfrm>
            <a:off x="615938" y="1290638"/>
            <a:ext cx="10960123" cy="42767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B06A8A76-2E7D-F6B8-B299-857628DBC916}"/>
              </a:ext>
            </a:extLst>
          </p:cNvPr>
          <p:cNvSpPr txBox="1"/>
          <p:nvPr/>
        </p:nvSpPr>
        <p:spPr>
          <a:xfrm>
            <a:off x="7413590" y="6470204"/>
            <a:ext cx="2854896" cy="281239"/>
          </a:xfrm>
          <a:prstGeom prst="rect">
            <a:avLst/>
          </a:prstGeom>
          <a:noFill/>
        </p:spPr>
        <p:txBody>
          <a:bodyPr wrap="none" lIns="64268" tIns="32135" rIns="64268" bIns="32135" rtlCol="0">
            <a:spAutoFit/>
          </a:bodyPr>
          <a:lstStyle/>
          <a:p>
            <a:r>
              <a:rPr lang="es-ES" sz="1406" dirty="0" err="1"/>
              <a:t>Metzker</a:t>
            </a:r>
            <a:r>
              <a:rPr lang="es-ES" sz="1406" dirty="0"/>
              <a:t>, </a:t>
            </a:r>
            <a:r>
              <a:rPr lang="es-ES" sz="1406" dirty="0" err="1"/>
              <a:t>Nat</a:t>
            </a:r>
            <a:r>
              <a:rPr lang="es-ES" sz="1406" dirty="0"/>
              <a:t> </a:t>
            </a:r>
            <a:r>
              <a:rPr lang="es-ES" sz="1406" dirty="0" err="1"/>
              <a:t>Rev</a:t>
            </a:r>
            <a:r>
              <a:rPr lang="es-ES" sz="1406" dirty="0"/>
              <a:t> </a:t>
            </a:r>
            <a:r>
              <a:rPr lang="es-ES" sz="1406" dirty="0" err="1"/>
              <a:t>Genetics</a:t>
            </a:r>
            <a:r>
              <a:rPr lang="es-ES" sz="1406" dirty="0"/>
              <a:t> (2010)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1ea4789aaa_0_175">
            <a:hlinkClick r:id="rId3"/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0"/>
            <a:ext cx="105156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n-US" sz="2600" b="1" dirty="0"/>
              <a:t>La </a:t>
            </a:r>
            <a:r>
              <a:rPr lang="en-US" sz="2600" b="1" dirty="0" err="1"/>
              <a:t>laminilla</a:t>
            </a:r>
            <a:r>
              <a:rPr lang="en-US" sz="2600" b="1" dirty="0"/>
              <a:t> de </a:t>
            </a:r>
            <a:r>
              <a:rPr lang="en-US" sz="2600" b="1" dirty="0" err="1"/>
              <a:t>secuenciación</a:t>
            </a:r>
            <a:endParaRPr sz="2600" b="1" dirty="0"/>
          </a:p>
        </p:txBody>
      </p:sp>
      <p:pic>
        <p:nvPicPr>
          <p:cNvPr id="281" name="Google Shape;281;g21ea4789aaa_0_17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7700" y="590700"/>
            <a:ext cx="10076600" cy="5102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owerhouse Collection - HiSeq X genome sequencer by Illumina Inc">
            <a:extLst>
              <a:ext uri="{FF2B5EF4-FFF2-40B4-BE49-F238E27FC236}">
                <a16:creationId xmlns:a16="http://schemas.microsoft.com/office/drawing/2014/main" id="{16E14CB3-E8E1-53F6-B5CC-F7931EFB42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49" t="13692" r="29896" b="14966"/>
          <a:stretch/>
        </p:blipFill>
        <p:spPr bwMode="auto">
          <a:xfrm>
            <a:off x="45771" y="1232596"/>
            <a:ext cx="1374005" cy="3726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C95F99E-DE1E-333A-CD9F-02CE0BDE1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4690" y="577169"/>
            <a:ext cx="4409469" cy="5152516"/>
          </a:xfrm>
          <a:prstGeom prst="rect">
            <a:avLst/>
          </a:prstGeom>
        </p:spPr>
      </p:pic>
      <p:pic>
        <p:nvPicPr>
          <p:cNvPr id="1032" name="Picture 8" descr="Illumina manufactures a genetically-designed market disaster">
            <a:extLst>
              <a:ext uri="{FF2B5EF4-FFF2-40B4-BE49-F238E27FC236}">
                <a16:creationId xmlns:a16="http://schemas.microsoft.com/office/drawing/2014/main" id="{D2900D2B-152D-6ECC-1A3C-3AECAFCA94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3931813" y="2035105"/>
            <a:ext cx="4265744" cy="2399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640C348-8622-A51A-0976-C9915BF82FE5}"/>
              </a:ext>
            </a:extLst>
          </p:cNvPr>
          <p:cNvSpPr txBox="1"/>
          <p:nvPr/>
        </p:nvSpPr>
        <p:spPr>
          <a:xfrm>
            <a:off x="0" y="464352"/>
            <a:ext cx="16065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dirty="0">
                <a:solidFill>
                  <a:srgbClr val="0070C0"/>
                </a:solidFill>
              </a:rPr>
              <a:t>HiSeq</a:t>
            </a:r>
          </a:p>
          <a:p>
            <a:pPr algn="ctr"/>
            <a:r>
              <a:rPr lang="es-MX" dirty="0">
                <a:solidFill>
                  <a:srgbClr val="0070C0"/>
                </a:solidFill>
              </a:rPr>
              <a:t>(no está a escala)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8F37CA6-A8D5-9EE3-5788-37A6A3544091}"/>
              </a:ext>
            </a:extLst>
          </p:cNvPr>
          <p:cNvSpPr txBox="1"/>
          <p:nvPr/>
        </p:nvSpPr>
        <p:spPr>
          <a:xfrm>
            <a:off x="5505188" y="532356"/>
            <a:ext cx="6623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0070C0"/>
                </a:solidFill>
              </a:rPr>
              <a:t>Miseq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73D9C97-F9CB-D566-C773-D9595AE55961}"/>
              </a:ext>
            </a:extLst>
          </p:cNvPr>
          <p:cNvSpPr txBox="1"/>
          <p:nvPr/>
        </p:nvSpPr>
        <p:spPr>
          <a:xfrm>
            <a:off x="9388257" y="156575"/>
            <a:ext cx="922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rgbClr val="0070C0"/>
                </a:solidFill>
              </a:rPr>
              <a:t>NovaSeq</a:t>
            </a:r>
          </a:p>
        </p:txBody>
      </p:sp>
      <p:sp>
        <p:nvSpPr>
          <p:cNvPr id="9" name="Google Shape;280;g21ea4789aaa_0_175">
            <a:hlinkClick r:id="rId5"/>
            <a:extLst>
              <a:ext uri="{FF2B5EF4-FFF2-40B4-BE49-F238E27FC236}">
                <a16:creationId xmlns:a16="http://schemas.microsoft.com/office/drawing/2014/main" id="{456A8288-6765-B878-82D2-0C07152D5970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90000"/>
              </a:lnSpc>
              <a:buSzPts val="2600"/>
              <a:buFont typeface="Calibri"/>
              <a:buNone/>
            </a:pPr>
            <a:r>
              <a:rPr lang="en-US" sz="2600" b="1"/>
              <a:t>La laminilla de secuenciación</a:t>
            </a:r>
            <a:endParaRPr lang="en-US" sz="2600" b="1" dirty="0"/>
          </a:p>
        </p:txBody>
      </p:sp>
      <p:pic>
        <p:nvPicPr>
          <p:cNvPr id="1034" name="Picture 10" descr="Why Each Lane Matters - The Complex Structure of an Illumina Flow Cell">
            <a:extLst>
              <a:ext uri="{FF2B5EF4-FFF2-40B4-BE49-F238E27FC236}">
                <a16:creationId xmlns:a16="http://schemas.microsoft.com/office/drawing/2014/main" id="{F39CCDDF-CD2A-A3D7-5046-D067F26389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6" r="5309"/>
          <a:stretch/>
        </p:blipFill>
        <p:spPr bwMode="auto">
          <a:xfrm>
            <a:off x="1407707" y="1044212"/>
            <a:ext cx="3327810" cy="4163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5035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1ea4789aaa_0_154"/>
          <p:cNvSpPr txBox="1">
            <a:spLocks noGrp="1"/>
          </p:cNvSpPr>
          <p:nvPr>
            <p:ph type="title" idx="4294967295"/>
          </p:nvPr>
        </p:nvSpPr>
        <p:spPr>
          <a:xfrm>
            <a:off x="682000" y="194775"/>
            <a:ext cx="105963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n-US" sz="2600" b="1"/>
              <a:t>Secuenciación Sanger VS Secuenciación masiva en paralelo</a:t>
            </a:r>
            <a:endParaRPr sz="3900"/>
          </a:p>
        </p:txBody>
      </p:sp>
      <p:pic>
        <p:nvPicPr>
          <p:cNvPr id="287" name="Google Shape;287;g21ea4789aaa_0_154"/>
          <p:cNvPicPr preferRelativeResize="0"/>
          <p:nvPr/>
        </p:nvPicPr>
        <p:blipFill rotWithShape="1">
          <a:blip r:embed="rId3">
            <a:alphaModFix/>
          </a:blip>
          <a:srcRect t="12373" b="3965"/>
          <a:stretch/>
        </p:blipFill>
        <p:spPr>
          <a:xfrm>
            <a:off x="1797650" y="767900"/>
            <a:ext cx="8365000" cy="4900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1ea4789aaa_0_178"/>
          <p:cNvSpPr txBox="1">
            <a:spLocks noGrp="1"/>
          </p:cNvSpPr>
          <p:nvPr>
            <p:ph type="title" idx="4294967295"/>
          </p:nvPr>
        </p:nvSpPr>
        <p:spPr>
          <a:xfrm>
            <a:off x="838200" y="185737"/>
            <a:ext cx="105156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n-US" sz="2600" b="1"/>
              <a:t>Usos de las diferentes plataformas de secuenciación</a:t>
            </a:r>
            <a:endParaRPr sz="2600" b="1"/>
          </a:p>
        </p:txBody>
      </p:sp>
      <p:pic>
        <p:nvPicPr>
          <p:cNvPr id="293" name="Google Shape;293;g21ea4789aaa_0_1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462237"/>
            <a:ext cx="11887201" cy="3488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Why Each Lane Matters - The Complex Structure of an Illumina Flow Cell">
            <a:extLst>
              <a:ext uri="{FF2B5EF4-FFF2-40B4-BE49-F238E27FC236}">
                <a16:creationId xmlns:a16="http://schemas.microsoft.com/office/drawing/2014/main" id="{D752DF54-CD6D-4D4E-4E8F-B809239B8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5860" y="4867878"/>
            <a:ext cx="754135" cy="842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Why Each Lane Matters - The Complex Structure of an Illumina Flow Cell">
            <a:extLst>
              <a:ext uri="{FF2B5EF4-FFF2-40B4-BE49-F238E27FC236}">
                <a16:creationId xmlns:a16="http://schemas.microsoft.com/office/drawing/2014/main" id="{FE9FFA89-1818-14ED-8082-331280ED35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9482" y="4867878"/>
            <a:ext cx="754135" cy="842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Why Each Lane Matters - The Complex Structure of an Illumina Flow Cell">
            <a:extLst>
              <a:ext uri="{FF2B5EF4-FFF2-40B4-BE49-F238E27FC236}">
                <a16:creationId xmlns:a16="http://schemas.microsoft.com/office/drawing/2014/main" id="{671053AA-8612-65A4-7BD2-F30411705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6047" y="4867877"/>
            <a:ext cx="754135" cy="842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g21ea4789aaa_0_181" descr="A picture containing text, wall, indoo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6750" y="766900"/>
            <a:ext cx="7406925" cy="495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g21ea4789aaa_0_181" descr="A picture containing indoor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06458" y="2293256"/>
            <a:ext cx="4238800" cy="2837543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g21ea4789aaa_0_181"/>
          <p:cNvSpPr txBox="1">
            <a:spLocks noGrp="1"/>
          </p:cNvSpPr>
          <p:nvPr>
            <p:ph type="title" idx="4294967295"/>
          </p:nvPr>
        </p:nvSpPr>
        <p:spPr>
          <a:xfrm>
            <a:off x="838200" y="185737"/>
            <a:ext cx="105156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n-US" sz="2600" b="1"/>
              <a:t>Secuenciación MiSeq - Illumina</a:t>
            </a:r>
            <a:endParaRPr sz="2600" b="1"/>
          </a:p>
        </p:txBody>
      </p:sp>
      <p:pic>
        <p:nvPicPr>
          <p:cNvPr id="301" name="Google Shape;301;g21ea4789aaa_0_181"/>
          <p:cNvPicPr preferRelativeResize="0"/>
          <p:nvPr/>
        </p:nvPicPr>
        <p:blipFill rotWithShape="1">
          <a:blip r:embed="rId5">
            <a:alphaModFix/>
          </a:blip>
          <a:srcRect t="27311" b="45123"/>
          <a:stretch/>
        </p:blipFill>
        <p:spPr>
          <a:xfrm>
            <a:off x="8971525" y="6233399"/>
            <a:ext cx="1420375" cy="39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21ea4789aaa_0_181"/>
          <p:cNvSpPr/>
          <p:nvPr/>
        </p:nvSpPr>
        <p:spPr>
          <a:xfrm>
            <a:off x="8534400" y="995503"/>
            <a:ext cx="3026100" cy="8835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99B5FF"/>
              </a:gs>
              <a:gs pos="35000">
                <a:srgbClr val="B9CBFF"/>
              </a:gs>
              <a:gs pos="100000">
                <a:srgbClr val="E2E9FF"/>
              </a:gs>
            </a:gsLst>
            <a:lin ang="16200038" scaled="0"/>
          </a:gradFill>
          <a:ln w="9525" cap="flat" cmpd="sng">
            <a:solidFill>
              <a:srgbClr val="3E6EC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86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2x300 bp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3.5- 15 Gb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 millones de lecturas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24ffc091f5_0_59"/>
          <p:cNvSpPr txBox="1">
            <a:spLocks noGrp="1"/>
          </p:cNvSpPr>
          <p:nvPr>
            <p:ph type="title"/>
          </p:nvPr>
        </p:nvSpPr>
        <p:spPr>
          <a:xfrm>
            <a:off x="762000" y="417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>
                <a:solidFill>
                  <a:schemeClr val="lt1"/>
                </a:solidFill>
              </a:rPr>
              <a:t>¡Gracias por su atención!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08" name="Google Shape;308;g124ffc091f5_0_59"/>
          <p:cNvSpPr txBox="1">
            <a:spLocks noGrp="1"/>
          </p:cNvSpPr>
          <p:nvPr>
            <p:ph type="title"/>
          </p:nvPr>
        </p:nvSpPr>
        <p:spPr>
          <a:xfrm>
            <a:off x="838200" y="51657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000" b="1" dirty="0" err="1">
                <a:solidFill>
                  <a:schemeClr val="lt1"/>
                </a:solidFill>
              </a:rPr>
              <a:t>Contacto</a:t>
            </a:r>
            <a:r>
              <a:rPr lang="en-US" sz="3000" b="1" dirty="0">
                <a:solidFill>
                  <a:schemeClr val="lt1"/>
                </a:solidFill>
              </a:rPr>
              <a:t>: </a:t>
            </a:r>
            <a:r>
              <a:rPr lang="en-US" sz="3000" b="1" dirty="0" err="1">
                <a:solidFill>
                  <a:schemeClr val="lt1"/>
                </a:solidFill>
              </a:rPr>
              <a:t>felipe.vaca@iztacala.unam.mx</a:t>
            </a:r>
            <a:endParaRPr sz="3000" b="1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</TotalTime>
  <Words>444</Words>
  <Application>Microsoft Macintosh PowerPoint</Application>
  <PresentationFormat>Panorámica</PresentationFormat>
  <Paragraphs>114</Paragraphs>
  <Slides>33</Slides>
  <Notes>29</Notes>
  <HiddenSlides>1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33</vt:i4>
      </vt:variant>
    </vt:vector>
  </HeadingPairs>
  <TitlesOfParts>
    <vt:vector size="40" baseType="lpstr">
      <vt:lpstr>AdvTimes</vt:lpstr>
      <vt:lpstr>Arial</vt:lpstr>
      <vt:lpstr>AdvMc_Times</vt:lpstr>
      <vt:lpstr>Calibri</vt:lpstr>
      <vt:lpstr>EB Garamond</vt:lpstr>
      <vt:lpstr>Tema de Office</vt:lpstr>
      <vt:lpstr>Simple Light</vt:lpstr>
      <vt:lpstr> Fundamentos de la secuenciación masiva en paralelo</vt:lpstr>
      <vt:lpstr>¿Qué es la secuenciación?</vt:lpstr>
      <vt:lpstr>El modelo de la doble hélice</vt:lpstr>
      <vt:lpstr>Premio Nobel de Medicina 1962</vt:lpstr>
      <vt:lpstr>Estructura molecular del DNA</vt:lpstr>
      <vt:lpstr>Presentación de PowerPoint</vt:lpstr>
      <vt:lpstr>Secuenciación con terminadores de cadena</vt:lpstr>
      <vt:lpstr>Presentación de PowerPoint</vt:lpstr>
      <vt:lpstr>Presentación de PowerPoint</vt:lpstr>
      <vt:lpstr>Secuenciación Sanger</vt:lpstr>
      <vt:lpstr>Secuenciación capilar automatizada</vt:lpstr>
      <vt:lpstr>Presentación de PowerPoint</vt:lpstr>
      <vt:lpstr>Secuenciación de primera generación</vt:lpstr>
      <vt:lpstr>Proyecto Genoma Humano</vt:lpstr>
      <vt:lpstr>Costos de secuenciación del genoma humano</vt:lpstr>
      <vt:lpstr>SECUENCIACIÓN MASIVA EN PARALELO</vt:lpstr>
      <vt:lpstr>Flujo de trabajo</vt:lpstr>
      <vt:lpstr>Flujo de trabajo</vt:lpstr>
      <vt:lpstr>Preparación de bibliotecas genómicas </vt:lpstr>
      <vt:lpstr>Estructura de una biblioteca genómica</vt:lpstr>
      <vt:lpstr>Flujo de trabajo</vt:lpstr>
      <vt:lpstr>Secuenciación por síntesis</vt:lpstr>
      <vt:lpstr>Secuenciación con terminadores reversibles</vt:lpstr>
      <vt:lpstr>Presentación de PowerPoint</vt:lpstr>
      <vt:lpstr>Presentación de PowerPoint</vt:lpstr>
      <vt:lpstr>Presentación de PowerPoint</vt:lpstr>
      <vt:lpstr>Representación del llamado de bases a partir de datos crudos</vt:lpstr>
      <vt:lpstr>La laminilla de secuenciación</vt:lpstr>
      <vt:lpstr>Presentación de PowerPoint</vt:lpstr>
      <vt:lpstr>Secuenciación Sanger VS Secuenciación masiva en paralelo</vt:lpstr>
      <vt:lpstr>Usos de las diferentes plataformas de secuenciación</vt:lpstr>
      <vt:lpstr>Secuenciación MiSeq - Illumina</vt:lpstr>
      <vt:lpstr>¡Gracias por su atención!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Felipe Vaca Paniagua</cp:lastModifiedBy>
  <cp:revision>27</cp:revision>
  <dcterms:modified xsi:type="dcterms:W3CDTF">2025-04-29T22:36:16Z</dcterms:modified>
</cp:coreProperties>
</file>