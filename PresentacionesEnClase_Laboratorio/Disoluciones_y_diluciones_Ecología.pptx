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embeddedFontLst>
    <p:embeddedFont>
      <p:font typeface="Roboto"/>
      <p:regular r:id="rId18"/>
      <p:bold r:id="rId19"/>
      <p:italic r:id="rId20"/>
      <p:boldItalic r:id="rId21"/>
    </p:embeddedFont>
    <p:embeddedFont>
      <p:font typeface="Cambria Math"/>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9C726E-878E-4CDF-93D4-5E95978CE7E1}">
  <a:tblStyle styleId="{649C726E-878E-4CDF-93D4-5E95978CE7E1}"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5.xml"/><Relationship Id="rId22" Type="http://schemas.openxmlformats.org/officeDocument/2006/relationships/font" Target="fonts/CambriaMath-regular.fntdata"/><Relationship Id="rId10" Type="http://schemas.openxmlformats.org/officeDocument/2006/relationships/slide" Target="slides/slide4.xml"/><Relationship Id="rId21" Type="http://schemas.openxmlformats.org/officeDocument/2006/relationships/font" Target="fonts/Robo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Roboto-bold.fntdata"/><Relationship Id="rId6" Type="http://schemas.openxmlformats.org/officeDocument/2006/relationships/notesMaster" Target="notesMasters/notesMaster1.xml"/><Relationship Id="rId18"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hay otros tipos de mezclas que no deben ser confundidas con las disoluciones, suspensiones y los coloides </a:t>
            </a:r>
            <a:r>
              <a:rPr lang="en-US"/>
              <a:t>Se distingue de una suspensión en que ésta es una mezcla en la que el soluto no está totalmente disgregado en el disolvente, sino dispersado en pequeñas partículas</a:t>
            </a:r>
            <a:endParaRPr/>
          </a:p>
        </p:txBody>
      </p:sp>
      <p:sp>
        <p:nvSpPr>
          <p:cNvPr id="152" name="Google Shape;1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Normalmente en una disolución el disolvente se encuentra en mayor proporción que el soluto, aunque no siempre es así. La proporción en que tengamos el soluto en el seno del disolvente depende del tipo de interacción que se produzca entre ellos. Esta interacción está relacionada con la solubilidad del soluto en el disolvente. </a:t>
            </a:r>
            <a:endParaRPr/>
          </a:p>
        </p:txBody>
      </p:sp>
      <p:sp>
        <p:nvSpPr>
          <p:cNvPr id="162" name="Google Shape;1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La concentración en mol/L expresa la cantidad de moles de soluto que hay por cada litro de disolución</a:t>
            </a:r>
            <a:endParaRPr b="1"/>
          </a:p>
          <a:p>
            <a:pPr indent="0" lvl="0" marL="0" rtl="0" algn="l">
              <a:spcBef>
                <a:spcPts val="0"/>
              </a:spcBef>
              <a:spcAft>
                <a:spcPts val="0"/>
              </a:spcAft>
              <a:buNone/>
            </a:pPr>
            <a:r>
              <a:rPr lang="en-US"/>
              <a:t>molalidad</a:t>
            </a:r>
            <a:r>
              <a:rPr lang="en-US"/>
              <a:t>: expresa la cantidad en moles de soluto que se encuentran por cada kilogramo de disolvente.</a:t>
            </a:r>
            <a:endParaRPr/>
          </a:p>
          <a:p>
            <a:pPr indent="0" lvl="0" marL="0" rtl="0" algn="l">
              <a:spcBef>
                <a:spcPts val="0"/>
              </a:spcBef>
              <a:spcAft>
                <a:spcPts val="0"/>
              </a:spcAft>
              <a:buNone/>
            </a:pPr>
            <a:r>
              <a:rPr lang="en-US"/>
              <a:t>Porcentaje masa/masa (% m/m), también llamado porcentaje en peso: expresa la cantidad de gramos de soluto que existen por cada 100 gramos de disolución. </a:t>
            </a:r>
            <a:endParaRPr/>
          </a:p>
          <a:p>
            <a:pPr indent="0" lvl="0" marL="0" rtl="0" algn="l">
              <a:spcBef>
                <a:spcPts val="0"/>
              </a:spcBef>
              <a:spcAft>
                <a:spcPts val="0"/>
              </a:spcAft>
              <a:buNone/>
            </a:pPr>
            <a:r>
              <a:rPr lang="en-US"/>
              <a:t>% masa/volumen (% m/V): expresa la cantidad en gramos de soluto que hay por cada 100 cm3 de disolución.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 Porcentaje volumen/volumen: expresa la cantidad de cm3 de soluto que hay por cada 100 cm3 de disolución.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4" name="Google Shape;1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Para que una sustancia se disuelva en otra debe existir semejanza en las polaridades de sus moléculas</a:t>
            </a:r>
            <a:endParaRPr/>
          </a:p>
        </p:txBody>
      </p:sp>
      <p:sp>
        <p:nvSpPr>
          <p:cNvPr id="211" name="Google Shape;2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d189271ce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2d189271ce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d189271ce4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rgbClr val="1F1F1F"/>
                </a:solidFill>
                <a:highlight>
                  <a:srgbClr val="FFFFFF"/>
                </a:highlight>
                <a:latin typeface="Arial"/>
                <a:ea typeface="Arial"/>
                <a:cs typeface="Arial"/>
                <a:sym typeface="Arial"/>
              </a:rPr>
              <a:t>el </a:t>
            </a:r>
            <a:r>
              <a:rPr lang="en-US" sz="1500">
                <a:solidFill>
                  <a:srgbClr val="040C28"/>
                </a:solidFill>
                <a:highlight>
                  <a:srgbClr val="D3E3FD"/>
                </a:highlight>
                <a:latin typeface="Arial"/>
                <a:ea typeface="Arial"/>
                <a:cs typeface="Arial"/>
                <a:sym typeface="Arial"/>
              </a:rPr>
              <a:t>número de veces que debe diluirse una solución para obtener una de menor concentración</a:t>
            </a:r>
            <a:r>
              <a:rPr lang="en-US" sz="1500">
                <a:solidFill>
                  <a:srgbClr val="1F1F1F"/>
                </a:solidFill>
                <a:highlight>
                  <a:srgbClr val="FFFFFF"/>
                </a:highlight>
                <a:latin typeface="Arial"/>
                <a:ea typeface="Arial"/>
                <a:cs typeface="Arial"/>
                <a:sym typeface="Arial"/>
              </a:rPr>
              <a:t>. Este factor permite determinar qué tan diluido se encuentra el último volumen con respecto al primero.</a:t>
            </a:r>
            <a:endParaRPr/>
          </a:p>
        </p:txBody>
      </p:sp>
      <p:sp>
        <p:nvSpPr>
          <p:cNvPr id="227" name="Google Shape;227;g2d189271ce4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d1edbed43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2d1edbed43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d1edbed43d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050">
                <a:solidFill>
                  <a:srgbClr val="5F6368"/>
                </a:solidFill>
                <a:highlight>
                  <a:srgbClr val="FFFFFF"/>
                </a:highlight>
                <a:latin typeface="Arial"/>
                <a:ea typeface="Arial"/>
                <a:cs typeface="Arial"/>
                <a:sym typeface="Arial"/>
              </a:rPr>
              <a:t>el peso medio de un par</a:t>
            </a:r>
            <a:r>
              <a:rPr lang="en-US" sz="1050">
                <a:solidFill>
                  <a:srgbClr val="4D5156"/>
                </a:solidFill>
                <a:highlight>
                  <a:srgbClr val="FFFFFF"/>
                </a:highlight>
                <a:latin typeface="Arial"/>
                <a:ea typeface="Arial"/>
                <a:cs typeface="Arial"/>
                <a:sym typeface="Arial"/>
              </a:rPr>
              <a:t> de </a:t>
            </a:r>
            <a:r>
              <a:rPr b="1" lang="en-US" sz="1050">
                <a:solidFill>
                  <a:srgbClr val="5F6368"/>
                </a:solidFill>
                <a:highlight>
                  <a:srgbClr val="FFFFFF"/>
                </a:highlight>
                <a:latin typeface="Arial"/>
                <a:ea typeface="Arial"/>
                <a:cs typeface="Arial"/>
                <a:sym typeface="Arial"/>
              </a:rPr>
              <a:t>nucleótidos</a:t>
            </a:r>
            <a:r>
              <a:rPr lang="en-US" sz="1050">
                <a:solidFill>
                  <a:srgbClr val="4D5156"/>
                </a:solidFill>
                <a:highlight>
                  <a:srgbClr val="FFFFFF"/>
                </a:highlight>
                <a:latin typeface="Arial"/>
                <a:ea typeface="Arial"/>
                <a:cs typeface="Arial"/>
                <a:sym typeface="Arial"/>
              </a:rPr>
              <a:t> es </a:t>
            </a:r>
            <a:r>
              <a:rPr b="1" lang="en-US" sz="1050">
                <a:solidFill>
                  <a:srgbClr val="5F6368"/>
                </a:solidFill>
                <a:highlight>
                  <a:srgbClr val="FFFFFF"/>
                </a:highlight>
                <a:latin typeface="Arial"/>
                <a:ea typeface="Arial"/>
                <a:cs typeface="Arial"/>
                <a:sym typeface="Arial"/>
              </a:rPr>
              <a:t>660</a:t>
            </a:r>
            <a:r>
              <a:rPr lang="en-US" sz="1050">
                <a:solidFill>
                  <a:srgbClr val="4D5156"/>
                </a:solidFill>
                <a:highlight>
                  <a:srgbClr val="FFFFFF"/>
                </a:highlight>
                <a:latin typeface="Arial"/>
                <a:ea typeface="Arial"/>
                <a:cs typeface="Arial"/>
                <a:sym typeface="Arial"/>
              </a:rPr>
              <a:t> g/mol</a:t>
            </a:r>
            <a:endParaRPr sz="1050">
              <a:solidFill>
                <a:srgbClr val="4D5156"/>
              </a:solidFill>
              <a:highlight>
                <a:srgbClr val="FFFFFF"/>
              </a:highlight>
              <a:latin typeface="Arial"/>
              <a:ea typeface="Arial"/>
              <a:cs typeface="Arial"/>
              <a:sym typeface="Arial"/>
            </a:endParaRPr>
          </a:p>
          <a:p>
            <a:pPr indent="0" lvl="0" marL="0" rtl="0" algn="l">
              <a:spcBef>
                <a:spcPts val="0"/>
              </a:spcBef>
              <a:spcAft>
                <a:spcPts val="0"/>
              </a:spcAft>
              <a:buNone/>
            </a:pPr>
            <a:r>
              <a:rPr lang="en-US" sz="1050">
                <a:solidFill>
                  <a:srgbClr val="4D5156"/>
                </a:solidFill>
                <a:highlight>
                  <a:srgbClr val="FFFFFF"/>
                </a:highlight>
                <a:latin typeface="Arial"/>
                <a:ea typeface="Arial"/>
                <a:cs typeface="Arial"/>
                <a:sym typeface="Arial"/>
              </a:rPr>
              <a:t>el x10-6 es para pasar de nmoles que estan en 1 </a:t>
            </a:r>
            <a:r>
              <a:rPr lang="en-US" sz="1050">
                <a:solidFill>
                  <a:srgbClr val="4D5156"/>
                </a:solidFill>
                <a:highlight>
                  <a:srgbClr val="FFFFFF"/>
                </a:highlight>
                <a:latin typeface="Arial"/>
                <a:ea typeface="Arial"/>
                <a:cs typeface="Arial"/>
                <a:sym typeface="Arial"/>
              </a:rPr>
              <a:t>uL a nano molar que es mol/</a:t>
            </a:r>
            <a:r>
              <a:rPr lang="en-US" sz="1050">
                <a:solidFill>
                  <a:srgbClr val="4D5156"/>
                </a:solidFill>
                <a:highlight>
                  <a:srgbClr val="FFFFFF"/>
                </a:highlight>
                <a:latin typeface="Arial"/>
                <a:ea typeface="Arial"/>
                <a:cs typeface="Arial"/>
                <a:sym typeface="Arial"/>
              </a:rPr>
              <a:t>litro (1 litro es 1x10 6 ul  1 ul es 1*10-6 L)</a:t>
            </a:r>
            <a:endParaRPr sz="1050">
              <a:solidFill>
                <a:srgbClr val="4D5156"/>
              </a:solidFill>
              <a:highlight>
                <a:srgbClr val="FFFFFF"/>
              </a:highlight>
              <a:latin typeface="Arial"/>
              <a:ea typeface="Arial"/>
              <a:cs typeface="Arial"/>
              <a:sym typeface="Arial"/>
            </a:endParaRPr>
          </a:p>
        </p:txBody>
      </p:sp>
      <p:sp>
        <p:nvSpPr>
          <p:cNvPr id="239" name="Google Shape;239;g2d1edbed43d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sp>
        <p:nvSpPr>
          <p:cNvPr id="93" name="Google Shape;93;p14"/>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94" name="Google Shape;94;p14"/>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95" name="Google Shape;95;p1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15"/>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98" name="Google Shape;98;p1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 name="Shape 99"/>
        <p:cNvGrpSpPr/>
        <p:nvPr/>
      </p:nvGrpSpPr>
      <p:grpSpPr>
        <a:xfrm>
          <a:off x="0" y="0"/>
          <a:ext cx="0" cy="0"/>
          <a:chOff x="0" y="0"/>
          <a:chExt cx="0" cy="0"/>
        </a:xfrm>
      </p:grpSpPr>
      <p:sp>
        <p:nvSpPr>
          <p:cNvPr id="100" name="Google Shape;100;p1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16"/>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2" name="Google Shape;102;p1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3" name="Shape 103"/>
        <p:cNvGrpSpPr/>
        <p:nvPr/>
      </p:nvGrpSpPr>
      <p:grpSpPr>
        <a:xfrm>
          <a:off x="0" y="0"/>
          <a:ext cx="0" cy="0"/>
          <a:chOff x="0" y="0"/>
          <a:chExt cx="0" cy="0"/>
        </a:xfrm>
      </p:grpSpPr>
      <p:sp>
        <p:nvSpPr>
          <p:cNvPr id="104" name="Google Shape;104;p1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5" name="Google Shape;105;p17"/>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106" name="Google Shape;106;p17"/>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107" name="Google Shape;107;p1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p18"/>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 name="Google Shape;110;p1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1" name="Shape 111"/>
        <p:cNvGrpSpPr/>
        <p:nvPr/>
      </p:nvGrpSpPr>
      <p:grpSpPr>
        <a:xfrm>
          <a:off x="0" y="0"/>
          <a:ext cx="0" cy="0"/>
          <a:chOff x="0" y="0"/>
          <a:chExt cx="0" cy="0"/>
        </a:xfrm>
      </p:grpSpPr>
      <p:sp>
        <p:nvSpPr>
          <p:cNvPr id="112" name="Google Shape;112;p19"/>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113" name="Google Shape;113;p19"/>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114" name="Google Shape;114;p1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15" name="Shape 115"/>
        <p:cNvGrpSpPr/>
        <p:nvPr/>
      </p:nvGrpSpPr>
      <p:grpSpPr>
        <a:xfrm>
          <a:off x="0" y="0"/>
          <a:ext cx="0" cy="0"/>
          <a:chOff x="0" y="0"/>
          <a:chExt cx="0" cy="0"/>
        </a:xfrm>
      </p:grpSpPr>
      <p:sp>
        <p:nvSpPr>
          <p:cNvPr id="116" name="Google Shape;116;p20"/>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117" name="Google Shape;117;p2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18" name="Shape 118"/>
        <p:cNvGrpSpPr/>
        <p:nvPr/>
      </p:nvGrpSpPr>
      <p:grpSpPr>
        <a:xfrm>
          <a:off x="0" y="0"/>
          <a:ext cx="0" cy="0"/>
          <a:chOff x="0" y="0"/>
          <a:chExt cx="0" cy="0"/>
        </a:xfrm>
      </p:grpSpPr>
      <p:sp>
        <p:nvSpPr>
          <p:cNvPr id="119" name="Google Shape;119;p2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20" name="Google Shape;120;p21"/>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121" name="Google Shape;121;p21"/>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122" name="Google Shape;122;p21"/>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3" name="Google Shape;123;p2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24" name="Shape 124"/>
        <p:cNvGrpSpPr/>
        <p:nvPr/>
      </p:nvGrpSpPr>
      <p:grpSpPr>
        <a:xfrm>
          <a:off x="0" y="0"/>
          <a:ext cx="0" cy="0"/>
          <a:chOff x="0" y="0"/>
          <a:chExt cx="0" cy="0"/>
        </a:xfrm>
      </p:grpSpPr>
      <p:sp>
        <p:nvSpPr>
          <p:cNvPr id="125" name="Google Shape;125;p22"/>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6" name="Google Shape;126;p2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27" name="Shape 127"/>
        <p:cNvGrpSpPr/>
        <p:nvPr/>
      </p:nvGrpSpPr>
      <p:grpSpPr>
        <a:xfrm>
          <a:off x="0" y="0"/>
          <a:ext cx="0" cy="0"/>
          <a:chOff x="0" y="0"/>
          <a:chExt cx="0" cy="0"/>
        </a:xfrm>
      </p:grpSpPr>
      <p:sp>
        <p:nvSpPr>
          <p:cNvPr id="128" name="Google Shape;128;p23"/>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129" name="Google Shape;129;p23"/>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30" name="Google Shape;130;p2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2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33" name="Shape 133"/>
        <p:cNvGrpSpPr/>
        <p:nvPr/>
      </p:nvGrpSpPr>
      <p:grpSpPr>
        <a:xfrm>
          <a:off x="0" y="0"/>
          <a:ext cx="0" cy="0"/>
          <a:chOff x="0" y="0"/>
          <a:chExt cx="0" cy="0"/>
        </a:xfrm>
      </p:grpSpPr>
      <p:sp>
        <p:nvSpPr>
          <p:cNvPr id="134" name="Google Shape;134;p2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5" name="Google Shape;135;p25"/>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6" name="Google Shape;136;p2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7" name="Google Shape;137;p2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8" name="Google Shape;138;p2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00"/>
              <a:buFont typeface="Arial"/>
              <a:buNone/>
              <a:defRPr/>
            </a:lvl1pPr>
            <a:lvl2pPr indent="0" lvl="1" marL="0" algn="r">
              <a:buClr>
                <a:schemeClr val="dk2"/>
              </a:buClr>
              <a:buSzPts val="1300"/>
              <a:buFont typeface="Arial"/>
              <a:buNone/>
              <a:defRPr/>
            </a:lvl2pPr>
            <a:lvl3pPr indent="0" lvl="2" marL="0" algn="r">
              <a:buClr>
                <a:schemeClr val="dk2"/>
              </a:buClr>
              <a:buSzPts val="1300"/>
              <a:buFont typeface="Arial"/>
              <a:buNone/>
              <a:defRPr/>
            </a:lvl3pPr>
            <a:lvl4pPr indent="0" lvl="3" marL="0" algn="r">
              <a:buClr>
                <a:schemeClr val="dk2"/>
              </a:buClr>
              <a:buSzPts val="1300"/>
              <a:buFont typeface="Arial"/>
              <a:buNone/>
              <a:defRPr/>
            </a:lvl4pPr>
            <a:lvl5pPr indent="0" lvl="4" marL="0" algn="r">
              <a:buClr>
                <a:schemeClr val="dk2"/>
              </a:buClr>
              <a:buSzPts val="1300"/>
              <a:buFont typeface="Arial"/>
              <a:buNone/>
              <a:defRPr/>
            </a:lvl5pPr>
            <a:lvl6pPr indent="0" lvl="5" marL="0" algn="r">
              <a:buClr>
                <a:schemeClr val="dk2"/>
              </a:buClr>
              <a:buSzPts val="1300"/>
              <a:buFont typeface="Arial"/>
              <a:buNone/>
              <a:defRPr/>
            </a:lvl6pPr>
            <a:lvl7pPr indent="0" lvl="6" marL="0" algn="r">
              <a:buClr>
                <a:schemeClr val="dk2"/>
              </a:buClr>
              <a:buSzPts val="1300"/>
              <a:buFont typeface="Arial"/>
              <a:buNone/>
              <a:defRPr/>
            </a:lvl7pPr>
            <a:lvl8pPr indent="0" lvl="7" marL="0" algn="r">
              <a:buClr>
                <a:schemeClr val="dk2"/>
              </a:buClr>
              <a:buSzPts val="1300"/>
              <a:buFont typeface="Arial"/>
              <a:buNone/>
              <a:defRPr/>
            </a:lvl8pPr>
            <a:lvl9pPr indent="0" lvl="8" marL="0" algn="r">
              <a:buClr>
                <a:schemeClr val="dk2"/>
              </a:buClr>
              <a:buSzPts val="1300"/>
              <a:buFont typeface="Aria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slideLayout" Target="../slideLayouts/slideLayout12.xml"/><Relationship Id="rId9" Type="http://schemas.openxmlformats.org/officeDocument/2006/relationships/slideLayout" Target="../slideLayouts/slideLayout17.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6" Type="http://schemas.openxmlformats.org/officeDocument/2006/relationships/theme" Target="../theme/theme3.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6" name="Google Shape;86;p13"/>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87" name="Google Shape;87;p1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88" name="Google Shape;88;p13"/>
          <p:cNvGrpSpPr/>
          <p:nvPr/>
        </p:nvGrpSpPr>
        <p:grpSpPr>
          <a:xfrm>
            <a:off x="209121" y="5597131"/>
            <a:ext cx="11819607" cy="1270396"/>
            <a:chOff x="209121" y="5597130"/>
            <a:chExt cx="11819607" cy="1270396"/>
          </a:xfrm>
        </p:grpSpPr>
        <p:pic>
          <p:nvPicPr>
            <p:cNvPr id="89" name="Google Shape;89;p13"/>
            <p:cNvPicPr preferRelativeResize="0"/>
            <p:nvPr/>
          </p:nvPicPr>
          <p:blipFill rotWithShape="1">
            <a:blip r:embed="rId1">
              <a:alphaModFix/>
            </a:blip>
            <a:srcRect b="0" l="0" r="0" t="0"/>
            <a:stretch/>
          </p:blipFill>
          <p:spPr>
            <a:xfrm>
              <a:off x="10609392" y="5597130"/>
              <a:ext cx="1419336" cy="1270396"/>
            </a:xfrm>
            <a:prstGeom prst="rect">
              <a:avLst/>
            </a:prstGeom>
            <a:noFill/>
            <a:ln>
              <a:noFill/>
            </a:ln>
          </p:spPr>
        </p:pic>
        <p:pic>
          <p:nvPicPr>
            <p:cNvPr id="90" name="Google Shape;90;p13"/>
            <p:cNvPicPr preferRelativeResize="0"/>
            <p:nvPr/>
          </p:nvPicPr>
          <p:blipFill rotWithShape="1">
            <a:blip r:embed="rId2">
              <a:alphaModFix/>
            </a:blip>
            <a:srcRect b="19175" l="8000" r="7160" t="18013"/>
            <a:stretch/>
          </p:blipFill>
          <p:spPr>
            <a:xfrm>
              <a:off x="209121" y="5820720"/>
              <a:ext cx="3194157" cy="872301"/>
            </a:xfrm>
            <a:prstGeom prst="rect">
              <a:avLst/>
            </a:prstGeom>
            <a:noFill/>
            <a:ln>
              <a:noFill/>
            </a:ln>
          </p:spPr>
        </p:pic>
        <p:pic>
          <p:nvPicPr>
            <p:cNvPr id="91" name="Google Shape;91;p13"/>
            <p:cNvPicPr preferRelativeResize="0"/>
            <p:nvPr/>
          </p:nvPicPr>
          <p:blipFill rotWithShape="1">
            <a:blip r:embed="rId3">
              <a:alphaModFix/>
            </a:blip>
            <a:srcRect b="0" l="8825" r="60425" t="41592"/>
            <a:stretch/>
          </p:blipFill>
          <p:spPr>
            <a:xfrm>
              <a:off x="5851890" y="5668273"/>
              <a:ext cx="1291424" cy="1092110"/>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6"/>
          <p:cNvPicPr preferRelativeResize="0"/>
          <p:nvPr/>
        </p:nvPicPr>
        <p:blipFill rotWithShape="1">
          <a:blip r:embed="rId3">
            <a:alphaModFix amt="16000"/>
          </a:blip>
          <a:srcRect b="15144" l="32990" r="22075" t="7113"/>
          <a:stretch/>
        </p:blipFill>
        <p:spPr>
          <a:xfrm rot="-5400000">
            <a:off x="2614613" y="-2719386"/>
            <a:ext cx="6905625" cy="12287249"/>
          </a:xfrm>
          <a:prstGeom prst="rect">
            <a:avLst/>
          </a:prstGeom>
          <a:noFill/>
          <a:ln>
            <a:noFill/>
          </a:ln>
        </p:spPr>
      </p:pic>
      <p:grpSp>
        <p:nvGrpSpPr>
          <p:cNvPr id="144" name="Google Shape;144;p26"/>
          <p:cNvGrpSpPr/>
          <p:nvPr/>
        </p:nvGrpSpPr>
        <p:grpSpPr>
          <a:xfrm>
            <a:off x="133351" y="-152399"/>
            <a:ext cx="11728226" cy="2381249"/>
            <a:chOff x="100013" y="-114300"/>
            <a:chExt cx="8796169" cy="1785937"/>
          </a:xfrm>
        </p:grpSpPr>
        <p:pic>
          <p:nvPicPr>
            <p:cNvPr id="145" name="Google Shape;145;p26"/>
            <p:cNvPicPr preferRelativeResize="0"/>
            <p:nvPr/>
          </p:nvPicPr>
          <p:blipFill rotWithShape="1">
            <a:blip r:embed="rId4">
              <a:alphaModFix/>
            </a:blip>
            <a:srcRect b="0" l="0" r="0" t="0"/>
            <a:stretch/>
          </p:blipFill>
          <p:spPr>
            <a:xfrm>
              <a:off x="6900862" y="-114300"/>
              <a:ext cx="1995320" cy="1785937"/>
            </a:xfrm>
            <a:prstGeom prst="rect">
              <a:avLst/>
            </a:prstGeom>
            <a:noFill/>
            <a:ln>
              <a:noFill/>
            </a:ln>
          </p:spPr>
        </p:pic>
        <p:pic>
          <p:nvPicPr>
            <p:cNvPr id="146" name="Google Shape;146;p26"/>
            <p:cNvPicPr preferRelativeResize="0"/>
            <p:nvPr/>
          </p:nvPicPr>
          <p:blipFill rotWithShape="1">
            <a:blip r:embed="rId5">
              <a:alphaModFix/>
            </a:blip>
            <a:srcRect b="19175" l="8000" r="7160" t="18013"/>
            <a:stretch/>
          </p:blipFill>
          <p:spPr>
            <a:xfrm>
              <a:off x="100013" y="200025"/>
              <a:ext cx="4490382" cy="1226291"/>
            </a:xfrm>
            <a:prstGeom prst="rect">
              <a:avLst/>
            </a:prstGeom>
            <a:noFill/>
            <a:ln>
              <a:noFill/>
            </a:ln>
          </p:spPr>
        </p:pic>
        <p:pic>
          <p:nvPicPr>
            <p:cNvPr id="147" name="Google Shape;147;p26"/>
            <p:cNvPicPr preferRelativeResize="0"/>
            <p:nvPr/>
          </p:nvPicPr>
          <p:blipFill rotWithShape="1">
            <a:blip r:embed="rId6">
              <a:alphaModFix/>
            </a:blip>
            <a:srcRect b="0" l="8825" r="60425" t="41592"/>
            <a:stretch/>
          </p:blipFill>
          <p:spPr>
            <a:xfrm>
              <a:off x="4818994" y="-14287"/>
              <a:ext cx="1815497" cy="1535300"/>
            </a:xfrm>
            <a:prstGeom prst="rect">
              <a:avLst/>
            </a:prstGeom>
            <a:noFill/>
            <a:ln>
              <a:noFill/>
            </a:ln>
          </p:spPr>
        </p:pic>
      </p:grpSp>
      <p:sp>
        <p:nvSpPr>
          <p:cNvPr id="148" name="Google Shape;148;p26"/>
          <p:cNvSpPr txBox="1"/>
          <p:nvPr>
            <p:ph idx="1" type="subTitle"/>
          </p:nvPr>
        </p:nvSpPr>
        <p:spPr>
          <a:xfrm>
            <a:off x="8108027" y="5428400"/>
            <a:ext cx="4007700" cy="1429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67"/>
              </a:spcBef>
              <a:spcAft>
                <a:spcPts val="0"/>
              </a:spcAft>
              <a:buClr>
                <a:schemeClr val="lt1"/>
              </a:buClr>
              <a:buSzPts val="1800"/>
              <a:buNone/>
            </a:pPr>
            <a:r>
              <a:rPr b="1" lang="en-US" sz="1800">
                <a:solidFill>
                  <a:srgbClr val="1C4587"/>
                </a:solidFill>
                <a:latin typeface="Arial"/>
                <a:ea typeface="Arial"/>
                <a:cs typeface="Arial"/>
                <a:sym typeface="Arial"/>
              </a:rPr>
              <a:t>María Fernanda Correa Pérez </a:t>
            </a:r>
            <a:endParaRPr b="1" sz="1800">
              <a:solidFill>
                <a:srgbClr val="1C4587"/>
              </a:solidFill>
              <a:latin typeface="Arial"/>
              <a:ea typeface="Arial"/>
              <a:cs typeface="Arial"/>
              <a:sym typeface="Arial"/>
            </a:endParaRPr>
          </a:p>
          <a:p>
            <a:pPr indent="0" lvl="0" marL="0" rtl="0" algn="l">
              <a:lnSpc>
                <a:spcPct val="90000"/>
              </a:lnSpc>
              <a:spcBef>
                <a:spcPts val="1067"/>
              </a:spcBef>
              <a:spcAft>
                <a:spcPts val="0"/>
              </a:spcAft>
              <a:buClr>
                <a:schemeClr val="lt1"/>
              </a:buClr>
              <a:buSzPts val="1800"/>
              <a:buNone/>
            </a:pPr>
            <a:r>
              <a:rPr b="1" lang="en-US" sz="1800">
                <a:solidFill>
                  <a:srgbClr val="1C4587"/>
                </a:solidFill>
                <a:latin typeface="Arial"/>
                <a:ea typeface="Arial"/>
                <a:cs typeface="Arial"/>
                <a:sym typeface="Arial"/>
              </a:rPr>
              <a:t>Norma Gabriela Resendiz Flores</a:t>
            </a:r>
            <a:endParaRPr b="1" sz="1800">
              <a:solidFill>
                <a:srgbClr val="1C4587"/>
              </a:solidFill>
              <a:latin typeface="Arial"/>
              <a:ea typeface="Arial"/>
              <a:cs typeface="Arial"/>
              <a:sym typeface="Arial"/>
            </a:endParaRPr>
          </a:p>
          <a:p>
            <a:pPr indent="0" lvl="0" marL="0" rtl="0" algn="l">
              <a:lnSpc>
                <a:spcPct val="90000"/>
              </a:lnSpc>
              <a:spcBef>
                <a:spcPts val="1067"/>
              </a:spcBef>
              <a:spcAft>
                <a:spcPts val="0"/>
              </a:spcAft>
              <a:buClr>
                <a:schemeClr val="lt1"/>
              </a:buClr>
              <a:buSzPts val="1800"/>
              <a:buNone/>
            </a:pPr>
            <a:r>
              <a:rPr b="1" lang="en-US" sz="1800">
                <a:solidFill>
                  <a:srgbClr val="1C4587"/>
                </a:solidFill>
                <a:latin typeface="Arial"/>
                <a:ea typeface="Arial"/>
                <a:cs typeface="Arial"/>
                <a:sym typeface="Arial"/>
              </a:rPr>
              <a:t>Mayo del 2026</a:t>
            </a:r>
            <a:endParaRPr sz="1800">
              <a:solidFill>
                <a:srgbClr val="1C4587"/>
              </a:solidFill>
            </a:endParaRPr>
          </a:p>
        </p:txBody>
      </p:sp>
      <p:sp>
        <p:nvSpPr>
          <p:cNvPr id="149" name="Google Shape;149;p26"/>
          <p:cNvSpPr txBox="1"/>
          <p:nvPr/>
        </p:nvSpPr>
        <p:spPr>
          <a:xfrm>
            <a:off x="366711" y="2527321"/>
            <a:ext cx="10515600" cy="1325563"/>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chemeClr val="dk1"/>
              </a:buClr>
              <a:buSzPts val="5200"/>
              <a:buFont typeface="Arial"/>
              <a:buNone/>
            </a:pPr>
            <a:r>
              <a:rPr b="1" i="0" lang="en-US" sz="4400" u="none" cap="none" strike="noStrike">
                <a:solidFill>
                  <a:srgbClr val="000000"/>
                </a:solidFill>
                <a:latin typeface="Roboto"/>
                <a:ea typeface="Roboto"/>
                <a:cs typeface="Roboto"/>
                <a:sym typeface="Roboto"/>
              </a:rPr>
              <a:t>Disoluciones y diluciones </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nvSpPr>
        <p:spPr>
          <a:xfrm>
            <a:off x="229953" y="168356"/>
            <a:ext cx="6390640" cy="367280"/>
          </a:xfrm>
          <a:prstGeom prst="rect">
            <a:avLst/>
          </a:prstGeom>
          <a:noFill/>
          <a:ln>
            <a:noFill/>
          </a:ln>
        </p:spPr>
        <p:txBody>
          <a:bodyPr anchorCtr="0" anchor="t" bIns="0" lIns="0" spcFirstLastPara="1" rIns="0" wrap="square" tIns="12700">
            <a:spAutoFit/>
          </a:bodyPr>
          <a:lstStyle/>
          <a:p>
            <a:pPr indent="0" lvl="0" marL="12700" marR="0" rtl="0" algn="l">
              <a:lnSpc>
                <a:spcPct val="96071"/>
              </a:lnSpc>
              <a:spcBef>
                <a:spcPts val="0"/>
              </a:spcBef>
              <a:spcAft>
                <a:spcPts val="0"/>
              </a:spcAft>
              <a:buNone/>
            </a:pPr>
            <a:r>
              <a:rPr b="1" i="0" lang="en-US" sz="2800" u="none" cap="none" strike="noStrike">
                <a:solidFill>
                  <a:srgbClr val="1F4E79"/>
                </a:solidFill>
                <a:latin typeface="Calibri"/>
                <a:ea typeface="Calibri"/>
                <a:cs typeface="Calibri"/>
                <a:sym typeface="Calibri"/>
              </a:rPr>
              <a:t>Disoluciones</a:t>
            </a:r>
            <a:endParaRPr b="0" i="0" sz="2800" u="none" cap="none" strike="noStrike">
              <a:solidFill>
                <a:srgbClr val="000000"/>
              </a:solidFill>
              <a:latin typeface="Calibri"/>
              <a:ea typeface="Calibri"/>
              <a:cs typeface="Calibri"/>
              <a:sym typeface="Calibri"/>
            </a:endParaRPr>
          </a:p>
        </p:txBody>
      </p:sp>
      <p:graphicFrame>
        <p:nvGraphicFramePr>
          <p:cNvPr id="155" name="Google Shape;155;p27"/>
          <p:cNvGraphicFramePr/>
          <p:nvPr/>
        </p:nvGraphicFramePr>
        <p:xfrm>
          <a:off x="980368" y="1104761"/>
          <a:ext cx="3000000" cy="3000000"/>
        </p:xfrm>
        <a:graphic>
          <a:graphicData uri="http://schemas.openxmlformats.org/drawingml/2006/table">
            <a:tbl>
              <a:tblPr bandRow="1" firstRow="1">
                <a:noFill/>
                <a:tableStyleId>{649C726E-878E-4CDF-93D4-5E95978CE7E1}</a:tableStyleId>
              </a:tblPr>
              <a:tblGrid>
                <a:gridCol w="10645575"/>
              </a:tblGrid>
              <a:tr h="675600">
                <a:tc>
                  <a:txBody>
                    <a:bodyPr/>
                    <a:lstStyle/>
                    <a:p>
                      <a:pPr indent="0" lvl="0" marL="90805" marR="0" rtl="0" algn="l">
                        <a:lnSpc>
                          <a:spcPct val="100000"/>
                        </a:lnSpc>
                        <a:spcBef>
                          <a:spcPts val="0"/>
                        </a:spcBef>
                        <a:spcAft>
                          <a:spcPts val="0"/>
                        </a:spcAft>
                        <a:buNone/>
                      </a:pPr>
                      <a:r>
                        <a:rPr b="1" lang="en-US" sz="1800" u="none" cap="none" strike="noStrike">
                          <a:latin typeface="Calibri"/>
                          <a:ea typeface="Calibri"/>
                          <a:cs typeface="Calibri"/>
                          <a:sym typeface="Calibri"/>
                        </a:rPr>
                        <a:t>Heterogéneas:</a:t>
                      </a:r>
                      <a:endParaRPr sz="1800" u="none" cap="none" strike="noStrike">
                        <a:latin typeface="Calibri"/>
                        <a:ea typeface="Calibri"/>
                        <a:cs typeface="Calibri"/>
                        <a:sym typeface="Calibri"/>
                      </a:endParaRPr>
                    </a:p>
                    <a:p>
                      <a:pPr indent="0" lvl="0" marL="90170" marR="86360" rtl="0" algn="l">
                        <a:lnSpc>
                          <a:spcPct val="100000"/>
                        </a:lnSpc>
                        <a:spcBef>
                          <a:spcPts val="15"/>
                        </a:spcBef>
                        <a:spcAft>
                          <a:spcPts val="0"/>
                        </a:spcAft>
                        <a:buNone/>
                      </a:pPr>
                      <a:r>
                        <a:rPr lang="en-US" sz="1600" u="none" cap="none" strike="noStrike">
                          <a:latin typeface="Calibri"/>
                          <a:ea typeface="Calibri"/>
                          <a:cs typeface="Calibri"/>
                          <a:sym typeface="Calibri"/>
                        </a:rPr>
                        <a:t>No uniformes (a veces en distintas fases). Sus componentes se pueden separar por métodos físicos (filtrado, centrifugación).</a:t>
                      </a:r>
                      <a:endParaRPr sz="1600" u="none" cap="none" strike="noStrike">
                        <a:latin typeface="Calibri"/>
                        <a:ea typeface="Calibri"/>
                        <a:cs typeface="Calibri"/>
                        <a:sym typeface="Calibri"/>
                      </a:endParaRPr>
                    </a:p>
                  </a:txBody>
                  <a:tcPr marT="266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56" name="Google Shape;156;p27"/>
          <p:cNvSpPr txBox="1"/>
          <p:nvPr/>
        </p:nvSpPr>
        <p:spPr>
          <a:xfrm>
            <a:off x="801527" y="2791961"/>
            <a:ext cx="11003400" cy="2647500"/>
          </a:xfrm>
          <a:prstGeom prst="rect">
            <a:avLst/>
          </a:prstGeom>
          <a:noFill/>
          <a:ln>
            <a:noFill/>
          </a:ln>
        </p:spPr>
        <p:txBody>
          <a:bodyPr anchorCtr="0" anchor="t" bIns="0" lIns="0" spcFirstLastPara="1" rIns="0" wrap="square" tIns="12700">
            <a:spAutoFit/>
          </a:bodyPr>
          <a:lstStyle/>
          <a:p>
            <a:pPr indent="0" lvl="0" marL="8255" marR="0" rtl="0" algn="ctr">
              <a:spcBef>
                <a:spcPts val="0"/>
              </a:spcBef>
              <a:spcAft>
                <a:spcPts val="0"/>
              </a:spcAft>
              <a:buNone/>
            </a:pPr>
            <a:r>
              <a:rPr b="1" i="0" lang="en-US" sz="1800" u="none" cap="none" strike="noStrike">
                <a:solidFill>
                  <a:srgbClr val="000000"/>
                </a:solidFill>
                <a:highlight>
                  <a:srgbClr val="CFE2F3"/>
                </a:highlight>
                <a:latin typeface="Calibri"/>
                <a:ea typeface="Calibri"/>
                <a:cs typeface="Calibri"/>
                <a:sym typeface="Calibri"/>
              </a:rPr>
              <a:t>Una disolución es una mezcla homogénea de dos o más sustancias.</a:t>
            </a:r>
            <a:endParaRPr b="0" i="0" sz="1800" u="none" cap="none" strike="noStrike">
              <a:solidFill>
                <a:srgbClr val="000000"/>
              </a:solidFill>
              <a:highlight>
                <a:srgbClr val="CFE2F3"/>
              </a:highlight>
              <a:latin typeface="Calibri"/>
              <a:ea typeface="Calibri"/>
              <a:cs typeface="Calibri"/>
              <a:sym typeface="Calibri"/>
            </a:endParaRPr>
          </a:p>
          <a:p>
            <a:pPr indent="0" lvl="0" marL="0" marR="0" rtl="0" algn="l">
              <a:spcBef>
                <a:spcPts val="20"/>
              </a:spcBef>
              <a:spcAft>
                <a:spcPts val="0"/>
              </a:spcAft>
              <a:buNone/>
            </a:pPr>
            <a:r>
              <a:t/>
            </a:r>
            <a:endParaRPr b="0" i="0" sz="1400" u="none" cap="none" strike="noStrike">
              <a:solidFill>
                <a:srgbClr val="000000"/>
              </a:solidFill>
              <a:latin typeface="Calibri"/>
              <a:ea typeface="Calibri"/>
              <a:cs typeface="Calibri"/>
              <a:sym typeface="Calibri"/>
            </a:endParaRPr>
          </a:p>
          <a:p>
            <a:pPr indent="-286385" lvl="0" marL="306070" marR="0" rtl="0" algn="l">
              <a:spcBef>
                <a:spcPts val="0"/>
              </a:spcBef>
              <a:spcAft>
                <a:spcPts val="0"/>
              </a:spcAft>
              <a:buClr>
                <a:srgbClr val="000000"/>
              </a:buClr>
              <a:buSzPts val="1600"/>
              <a:buFont typeface="Noto Sans Symbols"/>
              <a:buChar char="▪"/>
            </a:pPr>
            <a:r>
              <a:rPr b="1" i="0" lang="en-US" sz="1600" u="none" cap="none" strike="noStrike">
                <a:solidFill>
                  <a:srgbClr val="000000"/>
                </a:solidFill>
                <a:latin typeface="Calibri"/>
                <a:ea typeface="Calibri"/>
                <a:cs typeface="Calibri"/>
                <a:sym typeface="Calibri"/>
              </a:rPr>
              <a:t>Disolución (verdadera): </a:t>
            </a:r>
            <a:r>
              <a:rPr b="0" i="0" lang="en-US" sz="1600" u="none" cap="none" strike="noStrike">
                <a:solidFill>
                  <a:srgbClr val="000000"/>
                </a:solidFill>
                <a:latin typeface="Calibri"/>
                <a:ea typeface="Calibri"/>
                <a:cs typeface="Calibri"/>
                <a:sym typeface="Calibri"/>
              </a:rPr>
              <a:t>mezcla homogénea en la que no son detectables partículas individuales.</a:t>
            </a:r>
            <a:endParaRPr b="0" i="0" sz="1600" u="none" cap="none" strike="noStrike">
              <a:solidFill>
                <a:srgbClr val="000000"/>
              </a:solidFill>
              <a:latin typeface="Calibri"/>
              <a:ea typeface="Calibri"/>
              <a:cs typeface="Calibri"/>
              <a:sym typeface="Calibri"/>
            </a:endParaRPr>
          </a:p>
          <a:p>
            <a:pPr indent="0" lvl="0" marL="0" marR="0" rtl="0" algn="l">
              <a:spcBef>
                <a:spcPts val="40"/>
              </a:spcBef>
              <a:spcAft>
                <a:spcPts val="0"/>
              </a:spcAft>
              <a:buClr>
                <a:schemeClr val="dk1"/>
              </a:buClr>
              <a:buSzPts val="1500"/>
              <a:buFont typeface="Noto Sans Symbols"/>
              <a:buNone/>
            </a:pPr>
            <a:r>
              <a:t/>
            </a:r>
            <a:endParaRPr b="0" i="0" sz="1500" u="none" cap="none" strike="noStrike">
              <a:solidFill>
                <a:srgbClr val="000000"/>
              </a:solidFill>
              <a:latin typeface="Calibri"/>
              <a:ea typeface="Calibri"/>
              <a:cs typeface="Calibri"/>
              <a:sym typeface="Calibri"/>
            </a:endParaRPr>
          </a:p>
          <a:p>
            <a:pPr indent="-285750" lvl="0" marL="298450" marR="9525" rtl="0" algn="l">
              <a:spcBef>
                <a:spcPts val="0"/>
              </a:spcBef>
              <a:spcAft>
                <a:spcPts val="0"/>
              </a:spcAft>
              <a:buClr>
                <a:srgbClr val="000000"/>
              </a:buClr>
              <a:buSzPts val="1600"/>
              <a:buFont typeface="Noto Sans Symbols"/>
              <a:buChar char="▪"/>
            </a:pPr>
            <a:r>
              <a:rPr b="0" i="0" lang="en-US" sz="1600" u="none" cap="none" strike="noStrike">
                <a:solidFill>
                  <a:srgbClr val="000000"/>
                </a:solidFill>
                <a:latin typeface="Calibri"/>
                <a:ea typeface="Calibri"/>
                <a:cs typeface="Calibri"/>
                <a:sym typeface="Calibri"/>
              </a:rPr>
              <a:t>Suspensión: mezcla heterogénea en la que las partículas son lo suficientemente grandes para sedimentar por gravedad.</a:t>
            </a:r>
            <a:endParaRPr b="0" i="0" sz="1600" u="none" cap="none" strike="noStrike">
              <a:solidFill>
                <a:srgbClr val="000000"/>
              </a:solidFill>
              <a:latin typeface="Calibri"/>
              <a:ea typeface="Calibri"/>
              <a:cs typeface="Calibri"/>
              <a:sym typeface="Calibri"/>
            </a:endParaRPr>
          </a:p>
          <a:p>
            <a:pPr indent="0" lvl="0" marL="0" marR="0" rtl="0" algn="l">
              <a:spcBef>
                <a:spcPts val="10"/>
              </a:spcBef>
              <a:spcAft>
                <a:spcPts val="0"/>
              </a:spcAft>
              <a:buClr>
                <a:schemeClr val="dk1"/>
              </a:buClr>
              <a:buSzPts val="1250"/>
              <a:buFont typeface="Noto Sans Symbols"/>
              <a:buNone/>
            </a:pPr>
            <a:r>
              <a:t/>
            </a:r>
            <a:endParaRPr b="0" i="0" sz="1250" u="none" cap="none" strike="noStrike">
              <a:solidFill>
                <a:srgbClr val="000000"/>
              </a:solidFill>
              <a:latin typeface="Calibri"/>
              <a:ea typeface="Calibri"/>
              <a:cs typeface="Calibri"/>
              <a:sym typeface="Calibri"/>
            </a:endParaRPr>
          </a:p>
          <a:p>
            <a:pPr indent="-286385" lvl="0" marL="298450" marR="5080" rtl="0" algn="l">
              <a:spcBef>
                <a:spcPts val="5"/>
              </a:spcBef>
              <a:spcAft>
                <a:spcPts val="0"/>
              </a:spcAft>
              <a:buClr>
                <a:srgbClr val="000000"/>
              </a:buClr>
              <a:buSzPts val="1600"/>
              <a:buFont typeface="Noto Sans Symbols"/>
              <a:buChar char="▪"/>
            </a:pPr>
            <a:r>
              <a:rPr b="0" i="0" lang="en-US" sz="1600" u="none" cap="none" strike="noStrike">
                <a:solidFill>
                  <a:srgbClr val="000000"/>
                </a:solidFill>
                <a:latin typeface="Calibri"/>
                <a:ea typeface="Calibri"/>
                <a:cs typeface="Calibri"/>
                <a:sym typeface="Calibri"/>
              </a:rPr>
              <a:t>Suspensión coloidal: mezcla heterogénea con partículas pequeñas, o moléculas o iones unidos formando agregados pequeños, que pueden permanecer en suspensión sin sedimentar.</a:t>
            </a:r>
            <a:endParaRPr b="0" i="0" sz="1600" u="none" cap="none" strike="noStrike">
              <a:solidFill>
                <a:srgbClr val="000000"/>
              </a:solidFill>
              <a:latin typeface="Calibri"/>
              <a:ea typeface="Calibri"/>
              <a:cs typeface="Calibri"/>
              <a:sym typeface="Calibri"/>
            </a:endParaRPr>
          </a:p>
          <a:p>
            <a:pPr indent="0" lvl="0" marL="0" marR="0" rtl="0" algn="l">
              <a:spcBef>
                <a:spcPts val="5"/>
              </a:spcBef>
              <a:spcAft>
                <a:spcPts val="0"/>
              </a:spcAft>
              <a:buNone/>
            </a:pPr>
            <a:r>
              <a:t/>
            </a:r>
            <a:endParaRPr b="0" i="0" sz="1500" u="none" cap="none" strike="noStrike">
              <a:solidFill>
                <a:srgbClr val="000000"/>
              </a:solidFill>
              <a:latin typeface="Calibri"/>
              <a:ea typeface="Calibri"/>
              <a:cs typeface="Calibri"/>
              <a:sym typeface="Calibri"/>
            </a:endParaRPr>
          </a:p>
          <a:p>
            <a:pPr indent="0" lvl="0" marL="12700" marR="5080" rtl="0" algn="just">
              <a:spcBef>
                <a:spcPts val="0"/>
              </a:spcBef>
              <a:spcAft>
                <a:spcPts val="0"/>
              </a:spcAft>
              <a:buNone/>
            </a:pPr>
            <a:r>
              <a:rPr b="0" i="0" lang="en-US" sz="1600" u="none" cap="none" strike="noStrike">
                <a:solidFill>
                  <a:srgbClr val="767070"/>
                </a:solidFill>
                <a:latin typeface="Calibri"/>
                <a:ea typeface="Calibri"/>
                <a:cs typeface="Calibri"/>
                <a:sym typeface="Calibri"/>
              </a:rPr>
              <a:t>En ocasiones, los fluidos presentes en los seres vivos, p.ej. la leche, son a la vez una mezcla heterogénea, una suspensión coloidal (grasas emulsionadas) y una disolución verdadera (de sales inorgánicas, aminoácidos, azúcares sencillos)</a:t>
            </a:r>
            <a:endParaRPr b="0" i="0" sz="1600" u="none" cap="none" strike="noStrike">
              <a:solidFill>
                <a:srgbClr val="000000"/>
              </a:solidFill>
              <a:latin typeface="Calibri"/>
              <a:ea typeface="Calibri"/>
              <a:cs typeface="Calibri"/>
              <a:sym typeface="Calibri"/>
            </a:endParaRPr>
          </a:p>
        </p:txBody>
      </p:sp>
      <p:sp>
        <p:nvSpPr>
          <p:cNvPr id="157" name="Google Shape;157;p27"/>
          <p:cNvSpPr txBox="1"/>
          <p:nvPr/>
        </p:nvSpPr>
        <p:spPr>
          <a:xfrm>
            <a:off x="-2550777" y="1576890"/>
            <a:ext cx="3811980" cy="269304"/>
          </a:xfrm>
          <a:prstGeom prst="rect">
            <a:avLst/>
          </a:prstGeom>
          <a:noFill/>
          <a:ln>
            <a:noFill/>
          </a:ln>
        </p:spPr>
        <p:txBody>
          <a:bodyPr anchorCtr="0" anchor="t" bIns="0" lIns="0" spcFirstLastPara="1" rIns="0" wrap="square" tIns="12700">
            <a:spAutoFit/>
          </a:bodyPr>
          <a:lstStyle/>
          <a:p>
            <a:pPr indent="0" lvl="0" marL="2223135" marR="0" rtl="0" algn="ctr">
              <a:lnSpc>
                <a:spcPct val="109444"/>
              </a:lnSpc>
              <a:spcBef>
                <a:spcPts val="0"/>
              </a:spcBef>
              <a:spcAft>
                <a:spcPts val="0"/>
              </a:spcAft>
              <a:buNone/>
            </a:pPr>
            <a:r>
              <a:rPr b="1" i="0" lang="en-US" sz="1800" u="none" cap="none" strike="noStrike">
                <a:solidFill>
                  <a:srgbClr val="000000"/>
                </a:solidFill>
                <a:latin typeface="Calibri"/>
                <a:ea typeface="Calibri"/>
                <a:cs typeface="Calibri"/>
                <a:sym typeface="Calibri"/>
              </a:rPr>
              <a:t>Mezclas</a:t>
            </a:r>
            <a:endParaRPr b="0" i="0" sz="1800" u="none" cap="none" strike="noStrike">
              <a:solidFill>
                <a:srgbClr val="000000"/>
              </a:solidFill>
              <a:latin typeface="Calibri"/>
              <a:ea typeface="Calibri"/>
              <a:cs typeface="Calibri"/>
              <a:sym typeface="Calibri"/>
            </a:endParaRPr>
          </a:p>
        </p:txBody>
      </p:sp>
      <p:sp>
        <p:nvSpPr>
          <p:cNvPr id="158" name="Google Shape;158;p27"/>
          <p:cNvSpPr/>
          <p:nvPr/>
        </p:nvSpPr>
        <p:spPr>
          <a:xfrm>
            <a:off x="866899" y="983227"/>
            <a:ext cx="178782" cy="1619835"/>
          </a:xfrm>
          <a:prstGeom prst="leftBracket">
            <a:avLst>
              <a:gd fmla="val 8333" name="adj"/>
            </a:avLst>
          </a:prstGeom>
          <a:noFill/>
          <a:ln cap="flat" cmpd="sng" w="28575">
            <a:solidFill>
              <a:srgbClr val="2020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aphicFrame>
        <p:nvGraphicFramePr>
          <p:cNvPr id="159" name="Google Shape;159;p27"/>
          <p:cNvGraphicFramePr/>
          <p:nvPr/>
        </p:nvGraphicFramePr>
        <p:xfrm>
          <a:off x="980368" y="1861617"/>
          <a:ext cx="3000000" cy="3000000"/>
        </p:xfrm>
        <a:graphic>
          <a:graphicData uri="http://schemas.openxmlformats.org/drawingml/2006/table">
            <a:tbl>
              <a:tblPr bandRow="1" firstRow="1">
                <a:noFill/>
                <a:tableStyleId>{649C726E-878E-4CDF-93D4-5E95978CE7E1}</a:tableStyleId>
              </a:tblPr>
              <a:tblGrid>
                <a:gridCol w="10645575"/>
              </a:tblGrid>
              <a:tr h="675600">
                <a:tc>
                  <a:txBody>
                    <a:bodyPr/>
                    <a:lstStyle/>
                    <a:p>
                      <a:pPr indent="0" lvl="0" marL="91440" marR="0" rtl="0" algn="l">
                        <a:lnSpc>
                          <a:spcPct val="100000"/>
                        </a:lnSpc>
                        <a:spcBef>
                          <a:spcPts val="0"/>
                        </a:spcBef>
                        <a:spcAft>
                          <a:spcPts val="0"/>
                        </a:spcAft>
                        <a:buNone/>
                      </a:pPr>
                      <a:r>
                        <a:rPr b="1" lang="en-US" sz="1600" u="none" cap="none" strike="noStrike">
                          <a:latin typeface="Calibri"/>
                          <a:ea typeface="Calibri"/>
                          <a:cs typeface="Calibri"/>
                          <a:sym typeface="Calibri"/>
                        </a:rPr>
                        <a:t>Homogéneas:</a:t>
                      </a:r>
                      <a:endParaRPr sz="1600" u="none" cap="none" strike="noStrike">
                        <a:latin typeface="Calibri"/>
                        <a:ea typeface="Calibri"/>
                        <a:cs typeface="Calibri"/>
                        <a:sym typeface="Calibri"/>
                      </a:endParaRPr>
                    </a:p>
                    <a:p>
                      <a:pPr indent="0" lvl="0" marL="91440" marR="84455" rtl="0" algn="l">
                        <a:lnSpc>
                          <a:spcPct val="100000"/>
                        </a:lnSpc>
                        <a:spcBef>
                          <a:spcPts val="15"/>
                        </a:spcBef>
                        <a:spcAft>
                          <a:spcPts val="0"/>
                        </a:spcAft>
                        <a:buNone/>
                      </a:pPr>
                      <a:r>
                        <a:rPr lang="en-US" sz="1600" u="none" cap="none" strike="noStrike">
                          <a:latin typeface="Calibri"/>
                          <a:ea typeface="Calibri"/>
                          <a:cs typeface="Calibri"/>
                          <a:sym typeface="Calibri"/>
                        </a:rPr>
                        <a:t>Composición uniforme (en la misma fase). Si tomamos una alícuota su composición es igual a la original.</a:t>
                      </a:r>
                      <a:endParaRPr sz="1600" u="none" cap="none" strike="noStrike">
                        <a:latin typeface="Calibri"/>
                        <a:ea typeface="Calibri"/>
                        <a:cs typeface="Calibri"/>
                        <a:sym typeface="Calibri"/>
                      </a:endParaRPr>
                    </a:p>
                  </a:txBody>
                  <a:tcPr marT="2667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8"/>
          <p:cNvPicPr preferRelativeResize="0"/>
          <p:nvPr/>
        </p:nvPicPr>
        <p:blipFill rotWithShape="1">
          <a:blip r:embed="rId3">
            <a:alphaModFix/>
          </a:blip>
          <a:srcRect b="0" l="0" r="0" t="0"/>
          <a:stretch/>
        </p:blipFill>
        <p:spPr>
          <a:xfrm>
            <a:off x="873957" y="1179688"/>
            <a:ext cx="3887664" cy="3571432"/>
          </a:xfrm>
          <a:prstGeom prst="rect">
            <a:avLst/>
          </a:prstGeom>
          <a:noFill/>
          <a:ln>
            <a:noFill/>
          </a:ln>
        </p:spPr>
      </p:pic>
      <p:sp>
        <p:nvSpPr>
          <p:cNvPr id="165" name="Google Shape;165;p28"/>
          <p:cNvSpPr txBox="1"/>
          <p:nvPr/>
        </p:nvSpPr>
        <p:spPr>
          <a:xfrm>
            <a:off x="5428637" y="1951694"/>
            <a:ext cx="6263700" cy="843900"/>
          </a:xfrm>
          <a:prstGeom prst="rect">
            <a:avLst/>
          </a:prstGeom>
          <a:noFill/>
          <a:ln>
            <a:noFill/>
          </a:ln>
        </p:spPr>
        <p:txBody>
          <a:bodyPr anchorCtr="0" anchor="t" bIns="0" lIns="0" spcFirstLastPara="1" rIns="0" wrap="square" tIns="12700">
            <a:spAutoFit/>
          </a:bodyPr>
          <a:lstStyle/>
          <a:p>
            <a:pPr indent="-285115" lvl="0" marL="297815" marR="5715" rtl="0" algn="l">
              <a:spcBef>
                <a:spcPts val="0"/>
              </a:spcBef>
              <a:spcAft>
                <a:spcPts val="0"/>
              </a:spcAft>
              <a:buClr>
                <a:srgbClr val="000000"/>
              </a:buClr>
              <a:buSzPts val="1800"/>
              <a:buFont typeface="Noto Sans Symbols"/>
              <a:buChar char="▪"/>
            </a:pPr>
            <a:r>
              <a:rPr b="1" i="0" lang="en-US" sz="1800" u="none" cap="none" strike="noStrike">
                <a:solidFill>
                  <a:srgbClr val="000000"/>
                </a:solidFill>
                <a:latin typeface="Calibri"/>
                <a:ea typeface="Calibri"/>
                <a:cs typeface="Calibri"/>
                <a:sym typeface="Calibri"/>
              </a:rPr>
              <a:t>Disolvente</a:t>
            </a:r>
            <a:r>
              <a:rPr b="0" i="0" lang="en-US" sz="1800" u="none" cap="none" strike="noStrike">
                <a:solidFill>
                  <a:srgbClr val="000000"/>
                </a:solidFill>
                <a:latin typeface="Calibri"/>
                <a:ea typeface="Calibri"/>
                <a:cs typeface="Calibri"/>
                <a:sym typeface="Calibri"/>
              </a:rPr>
              <a:t>:	componente	mayoritario	de	la disolución.</a:t>
            </a:r>
            <a:endParaRPr b="0" i="0" sz="1800" u="none" cap="none" strike="noStrike">
              <a:solidFill>
                <a:srgbClr val="000000"/>
              </a:solidFill>
              <a:latin typeface="Calibri"/>
              <a:ea typeface="Calibri"/>
              <a:cs typeface="Calibri"/>
              <a:sym typeface="Calibri"/>
            </a:endParaRPr>
          </a:p>
          <a:p>
            <a:pPr indent="0" lvl="0" marL="276225" marR="5080" rtl="0" algn="l">
              <a:spcBef>
                <a:spcPts val="0"/>
              </a:spcBef>
              <a:spcAft>
                <a:spcPts val="0"/>
              </a:spcAft>
              <a:buNone/>
            </a:pPr>
            <a:r>
              <a:rPr b="0" i="0" lang="en-US" sz="1800" u="none" cap="none" strike="noStrike">
                <a:solidFill>
                  <a:srgbClr val="000000"/>
                </a:solidFill>
                <a:latin typeface="Calibri"/>
                <a:ea typeface="Calibri"/>
                <a:cs typeface="Calibri"/>
                <a:sym typeface="Calibri"/>
              </a:rPr>
              <a:t>Determina	si	la	disolución	es	un	sólido,	un líquido o un gas.</a:t>
            </a:r>
            <a:endParaRPr b="0" i="0" sz="1800" u="none" cap="none" strike="noStrike">
              <a:solidFill>
                <a:srgbClr val="000000"/>
              </a:solidFill>
              <a:latin typeface="Calibri"/>
              <a:ea typeface="Calibri"/>
              <a:cs typeface="Calibri"/>
              <a:sym typeface="Calibri"/>
            </a:endParaRPr>
          </a:p>
        </p:txBody>
      </p:sp>
      <p:sp>
        <p:nvSpPr>
          <p:cNvPr id="166" name="Google Shape;166;p28"/>
          <p:cNvSpPr txBox="1"/>
          <p:nvPr/>
        </p:nvSpPr>
        <p:spPr>
          <a:xfrm>
            <a:off x="5428618" y="3273512"/>
            <a:ext cx="6263700" cy="567000"/>
          </a:xfrm>
          <a:prstGeom prst="rect">
            <a:avLst/>
          </a:prstGeom>
          <a:noFill/>
          <a:ln>
            <a:noFill/>
          </a:ln>
        </p:spPr>
        <p:txBody>
          <a:bodyPr anchorCtr="0" anchor="t" bIns="0" lIns="0" spcFirstLastPara="1" rIns="0" wrap="square" tIns="12700">
            <a:spAutoFit/>
          </a:bodyPr>
          <a:lstStyle/>
          <a:p>
            <a:pPr indent="-285115" lvl="0" marL="297815" marR="5080" rtl="0" algn="l">
              <a:spcBef>
                <a:spcPts val="0"/>
              </a:spcBef>
              <a:spcAft>
                <a:spcPts val="0"/>
              </a:spcAft>
              <a:buClr>
                <a:srgbClr val="000000"/>
              </a:buClr>
              <a:buSzPts val="1800"/>
              <a:buFont typeface="Noto Sans Symbols"/>
              <a:buChar char="▪"/>
            </a:pPr>
            <a:r>
              <a:rPr b="1" i="0" lang="en-US" sz="1800" u="none" cap="none" strike="noStrike">
                <a:solidFill>
                  <a:srgbClr val="000000"/>
                </a:solidFill>
                <a:latin typeface="Calibri"/>
                <a:ea typeface="Calibri"/>
                <a:cs typeface="Calibri"/>
                <a:sym typeface="Calibri"/>
              </a:rPr>
              <a:t>Soluto(s)</a:t>
            </a:r>
            <a:r>
              <a:rPr b="0" i="0" lang="en-US" sz="1800" u="none" cap="none" strike="noStrike">
                <a:solidFill>
                  <a:srgbClr val="000000"/>
                </a:solidFill>
                <a:latin typeface="Calibri"/>
                <a:ea typeface="Calibri"/>
                <a:cs typeface="Calibri"/>
                <a:sym typeface="Calibri"/>
              </a:rPr>
              <a:t>: los demás componentes (minoritarios) de la disolución.</a:t>
            </a:r>
            <a:endParaRPr b="0" i="0" sz="1800" u="none" cap="none" strike="noStrike">
              <a:solidFill>
                <a:srgbClr val="000000"/>
              </a:solidFill>
              <a:latin typeface="Calibri"/>
              <a:ea typeface="Calibri"/>
              <a:cs typeface="Calibri"/>
              <a:sym typeface="Calibri"/>
            </a:endParaRPr>
          </a:p>
        </p:txBody>
      </p:sp>
      <p:sp>
        <p:nvSpPr>
          <p:cNvPr id="167" name="Google Shape;167;p28"/>
          <p:cNvSpPr txBox="1"/>
          <p:nvPr/>
        </p:nvSpPr>
        <p:spPr>
          <a:xfrm>
            <a:off x="229953" y="168356"/>
            <a:ext cx="6390600" cy="426900"/>
          </a:xfrm>
          <a:prstGeom prst="rect">
            <a:avLst/>
          </a:prstGeom>
          <a:noFill/>
          <a:ln>
            <a:noFill/>
          </a:ln>
        </p:spPr>
        <p:txBody>
          <a:bodyPr anchorCtr="0" anchor="t" bIns="0" lIns="0" spcFirstLastPara="1" rIns="0" wrap="square" tIns="12700">
            <a:spAutoFit/>
          </a:bodyPr>
          <a:lstStyle/>
          <a:p>
            <a:pPr indent="0" lvl="0" marL="12700" marR="0" rtl="0" algn="l">
              <a:lnSpc>
                <a:spcPct val="96071"/>
              </a:lnSpc>
              <a:spcBef>
                <a:spcPts val="0"/>
              </a:spcBef>
              <a:spcAft>
                <a:spcPts val="0"/>
              </a:spcAft>
              <a:buNone/>
            </a:pPr>
            <a:r>
              <a:rPr b="1" lang="en-US" sz="2800">
                <a:solidFill>
                  <a:srgbClr val="1F4E79"/>
                </a:solidFill>
                <a:latin typeface="Calibri"/>
                <a:ea typeface="Calibri"/>
                <a:cs typeface="Calibri"/>
                <a:sym typeface="Calibri"/>
              </a:rPr>
              <a:t>Componentes de una d</a:t>
            </a:r>
            <a:r>
              <a:rPr b="1" i="0" lang="en-US" sz="2800" u="none" cap="none" strike="noStrike">
                <a:solidFill>
                  <a:srgbClr val="1F4E79"/>
                </a:solidFill>
                <a:latin typeface="Calibri"/>
                <a:ea typeface="Calibri"/>
                <a:cs typeface="Calibri"/>
                <a:sym typeface="Calibri"/>
              </a:rPr>
              <a:t>isoluci</a:t>
            </a:r>
            <a:r>
              <a:rPr b="1" lang="en-US" sz="2800">
                <a:solidFill>
                  <a:srgbClr val="1F4E79"/>
                </a:solidFill>
                <a:latin typeface="Calibri"/>
                <a:ea typeface="Calibri"/>
                <a:cs typeface="Calibri"/>
                <a:sym typeface="Calibri"/>
              </a:rPr>
              <a:t>ón</a:t>
            </a:r>
            <a:endParaRPr b="0" i="0" sz="2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nvSpPr>
        <p:spPr>
          <a:xfrm>
            <a:off x="219875" y="666708"/>
            <a:ext cx="11752200" cy="597600"/>
          </a:xfrm>
          <a:prstGeom prst="rect">
            <a:avLst/>
          </a:prstGeom>
          <a:noFill/>
          <a:ln>
            <a:noFill/>
          </a:ln>
        </p:spPr>
        <p:txBody>
          <a:bodyPr anchorCtr="0" anchor="t" bIns="0" lIns="0" spcFirstLastPara="1" rIns="0" wrap="square" tIns="12700">
            <a:spAutoFit/>
          </a:bodyPr>
          <a:lstStyle/>
          <a:p>
            <a:pPr indent="0" lvl="0" marL="0" marR="0" rtl="0" algn="l">
              <a:spcBef>
                <a:spcPts val="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256540" marR="5080" rtl="0" algn="just">
              <a:spcBef>
                <a:spcPts val="0"/>
              </a:spcBef>
              <a:spcAft>
                <a:spcPts val="0"/>
              </a:spcAft>
              <a:buNone/>
            </a:pPr>
            <a:r>
              <a:rPr b="0" i="0" lang="en-US" sz="1800" u="none" cap="none" strike="noStrike">
                <a:solidFill>
                  <a:srgbClr val="000000"/>
                </a:solidFill>
                <a:latin typeface="Calibri"/>
                <a:ea typeface="Calibri"/>
                <a:cs typeface="Calibri"/>
                <a:sym typeface="Calibri"/>
              </a:rPr>
              <a:t>Tanto los solutos como el disolvente de una disolución pueden estar en estado líquido, sólido o gaseoso</a:t>
            </a:r>
            <a:endParaRPr b="0" i="0" sz="1800" u="none" cap="none" strike="noStrike">
              <a:solidFill>
                <a:srgbClr val="000000"/>
              </a:solidFill>
              <a:latin typeface="Calibri"/>
              <a:ea typeface="Calibri"/>
              <a:cs typeface="Calibri"/>
              <a:sym typeface="Calibri"/>
            </a:endParaRPr>
          </a:p>
        </p:txBody>
      </p:sp>
      <p:graphicFrame>
        <p:nvGraphicFramePr>
          <p:cNvPr id="173" name="Google Shape;173;p29"/>
          <p:cNvGraphicFramePr/>
          <p:nvPr/>
        </p:nvGraphicFramePr>
        <p:xfrm>
          <a:off x="1828785" y="1893514"/>
          <a:ext cx="3000000" cy="3000000"/>
        </p:xfrm>
        <a:graphic>
          <a:graphicData uri="http://schemas.openxmlformats.org/drawingml/2006/table">
            <a:tbl>
              <a:tblPr bandRow="1" firstRow="1">
                <a:noFill/>
                <a:tableStyleId>{649C726E-878E-4CDF-93D4-5E95978CE7E1}</a:tableStyleId>
              </a:tblPr>
              <a:tblGrid>
                <a:gridCol w="1774200"/>
                <a:gridCol w="2121525"/>
                <a:gridCol w="1838325"/>
                <a:gridCol w="2350125"/>
              </a:tblGrid>
              <a:tr h="639450">
                <a:tc>
                  <a:txBody>
                    <a:bodyPr/>
                    <a:lstStyle/>
                    <a:p>
                      <a:pPr indent="0" lvl="0" marL="90805" marR="694690" rtl="0" algn="l">
                        <a:lnSpc>
                          <a:spcPct val="100000"/>
                        </a:lnSpc>
                        <a:spcBef>
                          <a:spcPts val="0"/>
                        </a:spcBef>
                        <a:spcAft>
                          <a:spcPts val="0"/>
                        </a:spcAft>
                        <a:buNone/>
                      </a:pPr>
                      <a:r>
                        <a:rPr b="1" lang="en-US" sz="1800" u="none" cap="none" strike="noStrike">
                          <a:solidFill>
                            <a:srgbClr val="FFFFFF"/>
                          </a:solidFill>
                          <a:latin typeface="Calibri"/>
                          <a:ea typeface="Calibri"/>
                          <a:cs typeface="Calibri"/>
                          <a:sym typeface="Calibri"/>
                        </a:rPr>
                        <a:t>Estado del soluto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c>
                  <a:txBody>
                    <a:bodyPr/>
                    <a:lstStyle/>
                    <a:p>
                      <a:pPr indent="0" lvl="0" marL="91440" marR="1042035" rtl="0" algn="l">
                        <a:lnSpc>
                          <a:spcPct val="100000"/>
                        </a:lnSpc>
                        <a:spcBef>
                          <a:spcPts val="0"/>
                        </a:spcBef>
                        <a:spcAft>
                          <a:spcPts val="0"/>
                        </a:spcAft>
                        <a:buNone/>
                      </a:pPr>
                      <a:r>
                        <a:rPr b="1" lang="en-US" sz="1800" u="none" cap="none" strike="noStrike">
                          <a:solidFill>
                            <a:srgbClr val="FFFFFF"/>
                          </a:solidFill>
                          <a:latin typeface="Calibri"/>
                          <a:ea typeface="Calibri"/>
                          <a:cs typeface="Calibri"/>
                          <a:sym typeface="Calibri"/>
                        </a:rPr>
                        <a:t>Estado del disolvente</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c>
                  <a:txBody>
                    <a:bodyPr/>
                    <a:lstStyle/>
                    <a:p>
                      <a:pPr indent="0" lvl="0" marL="90805" marR="594360" rtl="0" algn="l">
                        <a:lnSpc>
                          <a:spcPct val="100000"/>
                        </a:lnSpc>
                        <a:spcBef>
                          <a:spcPts val="0"/>
                        </a:spcBef>
                        <a:spcAft>
                          <a:spcPts val="0"/>
                        </a:spcAft>
                        <a:buNone/>
                      </a:pPr>
                      <a:r>
                        <a:rPr b="1" lang="en-US" sz="1800" u="none" cap="none" strike="noStrike">
                          <a:solidFill>
                            <a:srgbClr val="FFFFFF"/>
                          </a:solidFill>
                          <a:latin typeface="Calibri"/>
                          <a:ea typeface="Calibri"/>
                          <a:cs typeface="Calibri"/>
                          <a:sym typeface="Calibri"/>
                        </a:rPr>
                        <a:t>Estado de la disolución</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c>
                  <a:txBody>
                    <a:bodyPr/>
                    <a:lstStyle/>
                    <a:p>
                      <a:pPr indent="0" lvl="0" marL="90805" marR="0" rtl="0" algn="l">
                        <a:lnSpc>
                          <a:spcPct val="100000"/>
                        </a:lnSpc>
                        <a:spcBef>
                          <a:spcPts val="0"/>
                        </a:spcBef>
                        <a:spcAft>
                          <a:spcPts val="0"/>
                        </a:spcAft>
                        <a:buNone/>
                      </a:pPr>
                      <a:r>
                        <a:rPr b="1" lang="en-US" sz="1800" u="none" cap="none" strike="noStrike">
                          <a:solidFill>
                            <a:srgbClr val="FFFFFF"/>
                          </a:solidFill>
                          <a:latin typeface="Calibri"/>
                          <a:ea typeface="Calibri"/>
                          <a:cs typeface="Calibri"/>
                          <a:sym typeface="Calibri"/>
                        </a:rPr>
                        <a:t>Ejemplo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4"/>
                    </a:solidFill>
                  </a:tcPr>
                </a:tc>
              </a:tr>
              <a:tr h="370200">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Gas</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Gas</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0805" marR="0" rtl="0" algn="l">
                        <a:lnSpc>
                          <a:spcPct val="100000"/>
                        </a:lnSpc>
                        <a:spcBef>
                          <a:spcPts val="0"/>
                        </a:spcBef>
                        <a:spcAft>
                          <a:spcPts val="0"/>
                        </a:spcAft>
                        <a:buNone/>
                      </a:pPr>
                      <a:r>
                        <a:rPr lang="en-US" sz="1800" u="none" cap="none" strike="noStrike">
                          <a:latin typeface="Calibri"/>
                          <a:ea typeface="Calibri"/>
                          <a:cs typeface="Calibri"/>
                          <a:sym typeface="Calibri"/>
                        </a:rPr>
                        <a:t>Gaseoso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0805" marR="0" rtl="0" algn="l">
                        <a:lnSpc>
                          <a:spcPct val="100000"/>
                        </a:lnSpc>
                        <a:spcBef>
                          <a:spcPts val="0"/>
                        </a:spcBef>
                        <a:spcAft>
                          <a:spcPts val="0"/>
                        </a:spcAft>
                        <a:buNone/>
                      </a:pPr>
                      <a:r>
                        <a:rPr lang="en-US" sz="1800" u="none" cap="none" strike="noStrike">
                          <a:latin typeface="Calibri"/>
                          <a:ea typeface="Calibri"/>
                          <a:cs typeface="Calibri"/>
                          <a:sym typeface="Calibri"/>
                        </a:rPr>
                        <a:t>Aire</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r>
              <a:tr h="370850">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Gas</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Líquido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0805" marR="0" rtl="0" algn="l">
                        <a:lnSpc>
                          <a:spcPct val="100000"/>
                        </a:lnSpc>
                        <a:spcBef>
                          <a:spcPts val="0"/>
                        </a:spcBef>
                        <a:spcAft>
                          <a:spcPts val="0"/>
                        </a:spcAft>
                        <a:buNone/>
                      </a:pPr>
                      <a:r>
                        <a:rPr lang="en-US" sz="1800" u="none" cap="none" strike="noStrike">
                          <a:latin typeface="Calibri"/>
                          <a:ea typeface="Calibri"/>
                          <a:cs typeface="Calibri"/>
                          <a:sym typeface="Calibri"/>
                        </a:rPr>
                        <a:t>Líquido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0805" marR="0" rtl="0" algn="l">
                        <a:lnSpc>
                          <a:spcPct val="100000"/>
                        </a:lnSpc>
                        <a:spcBef>
                          <a:spcPts val="0"/>
                        </a:spcBef>
                        <a:spcAft>
                          <a:spcPts val="0"/>
                        </a:spcAft>
                        <a:buNone/>
                      </a:pPr>
                      <a:r>
                        <a:rPr lang="en-US" sz="1800" u="none" cap="none" strike="noStrike">
                          <a:latin typeface="Calibri"/>
                          <a:ea typeface="Calibri"/>
                          <a:cs typeface="Calibri"/>
                          <a:sym typeface="Calibri"/>
                        </a:rPr>
                        <a:t>CO</a:t>
                      </a:r>
                      <a:r>
                        <a:rPr baseline="-25000" lang="en-US" sz="1800" u="none" cap="none" strike="noStrike">
                          <a:latin typeface="Calibri"/>
                          <a:ea typeface="Calibri"/>
                          <a:cs typeface="Calibri"/>
                          <a:sym typeface="Calibri"/>
                        </a:rPr>
                        <a:t>2 </a:t>
                      </a:r>
                      <a:r>
                        <a:rPr lang="en-US" sz="1800" u="none" cap="none" strike="noStrike">
                          <a:latin typeface="Calibri"/>
                          <a:ea typeface="Calibri"/>
                          <a:cs typeface="Calibri"/>
                          <a:sym typeface="Calibri"/>
                        </a:rPr>
                        <a:t>en agua</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r>
              <a:tr h="370200">
                <a:tc>
                  <a:txBody>
                    <a:bodyPr/>
                    <a:lstStyle/>
                    <a:p>
                      <a:pPr indent="0" lvl="0" marL="90805" marR="0" rtl="0" algn="l">
                        <a:lnSpc>
                          <a:spcPct val="100000"/>
                        </a:lnSpc>
                        <a:spcBef>
                          <a:spcPts val="0"/>
                        </a:spcBef>
                        <a:spcAft>
                          <a:spcPts val="0"/>
                        </a:spcAft>
                        <a:buNone/>
                      </a:pPr>
                      <a:r>
                        <a:rPr lang="en-US" sz="1800" u="none" cap="none" strike="noStrike">
                          <a:latin typeface="Calibri"/>
                          <a:ea typeface="Calibri"/>
                          <a:cs typeface="Calibri"/>
                          <a:sym typeface="Calibri"/>
                        </a:rPr>
                        <a:t>Gas</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0805" marR="0" rtl="0" algn="l">
                        <a:lnSpc>
                          <a:spcPct val="100000"/>
                        </a:lnSpc>
                        <a:spcBef>
                          <a:spcPts val="0"/>
                        </a:spcBef>
                        <a:spcAft>
                          <a:spcPts val="0"/>
                        </a:spcAft>
                        <a:buNone/>
                      </a:pPr>
                      <a:r>
                        <a:rPr lang="en-US" sz="1800" u="none" cap="none" strike="noStrike">
                          <a:latin typeface="Calibri"/>
                          <a:ea typeface="Calibri"/>
                          <a:cs typeface="Calibri"/>
                          <a:sym typeface="Calibri"/>
                        </a:rPr>
                        <a:t>Sólido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0805" marR="0" rtl="0" algn="l">
                        <a:lnSpc>
                          <a:spcPct val="100000"/>
                        </a:lnSpc>
                        <a:spcBef>
                          <a:spcPts val="0"/>
                        </a:spcBef>
                        <a:spcAft>
                          <a:spcPts val="0"/>
                        </a:spcAft>
                        <a:buNone/>
                      </a:pPr>
                      <a:r>
                        <a:rPr lang="en-US" sz="1800" u="none" cap="none" strike="noStrike">
                          <a:latin typeface="Calibri"/>
                          <a:ea typeface="Calibri"/>
                          <a:cs typeface="Calibri"/>
                          <a:sym typeface="Calibri"/>
                        </a:rPr>
                        <a:t>Sólido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0805" marR="0" rtl="0" algn="l">
                        <a:lnSpc>
                          <a:spcPct val="100000"/>
                        </a:lnSpc>
                        <a:spcBef>
                          <a:spcPts val="0"/>
                        </a:spcBef>
                        <a:spcAft>
                          <a:spcPts val="0"/>
                        </a:spcAft>
                        <a:buNone/>
                      </a:pPr>
                      <a:r>
                        <a:rPr lang="en-US" sz="1800" u="none" cap="none" strike="noStrike">
                          <a:latin typeface="Calibri"/>
                          <a:ea typeface="Calibri"/>
                          <a:cs typeface="Calibri"/>
                          <a:sym typeface="Calibri"/>
                        </a:rPr>
                        <a:t>H</a:t>
                      </a:r>
                      <a:r>
                        <a:rPr baseline="-25000" lang="en-US" sz="1800" u="none" cap="none" strike="noStrike">
                          <a:latin typeface="Calibri"/>
                          <a:ea typeface="Calibri"/>
                          <a:cs typeface="Calibri"/>
                          <a:sym typeface="Calibri"/>
                        </a:rPr>
                        <a:t>2 </a:t>
                      </a:r>
                      <a:r>
                        <a:rPr lang="en-US" sz="1800" u="none" cap="none" strike="noStrike">
                          <a:latin typeface="Calibri"/>
                          <a:ea typeface="Calibri"/>
                          <a:cs typeface="Calibri"/>
                          <a:sym typeface="Calibri"/>
                        </a:rPr>
                        <a:t>(g) en paladio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r>
              <a:tr h="370850">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Líquido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Líquido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Líquido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Etanol en agua</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r>
              <a:tr h="370850">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Sólido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Líquido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Líquido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Sacarosa en agua</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r>
              <a:tr h="370200">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Sólido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Sólido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Sólido</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c>
                  <a:txBody>
                    <a:bodyPr/>
                    <a:lstStyle/>
                    <a:p>
                      <a:pPr indent="0" lvl="0" marL="91440" marR="0" rtl="0" algn="l">
                        <a:lnSpc>
                          <a:spcPct val="100000"/>
                        </a:lnSpc>
                        <a:spcBef>
                          <a:spcPts val="0"/>
                        </a:spcBef>
                        <a:spcAft>
                          <a:spcPts val="0"/>
                        </a:spcAft>
                        <a:buNone/>
                      </a:pPr>
                      <a:r>
                        <a:rPr lang="en-US" sz="1800" u="none" cap="none" strike="noStrike">
                          <a:latin typeface="Calibri"/>
                          <a:ea typeface="Calibri"/>
                          <a:cs typeface="Calibri"/>
                          <a:sym typeface="Calibri"/>
                        </a:rPr>
                        <a:t>Aleación homogénea</a:t>
                      </a:r>
                      <a:endParaRPr sz="1800" u="none" cap="none" strike="noStrike">
                        <a:latin typeface="Calibri"/>
                        <a:ea typeface="Calibri"/>
                        <a:cs typeface="Calibri"/>
                        <a:sym typeface="Calibri"/>
                      </a:endParaRPr>
                    </a:p>
                  </a:txBody>
                  <a:tcPr marT="311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AE2F3"/>
                    </a:solidFill>
                  </a:tcPr>
                </a:tc>
              </a:tr>
            </a:tbl>
          </a:graphicData>
        </a:graphic>
      </p:graphicFrame>
      <p:sp>
        <p:nvSpPr>
          <p:cNvPr id="174" name="Google Shape;174;p29"/>
          <p:cNvSpPr txBox="1"/>
          <p:nvPr/>
        </p:nvSpPr>
        <p:spPr>
          <a:xfrm>
            <a:off x="1895586" y="5108302"/>
            <a:ext cx="7924165" cy="505267"/>
          </a:xfrm>
          <a:prstGeom prst="rect">
            <a:avLst/>
          </a:prstGeom>
          <a:noFill/>
          <a:ln>
            <a:noFill/>
          </a:ln>
        </p:spPr>
        <p:txBody>
          <a:bodyPr anchorCtr="0" anchor="t" bIns="0" lIns="0" spcFirstLastPara="1" rIns="0" wrap="square" tIns="12700">
            <a:spAutoFit/>
          </a:bodyPr>
          <a:lstStyle/>
          <a:p>
            <a:pPr indent="-635" lvl="0" marL="12700" marR="5080" rtl="0" algn="l">
              <a:spcBef>
                <a:spcPts val="0"/>
              </a:spcBef>
              <a:spcAft>
                <a:spcPts val="0"/>
              </a:spcAft>
              <a:buNone/>
            </a:pPr>
            <a:r>
              <a:rPr b="0" i="0" lang="en-US" sz="1600" u="none" cap="none" strike="noStrike">
                <a:solidFill>
                  <a:srgbClr val="000000"/>
                </a:solidFill>
                <a:latin typeface="Calibri"/>
                <a:ea typeface="Calibri"/>
                <a:cs typeface="Calibri"/>
                <a:sym typeface="Calibri"/>
              </a:rPr>
              <a:t>Otras mezclas, como líquido en gas (ej. agua en aire) o sólido en gas (ej. polvo en aire), no se consideran disoluciones verdaderas.</a:t>
            </a:r>
            <a:endParaRPr b="0" i="0" sz="1600" u="none" cap="none" strike="noStrike">
              <a:solidFill>
                <a:srgbClr val="000000"/>
              </a:solidFill>
              <a:latin typeface="Calibri"/>
              <a:ea typeface="Calibri"/>
              <a:cs typeface="Calibri"/>
              <a:sym typeface="Calibri"/>
            </a:endParaRPr>
          </a:p>
        </p:txBody>
      </p:sp>
      <p:sp>
        <p:nvSpPr>
          <p:cNvPr id="175" name="Google Shape;175;p29"/>
          <p:cNvSpPr txBox="1"/>
          <p:nvPr/>
        </p:nvSpPr>
        <p:spPr>
          <a:xfrm>
            <a:off x="229950" y="168350"/>
            <a:ext cx="11809800" cy="426900"/>
          </a:xfrm>
          <a:prstGeom prst="rect">
            <a:avLst/>
          </a:prstGeom>
          <a:noFill/>
          <a:ln>
            <a:noFill/>
          </a:ln>
        </p:spPr>
        <p:txBody>
          <a:bodyPr anchorCtr="0" anchor="t" bIns="0" lIns="0" spcFirstLastPara="1" rIns="0" wrap="square" tIns="12700">
            <a:spAutoFit/>
          </a:bodyPr>
          <a:lstStyle/>
          <a:p>
            <a:pPr indent="0" lvl="0" marL="12700" marR="0" rtl="0" algn="l">
              <a:lnSpc>
                <a:spcPct val="96071"/>
              </a:lnSpc>
              <a:spcBef>
                <a:spcPts val="0"/>
              </a:spcBef>
              <a:spcAft>
                <a:spcPts val="0"/>
              </a:spcAft>
              <a:buNone/>
            </a:pPr>
            <a:r>
              <a:rPr b="1" lang="en-US" sz="2800">
                <a:solidFill>
                  <a:srgbClr val="1F4E79"/>
                </a:solidFill>
                <a:latin typeface="Calibri"/>
                <a:ea typeface="Calibri"/>
                <a:cs typeface="Calibri"/>
                <a:sym typeface="Calibri"/>
              </a:rPr>
              <a:t>T</a:t>
            </a:r>
            <a:r>
              <a:rPr b="1" lang="en-US" sz="2800">
                <a:solidFill>
                  <a:srgbClr val="1F4E79"/>
                </a:solidFill>
                <a:latin typeface="Calibri"/>
                <a:ea typeface="Calibri"/>
                <a:cs typeface="Calibri"/>
                <a:sym typeface="Calibri"/>
              </a:rPr>
              <a:t>ipos de disoluciones en función del estado de agregación de sus componentes</a:t>
            </a:r>
            <a:r>
              <a:rPr b="1" lang="en-US" sz="1800">
                <a:solidFill>
                  <a:schemeClr val="dk1"/>
                </a:solidFill>
                <a:latin typeface="Calibri"/>
                <a:ea typeface="Calibri"/>
                <a:cs typeface="Calibri"/>
                <a:sym typeface="Calibri"/>
              </a:rPr>
              <a:t> </a:t>
            </a:r>
            <a:endParaRPr b="0" i="0" sz="2800" u="none" cap="none" strike="noStrike">
              <a:solidFill>
                <a:srgbClr val="1F4E79"/>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30"/>
          <p:cNvPicPr preferRelativeResize="0"/>
          <p:nvPr/>
        </p:nvPicPr>
        <p:blipFill rotWithShape="1">
          <a:blip r:embed="rId3">
            <a:alphaModFix/>
          </a:blip>
          <a:srcRect b="0" l="0" r="0" t="0"/>
          <a:stretch/>
        </p:blipFill>
        <p:spPr>
          <a:xfrm>
            <a:off x="3795714" y="2666199"/>
            <a:ext cx="3648074" cy="2714243"/>
          </a:xfrm>
          <a:prstGeom prst="rect">
            <a:avLst/>
          </a:prstGeom>
          <a:noFill/>
          <a:ln>
            <a:noFill/>
          </a:ln>
        </p:spPr>
      </p:pic>
      <p:sp>
        <p:nvSpPr>
          <p:cNvPr id="181" name="Google Shape;181;p30"/>
          <p:cNvSpPr txBox="1"/>
          <p:nvPr/>
        </p:nvSpPr>
        <p:spPr>
          <a:xfrm>
            <a:off x="271145" y="0"/>
            <a:ext cx="11644630" cy="2936701"/>
          </a:xfrm>
          <a:prstGeom prst="rect">
            <a:avLst/>
          </a:prstGeom>
          <a:noFill/>
          <a:ln>
            <a:noFill/>
          </a:ln>
        </p:spPr>
        <p:txBody>
          <a:bodyPr anchorCtr="0" anchor="t" bIns="0" lIns="0" spcFirstLastPara="1" rIns="0" wrap="square" tIns="12700">
            <a:spAutoFit/>
          </a:bodyPr>
          <a:lstStyle/>
          <a:p>
            <a:pPr indent="0" lvl="0" marL="123189" marR="0" rtl="0" algn="l">
              <a:spcBef>
                <a:spcPts val="0"/>
              </a:spcBef>
              <a:spcAft>
                <a:spcPts val="0"/>
              </a:spcAft>
              <a:buNone/>
            </a:pPr>
            <a:r>
              <a:rPr b="1" i="0" lang="en-US" sz="2000" u="none" cap="none" strike="noStrike">
                <a:solidFill>
                  <a:srgbClr val="000000"/>
                </a:solidFill>
                <a:latin typeface="Calibri"/>
                <a:ea typeface="Calibri"/>
                <a:cs typeface="Calibri"/>
                <a:sym typeface="Calibri"/>
              </a:rPr>
              <a:t>Preparación de una disolución en medio líquido</a:t>
            </a:r>
            <a:endParaRPr b="1" i="0" sz="2000" u="none" cap="none" strike="noStrike">
              <a:solidFill>
                <a:srgbClr val="000000"/>
              </a:solidFill>
              <a:latin typeface="Calibri"/>
              <a:ea typeface="Calibri"/>
              <a:cs typeface="Calibri"/>
              <a:sym typeface="Calibri"/>
            </a:endParaRPr>
          </a:p>
          <a:p>
            <a:pPr indent="0" lvl="0" marL="123189" marR="0" rtl="0" algn="l">
              <a:spcBef>
                <a:spcPts val="1895"/>
              </a:spcBef>
              <a:spcAft>
                <a:spcPts val="0"/>
              </a:spcAft>
              <a:buNone/>
            </a:pPr>
            <a:r>
              <a:t/>
            </a:r>
            <a:endParaRPr b="0" i="0" sz="2000" u="none" cap="none" strike="noStrike">
              <a:solidFill>
                <a:srgbClr val="000000"/>
              </a:solidFill>
              <a:latin typeface="Calibri"/>
              <a:ea typeface="Calibri"/>
              <a:cs typeface="Calibri"/>
              <a:sym typeface="Calibri"/>
            </a:endParaRPr>
          </a:p>
          <a:p>
            <a:pPr indent="-343535" lvl="1" marL="668655" marR="5080" rtl="0" algn="l">
              <a:spcBef>
                <a:spcPts val="1130"/>
              </a:spcBef>
              <a:spcAft>
                <a:spcPts val="0"/>
              </a:spcAft>
              <a:buClr>
                <a:srgbClr val="000000"/>
              </a:buClr>
              <a:buSzPts val="1800"/>
              <a:buFont typeface="Calibri"/>
              <a:buAutoNum type="arabicPeriod"/>
            </a:pPr>
            <a:r>
              <a:rPr b="0" i="0" lang="en-US" sz="1800" u="none" cap="none" strike="noStrike">
                <a:solidFill>
                  <a:srgbClr val="000000"/>
                </a:solidFill>
                <a:latin typeface="Calibri"/>
                <a:ea typeface="Calibri"/>
                <a:cs typeface="Calibri"/>
                <a:sym typeface="Calibri"/>
              </a:rPr>
              <a:t>Se mide la cantidad (masa, volumen) necesaria de soluto para el volumen de disolución que se va a preparar para alcanzar la concentración deseada</a:t>
            </a:r>
            <a:endParaRPr b="0" i="0" sz="1800" u="none" cap="none" strike="noStrike">
              <a:solidFill>
                <a:srgbClr val="000000"/>
              </a:solidFill>
              <a:latin typeface="Calibri"/>
              <a:ea typeface="Calibri"/>
              <a:cs typeface="Calibri"/>
              <a:sym typeface="Calibri"/>
            </a:endParaRPr>
          </a:p>
          <a:p>
            <a:pPr indent="-342900" lvl="1" marL="669290" marR="5080" rtl="0" algn="l">
              <a:spcBef>
                <a:spcPts val="0"/>
              </a:spcBef>
              <a:spcAft>
                <a:spcPts val="0"/>
              </a:spcAft>
              <a:buClr>
                <a:srgbClr val="000000"/>
              </a:buClr>
              <a:buSzPts val="1800"/>
              <a:buFont typeface="Calibri"/>
              <a:buAutoNum type="arabicPeriod"/>
            </a:pPr>
            <a:r>
              <a:rPr b="0" i="0" lang="en-US" sz="1800" u="none" cap="none" strike="noStrike">
                <a:solidFill>
                  <a:srgbClr val="000000"/>
                </a:solidFill>
                <a:latin typeface="Calibri"/>
                <a:ea typeface="Calibri"/>
                <a:cs typeface="Calibri"/>
                <a:sym typeface="Calibri"/>
              </a:rPr>
              <a:t>Se disuelve el soluto en un volumen aproximado de disolvente. Se mezcla bien para que se disuelva todo el soluto</a:t>
            </a:r>
            <a:endParaRPr b="0" i="0" sz="1800" u="none" cap="none" strike="noStrike">
              <a:solidFill>
                <a:srgbClr val="000000"/>
              </a:solidFill>
              <a:latin typeface="Calibri"/>
              <a:ea typeface="Calibri"/>
              <a:cs typeface="Calibri"/>
              <a:sym typeface="Calibri"/>
            </a:endParaRPr>
          </a:p>
          <a:p>
            <a:pPr indent="-342265" lvl="1" marL="669290" marR="5080" rtl="0" algn="l">
              <a:spcBef>
                <a:spcPts val="0"/>
              </a:spcBef>
              <a:spcAft>
                <a:spcPts val="0"/>
              </a:spcAft>
              <a:buClr>
                <a:srgbClr val="000000"/>
              </a:buClr>
              <a:buSzPts val="1800"/>
              <a:buFont typeface="Calibri"/>
              <a:buAutoNum type="arabicPeriod"/>
            </a:pPr>
            <a:r>
              <a:rPr b="0" i="0" lang="en-US" sz="1800" u="none" cap="none" strike="noStrike">
                <a:solidFill>
                  <a:srgbClr val="000000"/>
                </a:solidFill>
                <a:latin typeface="Calibri"/>
                <a:ea typeface="Calibri"/>
                <a:cs typeface="Calibri"/>
                <a:sym typeface="Calibri"/>
              </a:rPr>
              <a:t>Se transfiere la disolución a un matraz volumétrico que permite ajustar el volumen final</a:t>
            </a:r>
            <a:endParaRPr b="0" i="0" sz="1800" u="none" cap="none" strike="noStrike">
              <a:solidFill>
                <a:srgbClr val="000000"/>
              </a:solidFill>
              <a:latin typeface="Calibri"/>
              <a:ea typeface="Calibri"/>
              <a:cs typeface="Calibri"/>
              <a:sym typeface="Calibri"/>
            </a:endParaRPr>
          </a:p>
          <a:p>
            <a:pPr indent="-342265" lvl="1" marL="669290" marR="0" rtl="0" algn="l">
              <a:spcBef>
                <a:spcPts val="0"/>
              </a:spcBef>
              <a:spcAft>
                <a:spcPts val="0"/>
              </a:spcAft>
              <a:buClr>
                <a:srgbClr val="000000"/>
              </a:buClr>
              <a:buSzPts val="1800"/>
              <a:buFont typeface="Calibri"/>
              <a:buAutoNum type="arabicPeriod"/>
            </a:pPr>
            <a:r>
              <a:rPr b="0" i="0" lang="en-US" sz="1800" u="none" cap="none" strike="noStrike">
                <a:solidFill>
                  <a:srgbClr val="000000"/>
                </a:solidFill>
                <a:latin typeface="Calibri"/>
                <a:ea typeface="Calibri"/>
                <a:cs typeface="Calibri"/>
                <a:sym typeface="Calibri"/>
              </a:rPr>
              <a:t>Se añade disolvente hasta alcanzar el volumen final de la disolución</a:t>
            </a:r>
            <a:endParaRPr b="0" i="0" sz="1800" u="none" cap="none" strike="noStrike">
              <a:solidFill>
                <a:srgbClr val="000000"/>
              </a:solidFill>
              <a:latin typeface="Calibri"/>
              <a:ea typeface="Calibri"/>
              <a:cs typeface="Calibri"/>
              <a:sym typeface="Calibri"/>
            </a:endParaRPr>
          </a:p>
          <a:p>
            <a:pPr indent="-342265" lvl="1" marL="669290" marR="0" rtl="0" algn="l">
              <a:spcBef>
                <a:spcPts val="0"/>
              </a:spcBef>
              <a:spcAft>
                <a:spcPts val="0"/>
              </a:spcAft>
              <a:buClr>
                <a:srgbClr val="000000"/>
              </a:buClr>
              <a:buSzPts val="1800"/>
              <a:buFont typeface="Calibri"/>
              <a:buAutoNum type="arabicPeriod"/>
            </a:pPr>
            <a:r>
              <a:rPr b="0" i="0" lang="en-US" sz="1800" u="none" cap="none" strike="noStrike">
                <a:solidFill>
                  <a:srgbClr val="000000"/>
                </a:solidFill>
                <a:latin typeface="Calibri"/>
                <a:ea typeface="Calibri"/>
                <a:cs typeface="Calibri"/>
                <a:sym typeface="Calibri"/>
              </a:rPr>
              <a:t>Homogeneizar</a:t>
            </a:r>
            <a:endParaRPr b="0" i="0" sz="1800" u="none" cap="none" strike="noStrike">
              <a:solidFill>
                <a:srgbClr val="000000"/>
              </a:solidFill>
              <a:latin typeface="Calibri"/>
              <a:ea typeface="Calibri"/>
              <a:cs typeface="Calibri"/>
              <a:sym typeface="Calibri"/>
            </a:endParaRPr>
          </a:p>
          <a:p>
            <a:pPr indent="0" lvl="0" marL="0" marR="0" rtl="0" algn="l">
              <a:spcBef>
                <a:spcPts val="35"/>
              </a:spcBef>
              <a:spcAft>
                <a:spcPts val="0"/>
              </a:spcAft>
              <a:buNone/>
            </a:pPr>
            <a:r>
              <a:t/>
            </a:r>
            <a:endParaRPr b="0" i="0" sz="17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nvSpPr>
        <p:spPr>
          <a:xfrm>
            <a:off x="113056" y="65137"/>
            <a:ext cx="7115175" cy="39116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i="0" lang="en-US" sz="2400" u="none" cap="none" strike="noStrike">
                <a:solidFill>
                  <a:srgbClr val="1F4E79"/>
                </a:solidFill>
                <a:latin typeface="Calibri"/>
                <a:ea typeface="Calibri"/>
                <a:cs typeface="Calibri"/>
                <a:sym typeface="Calibri"/>
              </a:rPr>
              <a:t>Composición de las disoluciones: formas de expresión</a:t>
            </a:r>
            <a:endParaRPr b="0" i="0" sz="2400" u="none" cap="none" strike="noStrike">
              <a:solidFill>
                <a:srgbClr val="000000"/>
              </a:solidFill>
              <a:latin typeface="Calibri"/>
              <a:ea typeface="Calibri"/>
              <a:cs typeface="Calibri"/>
              <a:sym typeface="Calibri"/>
            </a:endParaRPr>
          </a:p>
        </p:txBody>
      </p:sp>
      <p:sp>
        <p:nvSpPr>
          <p:cNvPr id="187" name="Google Shape;187;p31"/>
          <p:cNvSpPr txBox="1"/>
          <p:nvPr/>
        </p:nvSpPr>
        <p:spPr>
          <a:xfrm>
            <a:off x="1905381" y="893692"/>
            <a:ext cx="2506345" cy="299720"/>
          </a:xfrm>
          <a:prstGeom prst="rect">
            <a:avLst/>
          </a:prstGeom>
          <a:noFill/>
          <a:ln>
            <a:noFill/>
          </a:ln>
        </p:spPr>
        <p:txBody>
          <a:bodyPr anchorCtr="0" anchor="t" bIns="0" lIns="0" spcFirstLastPara="1" rIns="0" wrap="square" tIns="12700">
            <a:spAutoFit/>
          </a:bodyPr>
          <a:lstStyle/>
          <a:p>
            <a:pPr indent="-285115" lvl="0" marL="323215" marR="0" rtl="0" algn="l">
              <a:spcBef>
                <a:spcPts val="0"/>
              </a:spcBef>
              <a:spcAft>
                <a:spcPts val="0"/>
              </a:spcAft>
              <a:buClr>
                <a:srgbClr val="000000"/>
              </a:buClr>
              <a:buSzPts val="1800"/>
              <a:buFont typeface="Noto Sans Symbols"/>
              <a:buChar char="▪"/>
            </a:pPr>
            <a:r>
              <a:rPr b="1" i="0" lang="en-US" sz="1800" u="none" cap="none" strike="noStrike">
                <a:solidFill>
                  <a:srgbClr val="000000"/>
                </a:solidFill>
                <a:latin typeface="Calibri"/>
                <a:ea typeface="Calibri"/>
                <a:cs typeface="Calibri"/>
                <a:sym typeface="Calibri"/>
              </a:rPr>
              <a:t>Molaridad (M; mol L</a:t>
            </a:r>
            <a:r>
              <a:rPr b="1" baseline="30000" i="0" lang="en-US" sz="1800" u="none" cap="none" strike="noStrike">
                <a:solidFill>
                  <a:srgbClr val="000000"/>
                </a:solidFill>
                <a:latin typeface="Calibri"/>
                <a:ea typeface="Calibri"/>
                <a:cs typeface="Calibri"/>
                <a:sym typeface="Calibri"/>
              </a:rPr>
              <a:t>-1</a:t>
            </a:r>
            <a:r>
              <a:rPr b="1" i="0" lang="en-US" sz="1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188" name="Google Shape;188;p31"/>
          <p:cNvSpPr txBox="1"/>
          <p:nvPr/>
        </p:nvSpPr>
        <p:spPr>
          <a:xfrm>
            <a:off x="4648835" y="914084"/>
            <a:ext cx="387350"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0" i="0" lang="en-US" sz="1800" u="none" cap="none" strike="noStrike">
                <a:solidFill>
                  <a:srgbClr val="000000"/>
                </a:solidFill>
                <a:latin typeface="Calibri"/>
                <a:ea typeface="Calibri"/>
                <a:cs typeface="Calibri"/>
                <a:sym typeface="Calibri"/>
              </a:rPr>
              <a:t>M =</a:t>
            </a:r>
            <a:endParaRPr b="0" i="0" sz="1800" u="none" cap="none" strike="noStrike">
              <a:solidFill>
                <a:srgbClr val="000000"/>
              </a:solidFill>
              <a:latin typeface="Calibri"/>
              <a:ea typeface="Calibri"/>
              <a:cs typeface="Calibri"/>
              <a:sym typeface="Calibri"/>
            </a:endParaRPr>
          </a:p>
        </p:txBody>
      </p:sp>
      <p:sp>
        <p:nvSpPr>
          <p:cNvPr id="189" name="Google Shape;189;p31"/>
          <p:cNvSpPr/>
          <p:nvPr/>
        </p:nvSpPr>
        <p:spPr>
          <a:xfrm>
            <a:off x="5114163" y="1082994"/>
            <a:ext cx="2101850" cy="14604"/>
          </a:xfrm>
          <a:custGeom>
            <a:rect b="b" l="l" r="r" t="t"/>
            <a:pathLst>
              <a:path extrusionOk="0" h="14605" w="2101850">
                <a:moveTo>
                  <a:pt x="2101596" y="0"/>
                </a:moveTo>
                <a:lnTo>
                  <a:pt x="0" y="0"/>
                </a:lnTo>
                <a:lnTo>
                  <a:pt x="0" y="14478"/>
                </a:lnTo>
                <a:lnTo>
                  <a:pt x="2101596" y="14478"/>
                </a:lnTo>
                <a:lnTo>
                  <a:pt x="210159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31"/>
          <p:cNvSpPr txBox="1"/>
          <p:nvPr/>
        </p:nvSpPr>
        <p:spPr>
          <a:xfrm>
            <a:off x="5249291" y="741110"/>
            <a:ext cx="1831975"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libri"/>
                <a:ea typeface="Calibri"/>
                <a:cs typeface="Calibri"/>
                <a:sym typeface="Calibri"/>
              </a:rPr>
              <a:t>moles soluto </a:t>
            </a:r>
            <a:r>
              <a:rPr lang="en-US" sz="1800">
                <a:solidFill>
                  <a:srgbClr val="000000"/>
                </a:solidFill>
                <a:latin typeface="Cambria Math"/>
                <a:ea typeface="Cambria Math"/>
                <a:cs typeface="Cambria Math"/>
                <a:sym typeface="Cambria Math"/>
              </a:rPr>
              <a:t>(mol)</a:t>
            </a:r>
            <a:endParaRPr sz="1800">
              <a:solidFill>
                <a:srgbClr val="000000"/>
              </a:solidFill>
              <a:latin typeface="Cambria Math"/>
              <a:ea typeface="Cambria Math"/>
              <a:cs typeface="Cambria Math"/>
              <a:sym typeface="Cambria Math"/>
            </a:endParaRPr>
          </a:p>
        </p:txBody>
      </p:sp>
      <p:sp>
        <p:nvSpPr>
          <p:cNvPr id="191" name="Google Shape;191;p31"/>
          <p:cNvSpPr txBox="1"/>
          <p:nvPr/>
        </p:nvSpPr>
        <p:spPr>
          <a:xfrm>
            <a:off x="5101616" y="1067322"/>
            <a:ext cx="2126615"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libri"/>
                <a:ea typeface="Calibri"/>
                <a:cs typeface="Calibri"/>
                <a:sym typeface="Calibri"/>
              </a:rPr>
              <a:t>volumen disolución (L)</a:t>
            </a:r>
            <a:endParaRPr sz="1800">
              <a:solidFill>
                <a:srgbClr val="000000"/>
              </a:solidFill>
              <a:latin typeface="Calibri"/>
              <a:ea typeface="Calibri"/>
              <a:cs typeface="Calibri"/>
              <a:sym typeface="Calibri"/>
            </a:endParaRPr>
          </a:p>
        </p:txBody>
      </p:sp>
      <p:sp>
        <p:nvSpPr>
          <p:cNvPr id="192" name="Google Shape;192;p31"/>
          <p:cNvSpPr txBox="1"/>
          <p:nvPr/>
        </p:nvSpPr>
        <p:spPr>
          <a:xfrm>
            <a:off x="1905380" y="1728152"/>
            <a:ext cx="2588400" cy="289800"/>
          </a:xfrm>
          <a:prstGeom prst="rect">
            <a:avLst/>
          </a:prstGeom>
          <a:noFill/>
          <a:ln>
            <a:noFill/>
          </a:ln>
        </p:spPr>
        <p:txBody>
          <a:bodyPr anchorCtr="0" anchor="t" bIns="0" lIns="0" spcFirstLastPara="1" rIns="0" wrap="square" tIns="12700">
            <a:spAutoFit/>
          </a:bodyPr>
          <a:lstStyle/>
          <a:p>
            <a:pPr indent="-285115" lvl="0" marL="323215" marR="0" rtl="0" algn="l">
              <a:spcBef>
                <a:spcPts val="0"/>
              </a:spcBef>
              <a:spcAft>
                <a:spcPts val="0"/>
              </a:spcAft>
              <a:buClr>
                <a:srgbClr val="000000"/>
              </a:buClr>
              <a:buSzPts val="1800"/>
              <a:buFont typeface="Noto Sans Symbols"/>
              <a:buChar char="▪"/>
            </a:pPr>
            <a:r>
              <a:rPr b="1" lang="en-US" sz="1800">
                <a:solidFill>
                  <a:srgbClr val="000000"/>
                </a:solidFill>
                <a:latin typeface="Calibri"/>
                <a:ea typeface="Calibri"/>
                <a:cs typeface="Calibri"/>
                <a:sym typeface="Calibri"/>
              </a:rPr>
              <a:t>Molalidad (m; mol kg</a:t>
            </a:r>
            <a:r>
              <a:rPr b="1" baseline="30000" lang="en-US" sz="1800">
                <a:solidFill>
                  <a:srgbClr val="000000"/>
                </a:solidFill>
                <a:latin typeface="Calibri"/>
                <a:ea typeface="Calibri"/>
                <a:cs typeface="Calibri"/>
                <a:sym typeface="Calibri"/>
              </a:rPr>
              <a:t>-1</a:t>
            </a:r>
            <a:r>
              <a:rPr b="1" lang="en-US" sz="1800">
                <a:solidFill>
                  <a:srgbClr val="000000"/>
                </a:solidFill>
                <a:latin typeface="Calibri"/>
                <a:ea typeface="Calibri"/>
                <a:cs typeface="Calibri"/>
                <a:sym typeface="Calibri"/>
              </a:rPr>
              <a:t>)</a:t>
            </a:r>
            <a:endParaRPr sz="1800">
              <a:solidFill>
                <a:srgbClr val="000000"/>
              </a:solidFill>
              <a:latin typeface="Calibri"/>
              <a:ea typeface="Calibri"/>
              <a:cs typeface="Calibri"/>
              <a:sym typeface="Calibri"/>
            </a:endParaRPr>
          </a:p>
        </p:txBody>
      </p:sp>
      <p:sp>
        <p:nvSpPr>
          <p:cNvPr id="193" name="Google Shape;193;p31"/>
          <p:cNvSpPr txBox="1"/>
          <p:nvPr/>
        </p:nvSpPr>
        <p:spPr>
          <a:xfrm>
            <a:off x="4683125" y="1768549"/>
            <a:ext cx="3822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mbria Math"/>
                <a:ea typeface="Cambria Math"/>
                <a:cs typeface="Cambria Math"/>
                <a:sym typeface="Cambria Math"/>
              </a:rPr>
              <a:t>m </a:t>
            </a:r>
            <a:r>
              <a:rPr lang="en-US" sz="1800">
                <a:solidFill>
                  <a:srgbClr val="000000"/>
                </a:solidFill>
                <a:latin typeface="Calibri"/>
                <a:ea typeface="Calibri"/>
                <a:cs typeface="Calibri"/>
                <a:sym typeface="Calibri"/>
              </a:rPr>
              <a:t>=</a:t>
            </a:r>
            <a:endParaRPr sz="1800">
              <a:solidFill>
                <a:srgbClr val="000000"/>
              </a:solidFill>
              <a:latin typeface="Calibri"/>
              <a:ea typeface="Calibri"/>
              <a:cs typeface="Calibri"/>
              <a:sym typeface="Calibri"/>
            </a:endParaRPr>
          </a:p>
        </p:txBody>
      </p:sp>
      <p:sp>
        <p:nvSpPr>
          <p:cNvPr id="194" name="Google Shape;194;p31"/>
          <p:cNvSpPr/>
          <p:nvPr/>
        </p:nvSpPr>
        <p:spPr>
          <a:xfrm>
            <a:off x="5143880" y="1937459"/>
            <a:ext cx="1910079" cy="14605"/>
          </a:xfrm>
          <a:custGeom>
            <a:rect b="b" l="l" r="r" t="t"/>
            <a:pathLst>
              <a:path extrusionOk="0" h="14605" w="1910079">
                <a:moveTo>
                  <a:pt x="1909572" y="0"/>
                </a:moveTo>
                <a:lnTo>
                  <a:pt x="0" y="0"/>
                </a:lnTo>
                <a:lnTo>
                  <a:pt x="0" y="14478"/>
                </a:lnTo>
                <a:lnTo>
                  <a:pt x="1909572" y="14478"/>
                </a:lnTo>
                <a:lnTo>
                  <a:pt x="190957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31"/>
          <p:cNvSpPr txBox="1"/>
          <p:nvPr/>
        </p:nvSpPr>
        <p:spPr>
          <a:xfrm>
            <a:off x="5182997" y="1595575"/>
            <a:ext cx="18321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libri"/>
                <a:ea typeface="Calibri"/>
                <a:cs typeface="Calibri"/>
                <a:sym typeface="Calibri"/>
              </a:rPr>
              <a:t>moles soluto </a:t>
            </a:r>
            <a:r>
              <a:rPr lang="en-US" sz="1800">
                <a:solidFill>
                  <a:srgbClr val="000000"/>
                </a:solidFill>
                <a:latin typeface="Cambria Math"/>
                <a:ea typeface="Cambria Math"/>
                <a:cs typeface="Cambria Math"/>
                <a:sym typeface="Cambria Math"/>
              </a:rPr>
              <a:t>(mol)</a:t>
            </a:r>
            <a:endParaRPr sz="1800">
              <a:solidFill>
                <a:srgbClr val="000000"/>
              </a:solidFill>
              <a:latin typeface="Cambria Math"/>
              <a:ea typeface="Cambria Math"/>
              <a:cs typeface="Cambria Math"/>
              <a:sym typeface="Cambria Math"/>
            </a:endParaRPr>
          </a:p>
        </p:txBody>
      </p:sp>
      <p:sp>
        <p:nvSpPr>
          <p:cNvPr id="196" name="Google Shape;196;p31"/>
          <p:cNvSpPr txBox="1"/>
          <p:nvPr/>
        </p:nvSpPr>
        <p:spPr>
          <a:xfrm>
            <a:off x="5131333" y="1921787"/>
            <a:ext cx="19341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libri"/>
                <a:ea typeface="Calibri"/>
                <a:cs typeface="Calibri"/>
                <a:sym typeface="Calibri"/>
              </a:rPr>
              <a:t>masa disolvente (kg)</a:t>
            </a:r>
            <a:endParaRPr sz="1800">
              <a:solidFill>
                <a:srgbClr val="000000"/>
              </a:solidFill>
              <a:latin typeface="Calibri"/>
              <a:ea typeface="Calibri"/>
              <a:cs typeface="Calibri"/>
              <a:sym typeface="Calibri"/>
            </a:endParaRPr>
          </a:p>
        </p:txBody>
      </p:sp>
      <p:sp>
        <p:nvSpPr>
          <p:cNvPr id="197" name="Google Shape;197;p31"/>
          <p:cNvSpPr txBox="1"/>
          <p:nvPr/>
        </p:nvSpPr>
        <p:spPr>
          <a:xfrm>
            <a:off x="1930780" y="2481913"/>
            <a:ext cx="1326000" cy="289800"/>
          </a:xfrm>
          <a:prstGeom prst="rect">
            <a:avLst/>
          </a:prstGeom>
          <a:noFill/>
          <a:ln>
            <a:noFill/>
          </a:ln>
        </p:spPr>
        <p:txBody>
          <a:bodyPr anchorCtr="0" anchor="t" bIns="0" lIns="0" spcFirstLastPara="1" rIns="0" wrap="square" tIns="12700">
            <a:spAutoFit/>
          </a:bodyPr>
          <a:lstStyle/>
          <a:p>
            <a:pPr indent="-285115" lvl="0" marL="297815" marR="0" rtl="0" algn="l">
              <a:spcBef>
                <a:spcPts val="0"/>
              </a:spcBef>
              <a:spcAft>
                <a:spcPts val="0"/>
              </a:spcAft>
              <a:buClr>
                <a:srgbClr val="000000"/>
              </a:buClr>
              <a:buSzPts val="1800"/>
              <a:buFont typeface="Noto Sans Symbols"/>
              <a:buChar char="▪"/>
            </a:pPr>
            <a:r>
              <a:rPr b="1" lang="en-US" sz="1800">
                <a:solidFill>
                  <a:srgbClr val="000000"/>
                </a:solidFill>
                <a:latin typeface="Calibri"/>
                <a:ea typeface="Calibri"/>
                <a:cs typeface="Calibri"/>
                <a:sym typeface="Calibri"/>
              </a:rPr>
              <a:t>Porcentaje</a:t>
            </a:r>
            <a:endParaRPr sz="1800">
              <a:solidFill>
                <a:srgbClr val="000000"/>
              </a:solidFill>
              <a:latin typeface="Calibri"/>
              <a:ea typeface="Calibri"/>
              <a:cs typeface="Calibri"/>
              <a:sym typeface="Calibri"/>
            </a:endParaRPr>
          </a:p>
        </p:txBody>
      </p:sp>
      <p:sp>
        <p:nvSpPr>
          <p:cNvPr id="198" name="Google Shape;198;p31"/>
          <p:cNvSpPr txBox="1"/>
          <p:nvPr/>
        </p:nvSpPr>
        <p:spPr>
          <a:xfrm>
            <a:off x="2365578" y="3049756"/>
            <a:ext cx="25884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000000"/>
                </a:solidFill>
                <a:latin typeface="Calibri"/>
                <a:ea typeface="Calibri"/>
                <a:cs typeface="Calibri"/>
                <a:sym typeface="Calibri"/>
              </a:rPr>
              <a:t>Porcentaje en peso, %(p/p)</a:t>
            </a:r>
            <a:endParaRPr sz="1800">
              <a:solidFill>
                <a:srgbClr val="000000"/>
              </a:solidFill>
              <a:latin typeface="Calibri"/>
              <a:ea typeface="Calibri"/>
              <a:cs typeface="Calibri"/>
              <a:sym typeface="Calibri"/>
            </a:endParaRPr>
          </a:p>
        </p:txBody>
      </p:sp>
      <p:sp>
        <p:nvSpPr>
          <p:cNvPr id="199" name="Google Shape;199;p31"/>
          <p:cNvSpPr txBox="1"/>
          <p:nvPr/>
        </p:nvSpPr>
        <p:spPr>
          <a:xfrm>
            <a:off x="5367782" y="3262934"/>
            <a:ext cx="39840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mbria Math"/>
                <a:ea typeface="Cambria Math"/>
                <a:cs typeface="Cambria Math"/>
                <a:sym typeface="Cambria Math"/>
              </a:rPr>
              <a:t>masa disolución (soluto+disolvente) (g)</a:t>
            </a:r>
            <a:endParaRPr sz="1800">
              <a:solidFill>
                <a:srgbClr val="000000"/>
              </a:solidFill>
              <a:latin typeface="Cambria Math"/>
              <a:ea typeface="Cambria Math"/>
              <a:cs typeface="Cambria Math"/>
              <a:sym typeface="Cambria Math"/>
            </a:endParaRPr>
          </a:p>
        </p:txBody>
      </p:sp>
      <p:sp>
        <p:nvSpPr>
          <p:cNvPr id="200" name="Google Shape;200;p31"/>
          <p:cNvSpPr txBox="1"/>
          <p:nvPr/>
        </p:nvSpPr>
        <p:spPr>
          <a:xfrm>
            <a:off x="5157977" y="2855200"/>
            <a:ext cx="2506500" cy="428400"/>
          </a:xfrm>
          <a:prstGeom prst="rect">
            <a:avLst/>
          </a:prstGeom>
          <a:noFill/>
          <a:ln>
            <a:noFill/>
          </a:ln>
        </p:spPr>
        <p:txBody>
          <a:bodyPr anchorCtr="0" anchor="t" bIns="0" lIns="0" spcFirstLastPara="1" rIns="0" wrap="square" tIns="12700">
            <a:spAutoFit/>
          </a:bodyPr>
          <a:lstStyle/>
          <a:p>
            <a:pPr indent="0" lvl="0" marL="38100" marR="0" rtl="0" algn="l">
              <a:spcBef>
                <a:spcPts val="0"/>
              </a:spcBef>
              <a:spcAft>
                <a:spcPts val="0"/>
              </a:spcAft>
              <a:buNone/>
            </a:pPr>
            <a:r>
              <a:rPr baseline="-25000" lang="en-US" sz="2700">
                <a:solidFill>
                  <a:srgbClr val="000000"/>
                </a:solidFill>
                <a:latin typeface="Cambria Math"/>
                <a:ea typeface="Cambria Math"/>
                <a:cs typeface="Cambria Math"/>
                <a:sym typeface="Cambria Math"/>
              </a:rPr>
              <a:t>= </a:t>
            </a:r>
            <a:r>
              <a:rPr lang="en-US" sz="1800" u="sng">
                <a:solidFill>
                  <a:srgbClr val="000000"/>
                </a:solidFill>
                <a:latin typeface="Cambria Math"/>
                <a:ea typeface="Cambria Math"/>
                <a:cs typeface="Cambria Math"/>
                <a:sym typeface="Cambria Math"/>
              </a:rPr>
              <a:t>	masa soluto (g)	</a:t>
            </a:r>
            <a:endParaRPr/>
          </a:p>
        </p:txBody>
      </p:sp>
      <p:sp>
        <p:nvSpPr>
          <p:cNvPr id="201" name="Google Shape;201;p31"/>
          <p:cNvSpPr txBox="1"/>
          <p:nvPr/>
        </p:nvSpPr>
        <p:spPr>
          <a:xfrm>
            <a:off x="2365628" y="3896851"/>
            <a:ext cx="29412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000000"/>
                </a:solidFill>
                <a:latin typeface="Calibri"/>
                <a:ea typeface="Calibri"/>
                <a:cs typeface="Calibri"/>
                <a:sym typeface="Calibri"/>
              </a:rPr>
              <a:t>Porcentaje en volumen, %(v/v)</a:t>
            </a:r>
            <a:endParaRPr sz="1800">
              <a:solidFill>
                <a:srgbClr val="000000"/>
              </a:solidFill>
              <a:latin typeface="Calibri"/>
              <a:ea typeface="Calibri"/>
              <a:cs typeface="Calibri"/>
              <a:sym typeface="Calibri"/>
            </a:endParaRPr>
          </a:p>
        </p:txBody>
      </p:sp>
      <p:sp>
        <p:nvSpPr>
          <p:cNvPr id="202" name="Google Shape;202;p31"/>
          <p:cNvSpPr txBox="1"/>
          <p:nvPr/>
        </p:nvSpPr>
        <p:spPr>
          <a:xfrm>
            <a:off x="5712054" y="4019166"/>
            <a:ext cx="23043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mbria Math"/>
                <a:ea typeface="Cambria Math"/>
                <a:cs typeface="Cambria Math"/>
                <a:sym typeface="Cambria Math"/>
              </a:rPr>
              <a:t>volumen disolución (L)</a:t>
            </a:r>
            <a:endParaRPr sz="1800">
              <a:solidFill>
                <a:srgbClr val="000000"/>
              </a:solidFill>
              <a:latin typeface="Cambria Math"/>
              <a:ea typeface="Cambria Math"/>
              <a:cs typeface="Cambria Math"/>
              <a:sym typeface="Cambria Math"/>
            </a:endParaRPr>
          </a:p>
        </p:txBody>
      </p:sp>
      <p:sp>
        <p:nvSpPr>
          <p:cNvPr id="203" name="Google Shape;203;p31"/>
          <p:cNvSpPr txBox="1"/>
          <p:nvPr/>
        </p:nvSpPr>
        <p:spPr>
          <a:xfrm>
            <a:off x="5426975" y="3687625"/>
            <a:ext cx="3450300" cy="474600"/>
          </a:xfrm>
          <a:prstGeom prst="rect">
            <a:avLst/>
          </a:prstGeom>
          <a:noFill/>
          <a:ln>
            <a:noFill/>
          </a:ln>
        </p:spPr>
        <p:txBody>
          <a:bodyPr anchorCtr="0" anchor="t" bIns="0" lIns="0" spcFirstLastPara="1" rIns="0" wrap="square" tIns="12700">
            <a:spAutoFit/>
          </a:bodyPr>
          <a:lstStyle/>
          <a:p>
            <a:pPr indent="0" lvl="0" marL="38100" marR="0" rtl="0" algn="l">
              <a:spcBef>
                <a:spcPts val="0"/>
              </a:spcBef>
              <a:spcAft>
                <a:spcPts val="0"/>
              </a:spcAft>
              <a:buNone/>
            </a:pPr>
            <a:r>
              <a:rPr baseline="-25000" lang="en-US" sz="2700">
                <a:solidFill>
                  <a:srgbClr val="000000"/>
                </a:solidFill>
                <a:latin typeface="Cambria Math"/>
                <a:ea typeface="Cambria Math"/>
                <a:cs typeface="Cambria Math"/>
                <a:sym typeface="Cambria Math"/>
              </a:rPr>
              <a:t>= </a:t>
            </a:r>
            <a:r>
              <a:rPr lang="en-US" sz="1800" u="sng">
                <a:solidFill>
                  <a:srgbClr val="000000"/>
                </a:solidFill>
                <a:latin typeface="Cambria Math"/>
                <a:ea typeface="Cambria Math"/>
                <a:cs typeface="Cambria Math"/>
                <a:sym typeface="Cambria Math"/>
              </a:rPr>
              <a:t>	volumen soluto (L)	</a:t>
            </a:r>
            <a:r>
              <a:rPr lang="en-US" sz="1800">
                <a:solidFill>
                  <a:srgbClr val="000000"/>
                </a:solidFill>
                <a:latin typeface="Cambria Math"/>
                <a:ea typeface="Cambria Math"/>
                <a:cs typeface="Cambria Math"/>
                <a:sym typeface="Cambria Math"/>
              </a:rPr>
              <a:t> </a:t>
            </a:r>
            <a:r>
              <a:rPr baseline="-25000" lang="en-US" sz="3000">
                <a:latin typeface="Cambria Math"/>
                <a:ea typeface="Cambria Math"/>
                <a:cs typeface="Cambria Math"/>
                <a:sym typeface="Cambria Math"/>
              </a:rPr>
              <a:t>*</a:t>
            </a:r>
            <a:r>
              <a:rPr baseline="-25000" lang="en-US" sz="3000">
                <a:solidFill>
                  <a:srgbClr val="000000"/>
                </a:solidFill>
                <a:latin typeface="Cambria Math"/>
                <a:ea typeface="Cambria Math"/>
                <a:cs typeface="Cambria Math"/>
                <a:sym typeface="Cambria Math"/>
              </a:rPr>
              <a:t>100</a:t>
            </a:r>
            <a:endParaRPr baseline="-25000" sz="3000">
              <a:solidFill>
                <a:srgbClr val="000000"/>
              </a:solidFill>
              <a:latin typeface="Cambria Math"/>
              <a:ea typeface="Cambria Math"/>
              <a:cs typeface="Cambria Math"/>
              <a:sym typeface="Cambria Math"/>
            </a:endParaRPr>
          </a:p>
        </p:txBody>
      </p:sp>
      <p:sp>
        <p:nvSpPr>
          <p:cNvPr id="204" name="Google Shape;204;p31"/>
          <p:cNvSpPr txBox="1"/>
          <p:nvPr/>
        </p:nvSpPr>
        <p:spPr>
          <a:xfrm>
            <a:off x="2365629" y="4699246"/>
            <a:ext cx="35034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000000"/>
                </a:solidFill>
                <a:latin typeface="Calibri"/>
                <a:ea typeface="Calibri"/>
                <a:cs typeface="Calibri"/>
                <a:sym typeface="Calibri"/>
              </a:rPr>
              <a:t>Porcentaje en peso/volumen, %(p/v)</a:t>
            </a:r>
            <a:endParaRPr sz="1800">
              <a:solidFill>
                <a:srgbClr val="000000"/>
              </a:solidFill>
              <a:latin typeface="Calibri"/>
              <a:ea typeface="Calibri"/>
              <a:cs typeface="Calibri"/>
              <a:sym typeface="Calibri"/>
            </a:endParaRPr>
          </a:p>
        </p:txBody>
      </p:sp>
      <p:sp>
        <p:nvSpPr>
          <p:cNvPr id="205" name="Google Shape;205;p31"/>
          <p:cNvSpPr txBox="1"/>
          <p:nvPr/>
        </p:nvSpPr>
        <p:spPr>
          <a:xfrm>
            <a:off x="6274550" y="4926325"/>
            <a:ext cx="30771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mbria Math"/>
                <a:ea typeface="Cambria Math"/>
                <a:cs typeface="Cambria Math"/>
                <a:sym typeface="Cambria Math"/>
              </a:rPr>
              <a:t>volumen disolución (mL)</a:t>
            </a:r>
            <a:endParaRPr sz="1800">
              <a:solidFill>
                <a:srgbClr val="000000"/>
              </a:solidFill>
              <a:latin typeface="Cambria Math"/>
              <a:ea typeface="Cambria Math"/>
              <a:cs typeface="Cambria Math"/>
              <a:sym typeface="Cambria Math"/>
            </a:endParaRPr>
          </a:p>
        </p:txBody>
      </p:sp>
      <p:sp>
        <p:nvSpPr>
          <p:cNvPr id="206" name="Google Shape;206;p31"/>
          <p:cNvSpPr txBox="1"/>
          <p:nvPr/>
        </p:nvSpPr>
        <p:spPr>
          <a:xfrm>
            <a:off x="5945125" y="4520050"/>
            <a:ext cx="2588400" cy="428400"/>
          </a:xfrm>
          <a:prstGeom prst="rect">
            <a:avLst/>
          </a:prstGeom>
          <a:noFill/>
          <a:ln>
            <a:noFill/>
          </a:ln>
        </p:spPr>
        <p:txBody>
          <a:bodyPr anchorCtr="0" anchor="t" bIns="0" lIns="0" spcFirstLastPara="1" rIns="0" wrap="square" tIns="12700">
            <a:spAutoFit/>
          </a:bodyPr>
          <a:lstStyle/>
          <a:p>
            <a:pPr indent="0" lvl="0" marL="38100" marR="0" rtl="0" algn="l">
              <a:spcBef>
                <a:spcPts val="0"/>
              </a:spcBef>
              <a:spcAft>
                <a:spcPts val="0"/>
              </a:spcAft>
              <a:buNone/>
            </a:pPr>
            <a:r>
              <a:rPr baseline="-25000" lang="en-US" sz="2700">
                <a:solidFill>
                  <a:srgbClr val="000000"/>
                </a:solidFill>
                <a:latin typeface="Cambria Math"/>
                <a:ea typeface="Cambria Math"/>
                <a:cs typeface="Cambria Math"/>
                <a:sym typeface="Cambria Math"/>
              </a:rPr>
              <a:t>= </a:t>
            </a:r>
            <a:r>
              <a:rPr lang="en-US" sz="1800" u="sng">
                <a:solidFill>
                  <a:srgbClr val="000000"/>
                </a:solidFill>
                <a:latin typeface="Cambria Math"/>
                <a:ea typeface="Cambria Math"/>
                <a:cs typeface="Cambria Math"/>
                <a:sym typeface="Cambria Math"/>
              </a:rPr>
              <a:t>	masa soluto (g)</a:t>
            </a:r>
            <a:endParaRPr/>
          </a:p>
        </p:txBody>
      </p:sp>
      <p:sp>
        <p:nvSpPr>
          <p:cNvPr id="207" name="Google Shape;207;p31"/>
          <p:cNvSpPr txBox="1"/>
          <p:nvPr/>
        </p:nvSpPr>
        <p:spPr>
          <a:xfrm>
            <a:off x="8410175" y="4775450"/>
            <a:ext cx="2588400" cy="428400"/>
          </a:xfrm>
          <a:prstGeom prst="rect">
            <a:avLst/>
          </a:prstGeom>
          <a:noFill/>
          <a:ln>
            <a:noFill/>
          </a:ln>
        </p:spPr>
        <p:txBody>
          <a:bodyPr anchorCtr="0" anchor="t" bIns="0" lIns="0" spcFirstLastPara="1" rIns="0" wrap="square" tIns="12700">
            <a:spAutoFit/>
          </a:bodyPr>
          <a:lstStyle/>
          <a:p>
            <a:pPr indent="0" lvl="0" marL="38100" marR="0" rtl="0" algn="l">
              <a:spcBef>
                <a:spcPts val="0"/>
              </a:spcBef>
              <a:spcAft>
                <a:spcPts val="0"/>
              </a:spcAft>
              <a:buNone/>
            </a:pPr>
            <a:r>
              <a:rPr baseline="-25000" lang="en-US" sz="2700">
                <a:solidFill>
                  <a:srgbClr val="000000"/>
                </a:solidFill>
                <a:latin typeface="Cambria Math"/>
                <a:ea typeface="Cambria Math"/>
                <a:cs typeface="Cambria Math"/>
                <a:sym typeface="Cambria Math"/>
              </a:rPr>
              <a:t> </a:t>
            </a:r>
            <a:r>
              <a:rPr lang="en-US" sz="1800" u="sng">
                <a:solidFill>
                  <a:srgbClr val="000000"/>
                </a:solidFill>
                <a:latin typeface="Cambria Math"/>
                <a:ea typeface="Cambria Math"/>
                <a:cs typeface="Cambria Math"/>
                <a:sym typeface="Cambria Math"/>
              </a:rPr>
              <a:t>	</a:t>
            </a:r>
            <a:r>
              <a:rPr lang="en-US" sz="1800">
                <a:latin typeface="Cambria Math"/>
                <a:ea typeface="Cambria Math"/>
                <a:cs typeface="Cambria Math"/>
                <a:sym typeface="Cambria Math"/>
              </a:rPr>
              <a:t>*100</a:t>
            </a:r>
            <a:endParaRPr/>
          </a:p>
        </p:txBody>
      </p:sp>
      <p:sp>
        <p:nvSpPr>
          <p:cNvPr id="208" name="Google Shape;208;p31"/>
          <p:cNvSpPr txBox="1"/>
          <p:nvPr/>
        </p:nvSpPr>
        <p:spPr>
          <a:xfrm>
            <a:off x="9197575" y="2985413"/>
            <a:ext cx="2588400" cy="428400"/>
          </a:xfrm>
          <a:prstGeom prst="rect">
            <a:avLst/>
          </a:prstGeom>
          <a:noFill/>
          <a:ln>
            <a:noFill/>
          </a:ln>
        </p:spPr>
        <p:txBody>
          <a:bodyPr anchorCtr="0" anchor="t" bIns="0" lIns="0" spcFirstLastPara="1" rIns="0" wrap="square" tIns="12700">
            <a:spAutoFit/>
          </a:bodyPr>
          <a:lstStyle/>
          <a:p>
            <a:pPr indent="0" lvl="0" marL="38100" marR="0" rtl="0" algn="l">
              <a:spcBef>
                <a:spcPts val="0"/>
              </a:spcBef>
              <a:spcAft>
                <a:spcPts val="0"/>
              </a:spcAft>
              <a:buNone/>
            </a:pPr>
            <a:r>
              <a:rPr baseline="-25000" lang="en-US" sz="2700">
                <a:solidFill>
                  <a:srgbClr val="000000"/>
                </a:solidFill>
                <a:latin typeface="Cambria Math"/>
                <a:ea typeface="Cambria Math"/>
                <a:cs typeface="Cambria Math"/>
                <a:sym typeface="Cambria Math"/>
              </a:rPr>
              <a:t> </a:t>
            </a:r>
            <a:r>
              <a:rPr lang="en-US" sz="1800" u="sng">
                <a:solidFill>
                  <a:srgbClr val="000000"/>
                </a:solidFill>
                <a:latin typeface="Cambria Math"/>
                <a:ea typeface="Cambria Math"/>
                <a:cs typeface="Cambria Math"/>
                <a:sym typeface="Cambria Math"/>
              </a:rPr>
              <a:t>	</a:t>
            </a:r>
            <a:r>
              <a:rPr lang="en-US" sz="1800">
                <a:latin typeface="Cambria Math"/>
                <a:ea typeface="Cambria Math"/>
                <a:cs typeface="Cambria Math"/>
                <a:sym typeface="Cambria Math"/>
              </a:rPr>
              <a:t>*100</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nvSpPr>
        <p:spPr>
          <a:xfrm>
            <a:off x="320841" y="464133"/>
            <a:ext cx="11550300" cy="4903800"/>
          </a:xfrm>
          <a:prstGeom prst="rect">
            <a:avLst/>
          </a:prstGeom>
          <a:noFill/>
          <a:ln>
            <a:noFill/>
          </a:ln>
        </p:spPr>
        <p:txBody>
          <a:bodyPr anchorCtr="0" anchor="t" bIns="0" lIns="0" spcFirstLastPara="1" rIns="0" wrap="square" tIns="223500">
            <a:spAutoFit/>
          </a:bodyPr>
          <a:lstStyle/>
          <a:p>
            <a:pPr indent="-342900" lvl="0" marL="457200" marR="5080" rtl="0" algn="just">
              <a:spcBef>
                <a:spcPts val="0"/>
              </a:spcBef>
              <a:spcAft>
                <a:spcPts val="0"/>
              </a:spcAft>
              <a:buClr>
                <a:srgbClr val="000000"/>
              </a:buClr>
              <a:buSzPts val="1800"/>
              <a:buFont typeface="Calibri"/>
              <a:buChar char="●"/>
            </a:pPr>
            <a:r>
              <a:rPr b="1" i="0" lang="en-US" sz="1800" u="none" cap="none" strike="noStrike">
                <a:solidFill>
                  <a:srgbClr val="000000"/>
                </a:solidFill>
                <a:latin typeface="Calibri"/>
                <a:ea typeface="Calibri"/>
                <a:cs typeface="Calibri"/>
                <a:sym typeface="Calibri"/>
              </a:rPr>
              <a:t>Solubilidad</a:t>
            </a:r>
            <a:r>
              <a:rPr b="0" i="0" lang="en-US" sz="1800" u="none" cap="none" strike="noStrike">
                <a:solidFill>
                  <a:srgbClr val="000000"/>
                </a:solidFill>
                <a:latin typeface="Calibri"/>
                <a:ea typeface="Calibri"/>
                <a:cs typeface="Calibri"/>
                <a:sym typeface="Calibri"/>
              </a:rPr>
              <a:t>: máxima cantidad de soluto que puede disolverse en una determinada cantidad de disolvente a una temperatura específica.</a:t>
            </a:r>
            <a:endParaRPr b="0" i="0" sz="1800" u="none" cap="none" strike="noStrike">
              <a:solidFill>
                <a:srgbClr val="000000"/>
              </a:solidFill>
              <a:latin typeface="Calibri"/>
              <a:ea typeface="Calibri"/>
              <a:cs typeface="Calibri"/>
              <a:sym typeface="Calibri"/>
            </a:endParaRPr>
          </a:p>
          <a:p>
            <a:pPr indent="0" lvl="1" marL="0" marR="0" rtl="0" algn="l">
              <a:spcBef>
                <a:spcPts val="25"/>
              </a:spcBef>
              <a:spcAft>
                <a:spcPts val="0"/>
              </a:spcAft>
              <a:buClr>
                <a:schemeClr val="dk1"/>
              </a:buClr>
              <a:buSzPts val="1750"/>
              <a:buFont typeface="Noto Sans Symbols"/>
              <a:buNone/>
            </a:pPr>
            <a:r>
              <a:t/>
            </a:r>
            <a:endParaRPr sz="1750">
              <a:latin typeface="Calibri"/>
              <a:ea typeface="Calibri"/>
              <a:cs typeface="Calibri"/>
              <a:sym typeface="Calibri"/>
            </a:endParaRPr>
          </a:p>
          <a:p>
            <a:pPr indent="0" lvl="1" marL="0" marR="0" rtl="0" algn="l">
              <a:spcBef>
                <a:spcPts val="25"/>
              </a:spcBef>
              <a:spcAft>
                <a:spcPts val="0"/>
              </a:spcAft>
              <a:buClr>
                <a:schemeClr val="dk1"/>
              </a:buClr>
              <a:buSzPts val="1750"/>
              <a:buFont typeface="Noto Sans Symbols"/>
              <a:buNone/>
            </a:pPr>
            <a:r>
              <a:t/>
            </a:r>
            <a:endParaRPr sz="1750">
              <a:latin typeface="Calibri"/>
              <a:ea typeface="Calibri"/>
              <a:cs typeface="Calibri"/>
              <a:sym typeface="Calibri"/>
            </a:endParaRPr>
          </a:p>
          <a:p>
            <a:pPr indent="0" lvl="1" marL="0" marR="0" rtl="0" algn="l">
              <a:spcBef>
                <a:spcPts val="25"/>
              </a:spcBef>
              <a:spcAft>
                <a:spcPts val="0"/>
              </a:spcAft>
              <a:buClr>
                <a:schemeClr val="dk1"/>
              </a:buClr>
              <a:buSzPts val="1750"/>
              <a:buFont typeface="Noto Sans Symbols"/>
              <a:buNone/>
            </a:pPr>
            <a:r>
              <a:t/>
            </a:r>
            <a:endParaRPr sz="1750">
              <a:latin typeface="Calibri"/>
              <a:ea typeface="Calibri"/>
              <a:cs typeface="Calibri"/>
              <a:sym typeface="Calibri"/>
            </a:endParaRPr>
          </a:p>
          <a:p>
            <a:pPr indent="-265430" lvl="1" marL="451485" marR="5715" rtl="0" algn="just">
              <a:spcBef>
                <a:spcPts val="0"/>
              </a:spcBef>
              <a:spcAft>
                <a:spcPts val="0"/>
              </a:spcAft>
              <a:buClr>
                <a:srgbClr val="000000"/>
              </a:buClr>
              <a:buSzPts val="1800"/>
              <a:buFont typeface="Noto Sans Symbols"/>
              <a:buChar char="▪"/>
            </a:pPr>
            <a:r>
              <a:rPr b="1" i="0" lang="en-US" sz="1800" u="none" cap="none" strike="noStrike">
                <a:solidFill>
                  <a:srgbClr val="000000"/>
                </a:solidFill>
                <a:latin typeface="Calibri"/>
                <a:ea typeface="Calibri"/>
                <a:cs typeface="Calibri"/>
                <a:sym typeface="Calibri"/>
              </a:rPr>
              <a:t>Disolución saturada</a:t>
            </a:r>
            <a:r>
              <a:rPr b="0" i="0" lang="en-US" sz="1800" u="none" cap="none" strike="noStrike">
                <a:solidFill>
                  <a:srgbClr val="000000"/>
                </a:solidFill>
                <a:latin typeface="Calibri"/>
                <a:ea typeface="Calibri"/>
                <a:cs typeface="Calibri"/>
                <a:sym typeface="Calibri"/>
              </a:rPr>
              <a:t>: contiene la máxima cantidad de soluto que se puede disolver en un disolvente específico a una temperatura concreta.</a:t>
            </a:r>
            <a:endParaRPr b="0" i="0" sz="1800" u="none" cap="none" strike="noStrike">
              <a:solidFill>
                <a:srgbClr val="000000"/>
              </a:solidFill>
              <a:latin typeface="Calibri"/>
              <a:ea typeface="Calibri"/>
              <a:cs typeface="Calibri"/>
              <a:sym typeface="Calibri"/>
            </a:endParaRPr>
          </a:p>
          <a:p>
            <a:pPr indent="0" lvl="1" marL="0" marR="0" rtl="0" algn="l">
              <a:spcBef>
                <a:spcPts val="20"/>
              </a:spcBef>
              <a:spcAft>
                <a:spcPts val="0"/>
              </a:spcAft>
              <a:buClr>
                <a:schemeClr val="dk1"/>
              </a:buClr>
              <a:buSzPts val="1750"/>
              <a:buFont typeface="Noto Sans Symbols"/>
              <a:buNone/>
            </a:pPr>
            <a:r>
              <a:t/>
            </a:r>
            <a:endParaRPr b="0" i="0" sz="1750" u="none" cap="none" strike="noStrike">
              <a:solidFill>
                <a:srgbClr val="000000"/>
              </a:solidFill>
              <a:latin typeface="Calibri"/>
              <a:ea typeface="Calibri"/>
              <a:cs typeface="Calibri"/>
              <a:sym typeface="Calibri"/>
            </a:endParaRPr>
          </a:p>
          <a:p>
            <a:pPr indent="-266065" lvl="1" marL="451485" marR="5715" rtl="0" algn="just">
              <a:spcBef>
                <a:spcPts val="5"/>
              </a:spcBef>
              <a:spcAft>
                <a:spcPts val="0"/>
              </a:spcAft>
              <a:buClr>
                <a:srgbClr val="000000"/>
              </a:buClr>
              <a:buSzPts val="1800"/>
              <a:buFont typeface="Noto Sans Symbols"/>
              <a:buChar char="▪"/>
            </a:pPr>
            <a:r>
              <a:rPr b="1" i="0" lang="en-US" sz="1800" u="none" cap="none" strike="noStrike">
                <a:solidFill>
                  <a:srgbClr val="000000"/>
                </a:solidFill>
                <a:latin typeface="Calibri"/>
                <a:ea typeface="Calibri"/>
                <a:cs typeface="Calibri"/>
                <a:sym typeface="Calibri"/>
              </a:rPr>
              <a:t>Disolución no saturada</a:t>
            </a:r>
            <a:r>
              <a:rPr b="0" i="0" lang="en-US" sz="1800" u="none" cap="none" strike="noStrike">
                <a:solidFill>
                  <a:srgbClr val="000000"/>
                </a:solidFill>
                <a:latin typeface="Calibri"/>
                <a:ea typeface="Calibri"/>
                <a:cs typeface="Calibri"/>
                <a:sym typeface="Calibri"/>
              </a:rPr>
              <a:t>: la cantidad de soluto es menor que la que se puede disolver en un disolvente específico a una temperatura concreta. Todavía se puede disolver más soluto en las mismas condiciones.</a:t>
            </a:r>
            <a:endParaRPr b="0" i="0" sz="1800" u="none" cap="none" strike="noStrike">
              <a:solidFill>
                <a:srgbClr val="000000"/>
              </a:solidFill>
              <a:latin typeface="Calibri"/>
              <a:ea typeface="Calibri"/>
              <a:cs typeface="Calibri"/>
              <a:sym typeface="Calibri"/>
            </a:endParaRPr>
          </a:p>
          <a:p>
            <a:pPr indent="0" lvl="1" marL="0" marR="0" rtl="0" algn="l">
              <a:spcBef>
                <a:spcPts val="20"/>
              </a:spcBef>
              <a:spcAft>
                <a:spcPts val="0"/>
              </a:spcAft>
              <a:buClr>
                <a:schemeClr val="dk1"/>
              </a:buClr>
              <a:buSzPts val="1750"/>
              <a:buFont typeface="Noto Sans Symbols"/>
              <a:buNone/>
            </a:pPr>
            <a:r>
              <a:t/>
            </a:r>
            <a:endParaRPr b="0" i="0" sz="1750" u="none" cap="none" strike="noStrike">
              <a:solidFill>
                <a:srgbClr val="000000"/>
              </a:solidFill>
              <a:latin typeface="Calibri"/>
              <a:ea typeface="Calibri"/>
              <a:cs typeface="Calibri"/>
              <a:sym typeface="Calibri"/>
            </a:endParaRPr>
          </a:p>
          <a:p>
            <a:pPr indent="-266065" lvl="1" marL="450850" marR="7620" rtl="0" algn="just">
              <a:spcBef>
                <a:spcPts val="0"/>
              </a:spcBef>
              <a:spcAft>
                <a:spcPts val="0"/>
              </a:spcAft>
              <a:buClr>
                <a:srgbClr val="000000"/>
              </a:buClr>
              <a:buSzPts val="1800"/>
              <a:buFont typeface="Noto Sans Symbols"/>
              <a:buChar char="▪"/>
            </a:pPr>
            <a:r>
              <a:rPr b="1" i="0" lang="en-US" sz="1800" u="none" cap="none" strike="noStrike">
                <a:solidFill>
                  <a:srgbClr val="000000"/>
                </a:solidFill>
                <a:latin typeface="Calibri"/>
                <a:ea typeface="Calibri"/>
                <a:cs typeface="Calibri"/>
                <a:sym typeface="Calibri"/>
              </a:rPr>
              <a:t>Disolución sobresaturada</a:t>
            </a:r>
            <a:r>
              <a:rPr b="0" i="0" lang="en-US" sz="1800" u="none" cap="none" strike="noStrike">
                <a:solidFill>
                  <a:srgbClr val="000000"/>
                </a:solidFill>
                <a:latin typeface="Calibri"/>
                <a:ea typeface="Calibri"/>
                <a:cs typeface="Calibri"/>
                <a:sym typeface="Calibri"/>
              </a:rPr>
              <a:t>: la cantidad de soluto es mayor que la que puede haber en una disolución saturada.</a:t>
            </a:r>
            <a:endParaRPr b="0" i="0" sz="1800" u="none" cap="none" strike="noStrike">
              <a:solidFill>
                <a:srgbClr val="000000"/>
              </a:solidFill>
              <a:latin typeface="Calibri"/>
              <a:ea typeface="Calibri"/>
              <a:cs typeface="Calibri"/>
              <a:sym typeface="Calibri"/>
            </a:endParaRPr>
          </a:p>
          <a:p>
            <a:pPr indent="0" lvl="1" marL="0" marR="0" rtl="0" algn="l">
              <a:spcBef>
                <a:spcPts val="25"/>
              </a:spcBef>
              <a:spcAft>
                <a:spcPts val="0"/>
              </a:spcAft>
              <a:buClr>
                <a:schemeClr val="dk1"/>
              </a:buClr>
              <a:buSzPts val="1750"/>
              <a:buFont typeface="Noto Sans Symbols"/>
              <a:buNone/>
            </a:pPr>
            <a:r>
              <a:t/>
            </a:r>
            <a:endParaRPr b="0" i="0" sz="1750" u="none" cap="none" strike="noStrike">
              <a:solidFill>
                <a:srgbClr val="000000"/>
              </a:solidFill>
              <a:latin typeface="Calibri"/>
              <a:ea typeface="Calibri"/>
              <a:cs typeface="Calibri"/>
              <a:sym typeface="Calibri"/>
            </a:endParaRPr>
          </a:p>
          <a:p>
            <a:pPr indent="-266065" lvl="1" marL="450215" marR="0" rtl="0" algn="just">
              <a:spcBef>
                <a:spcPts val="0"/>
              </a:spcBef>
              <a:spcAft>
                <a:spcPts val="0"/>
              </a:spcAft>
              <a:buClr>
                <a:srgbClr val="000000"/>
              </a:buClr>
              <a:buSzPts val="1800"/>
              <a:buFont typeface="Noto Sans Symbols"/>
              <a:buChar char="▪"/>
            </a:pPr>
            <a:r>
              <a:rPr b="1" i="0" lang="en-US" sz="1800" u="none" cap="none" strike="noStrike">
                <a:solidFill>
                  <a:srgbClr val="000000"/>
                </a:solidFill>
                <a:latin typeface="Calibri"/>
                <a:ea typeface="Calibri"/>
                <a:cs typeface="Calibri"/>
                <a:sym typeface="Calibri"/>
              </a:rPr>
              <a:t>Disolución diluida</a:t>
            </a:r>
            <a:r>
              <a:rPr b="0" i="0" lang="en-US" sz="1800" u="none" cap="none" strike="noStrike">
                <a:solidFill>
                  <a:srgbClr val="000000"/>
                </a:solidFill>
                <a:latin typeface="Calibri"/>
                <a:ea typeface="Calibri"/>
                <a:cs typeface="Calibri"/>
                <a:sym typeface="Calibri"/>
              </a:rPr>
              <a:t>: contiene una cantidad “relativamente” pequeña de soluto.</a:t>
            </a:r>
            <a:endParaRPr b="0" i="0" sz="1800" u="none" cap="none" strike="noStrike">
              <a:solidFill>
                <a:srgbClr val="000000"/>
              </a:solidFill>
              <a:latin typeface="Calibri"/>
              <a:ea typeface="Calibri"/>
              <a:cs typeface="Calibri"/>
              <a:sym typeface="Calibri"/>
            </a:endParaRPr>
          </a:p>
          <a:p>
            <a:pPr indent="0" lvl="1" marL="0" marR="0" rtl="0" algn="l">
              <a:spcBef>
                <a:spcPts val="25"/>
              </a:spcBef>
              <a:spcAft>
                <a:spcPts val="0"/>
              </a:spcAft>
              <a:buClr>
                <a:schemeClr val="dk1"/>
              </a:buClr>
              <a:buSzPts val="1750"/>
              <a:buFont typeface="Noto Sans Symbols"/>
              <a:buNone/>
            </a:pPr>
            <a:r>
              <a:t/>
            </a:r>
            <a:endParaRPr b="0" i="0" sz="1750" u="none" cap="none" strike="noStrike">
              <a:solidFill>
                <a:srgbClr val="000000"/>
              </a:solidFill>
              <a:latin typeface="Calibri"/>
              <a:ea typeface="Calibri"/>
              <a:cs typeface="Calibri"/>
              <a:sym typeface="Calibri"/>
            </a:endParaRPr>
          </a:p>
          <a:p>
            <a:pPr indent="-265430" lvl="1" marL="450215" marR="6985" rtl="0" algn="just">
              <a:spcBef>
                <a:spcPts val="0"/>
              </a:spcBef>
              <a:spcAft>
                <a:spcPts val="0"/>
              </a:spcAft>
              <a:buClr>
                <a:srgbClr val="000000"/>
              </a:buClr>
              <a:buSzPts val="1800"/>
              <a:buFont typeface="Noto Sans Symbols"/>
              <a:buChar char="▪"/>
            </a:pPr>
            <a:r>
              <a:rPr b="1" i="0" lang="en-US" sz="1800" u="none" cap="none" strike="noStrike">
                <a:solidFill>
                  <a:srgbClr val="000000"/>
                </a:solidFill>
                <a:latin typeface="Calibri"/>
                <a:ea typeface="Calibri"/>
                <a:cs typeface="Calibri"/>
                <a:sym typeface="Calibri"/>
              </a:rPr>
              <a:t>Disolución concentrada</a:t>
            </a:r>
            <a:r>
              <a:rPr b="0" i="0" lang="en-US" sz="1800" u="none" cap="none" strike="noStrike">
                <a:solidFill>
                  <a:srgbClr val="000000"/>
                </a:solidFill>
                <a:latin typeface="Calibri"/>
                <a:ea typeface="Calibri"/>
                <a:cs typeface="Calibri"/>
                <a:sym typeface="Calibri"/>
              </a:rPr>
              <a:t>: contiene una cantidad “relativamente” grande de soluto. No es saturada porque puede admitir más soluto.</a:t>
            </a:r>
            <a:endParaRPr b="0" i="0" sz="1800" u="none" cap="none" strike="noStrike">
              <a:solidFill>
                <a:srgbClr val="000000"/>
              </a:solidFill>
              <a:latin typeface="Calibri"/>
              <a:ea typeface="Calibri"/>
              <a:cs typeface="Calibri"/>
              <a:sym typeface="Calibri"/>
            </a:endParaRPr>
          </a:p>
        </p:txBody>
      </p:sp>
      <p:sp>
        <p:nvSpPr>
          <p:cNvPr id="214" name="Google Shape;214;p32"/>
          <p:cNvSpPr txBox="1"/>
          <p:nvPr/>
        </p:nvSpPr>
        <p:spPr>
          <a:xfrm>
            <a:off x="229953" y="168356"/>
            <a:ext cx="6390640" cy="367280"/>
          </a:xfrm>
          <a:prstGeom prst="rect">
            <a:avLst/>
          </a:prstGeom>
          <a:noFill/>
          <a:ln>
            <a:noFill/>
          </a:ln>
        </p:spPr>
        <p:txBody>
          <a:bodyPr anchorCtr="0" anchor="t" bIns="0" lIns="0" spcFirstLastPara="1" rIns="0" wrap="square" tIns="12700">
            <a:spAutoFit/>
          </a:bodyPr>
          <a:lstStyle/>
          <a:p>
            <a:pPr indent="0" lvl="0" marL="12700" marR="0" rtl="0" algn="l">
              <a:lnSpc>
                <a:spcPct val="96071"/>
              </a:lnSpc>
              <a:spcBef>
                <a:spcPts val="0"/>
              </a:spcBef>
              <a:spcAft>
                <a:spcPts val="0"/>
              </a:spcAft>
              <a:buNone/>
            </a:pPr>
            <a:r>
              <a:rPr b="1" i="0" lang="en-US" sz="2800" u="none" cap="none" strike="noStrike">
                <a:solidFill>
                  <a:srgbClr val="1F4E79"/>
                </a:solidFill>
                <a:latin typeface="Calibri"/>
                <a:ea typeface="Calibri"/>
                <a:cs typeface="Calibri"/>
                <a:sym typeface="Calibri"/>
              </a:rPr>
              <a:t>Disoluciones</a:t>
            </a:r>
            <a:endParaRPr b="0" i="0" sz="2800" u="none" cap="none" strike="noStrike">
              <a:solidFill>
                <a:srgbClr val="000000"/>
              </a:solidFill>
              <a:latin typeface="Calibri"/>
              <a:ea typeface="Calibri"/>
              <a:cs typeface="Calibri"/>
              <a:sym typeface="Calibri"/>
            </a:endParaRPr>
          </a:p>
        </p:txBody>
      </p:sp>
      <p:pic>
        <p:nvPicPr>
          <p:cNvPr id="215" name="Google Shape;215;p32"/>
          <p:cNvPicPr preferRelativeResize="0"/>
          <p:nvPr/>
        </p:nvPicPr>
        <p:blipFill>
          <a:blip r:embed="rId3">
            <a:alphaModFix/>
          </a:blip>
          <a:stretch>
            <a:fillRect/>
          </a:stretch>
        </p:blipFill>
        <p:spPr>
          <a:xfrm>
            <a:off x="4567238" y="1307633"/>
            <a:ext cx="3057525" cy="523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33"/>
          <p:cNvPicPr preferRelativeResize="0"/>
          <p:nvPr/>
        </p:nvPicPr>
        <p:blipFill>
          <a:blip r:embed="rId3">
            <a:alphaModFix/>
          </a:blip>
          <a:stretch>
            <a:fillRect/>
          </a:stretch>
        </p:blipFill>
        <p:spPr>
          <a:xfrm>
            <a:off x="6362700" y="3111500"/>
            <a:ext cx="5372000" cy="2692725"/>
          </a:xfrm>
          <a:prstGeom prst="rect">
            <a:avLst/>
          </a:prstGeom>
          <a:noFill/>
          <a:ln>
            <a:noFill/>
          </a:ln>
        </p:spPr>
      </p:pic>
      <p:sp>
        <p:nvSpPr>
          <p:cNvPr id="221" name="Google Shape;221;p33"/>
          <p:cNvSpPr txBox="1"/>
          <p:nvPr/>
        </p:nvSpPr>
        <p:spPr>
          <a:xfrm>
            <a:off x="7454900" y="939800"/>
            <a:ext cx="4089300" cy="1293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1800">
                <a:solidFill>
                  <a:srgbClr val="271900"/>
                </a:solidFill>
                <a:highlight>
                  <a:srgbClr val="CFE2F3"/>
                </a:highlight>
                <a:latin typeface="Calibri"/>
                <a:ea typeface="Calibri"/>
                <a:cs typeface="Calibri"/>
                <a:sym typeface="Calibri"/>
              </a:rPr>
              <a:t>Proceso que consiste en disminuir la concentración de una disolución añadiendo más disolvente a la misma cantidad de soluto</a:t>
            </a:r>
            <a:endParaRPr b="1" sz="1800">
              <a:solidFill>
                <a:schemeClr val="dk2"/>
              </a:solidFill>
              <a:highlight>
                <a:srgbClr val="CFE2F3"/>
              </a:highlight>
              <a:latin typeface="Calibri"/>
              <a:ea typeface="Calibri"/>
              <a:cs typeface="Calibri"/>
              <a:sym typeface="Calibri"/>
            </a:endParaRPr>
          </a:p>
        </p:txBody>
      </p:sp>
      <p:pic>
        <p:nvPicPr>
          <p:cNvPr id="222" name="Google Shape;222;p33"/>
          <p:cNvPicPr preferRelativeResize="0"/>
          <p:nvPr/>
        </p:nvPicPr>
        <p:blipFill>
          <a:blip r:embed="rId4">
            <a:alphaModFix/>
          </a:blip>
          <a:stretch>
            <a:fillRect/>
          </a:stretch>
        </p:blipFill>
        <p:spPr>
          <a:xfrm>
            <a:off x="175125" y="780300"/>
            <a:ext cx="5603374" cy="3682686"/>
          </a:xfrm>
          <a:prstGeom prst="rect">
            <a:avLst/>
          </a:prstGeom>
          <a:noFill/>
          <a:ln>
            <a:noFill/>
          </a:ln>
        </p:spPr>
      </p:pic>
      <p:sp>
        <p:nvSpPr>
          <p:cNvPr id="223" name="Google Shape;223;p33"/>
          <p:cNvSpPr txBox="1"/>
          <p:nvPr/>
        </p:nvSpPr>
        <p:spPr>
          <a:xfrm>
            <a:off x="229953" y="168356"/>
            <a:ext cx="6390600" cy="426900"/>
          </a:xfrm>
          <a:prstGeom prst="rect">
            <a:avLst/>
          </a:prstGeom>
          <a:noFill/>
          <a:ln>
            <a:noFill/>
          </a:ln>
        </p:spPr>
        <p:txBody>
          <a:bodyPr anchorCtr="0" anchor="t" bIns="0" lIns="0" spcFirstLastPara="1" rIns="0" wrap="square" tIns="12700">
            <a:spAutoFit/>
          </a:bodyPr>
          <a:lstStyle/>
          <a:p>
            <a:pPr indent="0" lvl="0" marL="12700" marR="0" rtl="0" algn="l">
              <a:lnSpc>
                <a:spcPct val="96071"/>
              </a:lnSpc>
              <a:spcBef>
                <a:spcPts val="0"/>
              </a:spcBef>
              <a:spcAft>
                <a:spcPts val="0"/>
              </a:spcAft>
              <a:buNone/>
            </a:pPr>
            <a:r>
              <a:rPr b="1" i="0" lang="en-US" sz="2800" u="none" cap="none" strike="noStrike">
                <a:solidFill>
                  <a:srgbClr val="1F4E79"/>
                </a:solidFill>
                <a:latin typeface="Calibri"/>
                <a:ea typeface="Calibri"/>
                <a:cs typeface="Calibri"/>
                <a:sym typeface="Calibri"/>
              </a:rPr>
              <a:t>Diluciones</a:t>
            </a:r>
            <a:endParaRPr b="0" i="0" sz="2800" u="none" cap="none" strike="noStrike">
              <a:solidFill>
                <a:srgbClr val="000000"/>
              </a:solidFill>
              <a:latin typeface="Calibri"/>
              <a:ea typeface="Calibri"/>
              <a:cs typeface="Calibri"/>
              <a:sym typeface="Calibri"/>
            </a:endParaRPr>
          </a:p>
        </p:txBody>
      </p:sp>
      <p:sp>
        <p:nvSpPr>
          <p:cNvPr id="224" name="Google Shape;224;p33"/>
          <p:cNvSpPr txBox="1"/>
          <p:nvPr/>
        </p:nvSpPr>
        <p:spPr>
          <a:xfrm>
            <a:off x="1816100" y="1752600"/>
            <a:ext cx="1016100" cy="342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2"/>
                </a:solidFill>
              </a:rPr>
              <a:t>Dilución</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34"/>
          <p:cNvPicPr preferRelativeResize="0"/>
          <p:nvPr/>
        </p:nvPicPr>
        <p:blipFill rotWithShape="1">
          <a:blip r:embed="rId3">
            <a:alphaModFix/>
          </a:blip>
          <a:srcRect b="4068" l="1580" r="917" t="2422"/>
          <a:stretch/>
        </p:blipFill>
        <p:spPr>
          <a:xfrm>
            <a:off x="3344325" y="1375825"/>
            <a:ext cx="5767926" cy="3111500"/>
          </a:xfrm>
          <a:prstGeom prst="rect">
            <a:avLst/>
          </a:prstGeom>
          <a:noFill/>
          <a:ln>
            <a:noFill/>
          </a:ln>
        </p:spPr>
      </p:pic>
      <p:sp>
        <p:nvSpPr>
          <p:cNvPr id="230" name="Google Shape;230;p34"/>
          <p:cNvSpPr txBox="1"/>
          <p:nvPr/>
        </p:nvSpPr>
        <p:spPr>
          <a:xfrm>
            <a:off x="3238500" y="4191000"/>
            <a:ext cx="1352700" cy="571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5"/>
          <p:cNvPicPr preferRelativeResize="0"/>
          <p:nvPr/>
        </p:nvPicPr>
        <p:blipFill>
          <a:blip r:embed="rId3">
            <a:alphaModFix/>
          </a:blip>
          <a:stretch>
            <a:fillRect/>
          </a:stretch>
        </p:blipFill>
        <p:spPr>
          <a:xfrm>
            <a:off x="4015529" y="259300"/>
            <a:ext cx="4160950" cy="5709200"/>
          </a:xfrm>
          <a:prstGeom prst="rect">
            <a:avLst/>
          </a:prstGeom>
          <a:noFill/>
          <a:ln>
            <a:noFill/>
          </a:ln>
        </p:spPr>
      </p:pic>
      <p:sp>
        <p:nvSpPr>
          <p:cNvPr id="236" name="Google Shape;236;p35"/>
          <p:cNvSpPr/>
          <p:nvPr/>
        </p:nvSpPr>
        <p:spPr>
          <a:xfrm>
            <a:off x="4015525" y="3360750"/>
            <a:ext cx="4188600" cy="1654800"/>
          </a:xfrm>
          <a:prstGeom prst="rect">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nvSpPr>
        <p:spPr>
          <a:xfrm>
            <a:off x="3238500" y="4191000"/>
            <a:ext cx="1352700" cy="571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42" name="Google Shape;242;p36"/>
          <p:cNvSpPr txBox="1"/>
          <p:nvPr/>
        </p:nvSpPr>
        <p:spPr>
          <a:xfrm>
            <a:off x="864100" y="5001950"/>
            <a:ext cx="99003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50">
                <a:solidFill>
                  <a:srgbClr val="202122"/>
                </a:solidFill>
                <a:highlight>
                  <a:srgbClr val="FFFFFF"/>
                </a:highlight>
                <a:latin typeface="Calibri"/>
                <a:ea typeface="Calibri"/>
                <a:cs typeface="Calibri"/>
                <a:sym typeface="Calibri"/>
              </a:rPr>
              <a:t>Nota:</a:t>
            </a:r>
            <a:r>
              <a:rPr lang="en-US" sz="1350">
                <a:solidFill>
                  <a:srgbClr val="202122"/>
                </a:solidFill>
                <a:highlight>
                  <a:srgbClr val="FFFFFF"/>
                </a:highlight>
                <a:latin typeface="Calibri"/>
                <a:ea typeface="Calibri"/>
                <a:cs typeface="Calibri"/>
                <a:sym typeface="Calibri"/>
              </a:rPr>
              <a:t> es útil recordar que el término "nanomolar" (nM) y "picomolar" (pM) se refieren a 10</a:t>
            </a:r>
            <a:r>
              <a:rPr baseline="30000" lang="en-US">
                <a:solidFill>
                  <a:srgbClr val="202122"/>
                </a:solidFill>
                <a:highlight>
                  <a:srgbClr val="FFFFFF"/>
                </a:highlight>
                <a:latin typeface="Calibri"/>
                <a:ea typeface="Calibri"/>
                <a:cs typeface="Calibri"/>
                <a:sym typeface="Calibri"/>
              </a:rPr>
              <a:t>-9</a:t>
            </a:r>
            <a:r>
              <a:rPr lang="en-US" sz="1350">
                <a:solidFill>
                  <a:srgbClr val="202122"/>
                </a:solidFill>
                <a:highlight>
                  <a:srgbClr val="FFFFFF"/>
                </a:highlight>
                <a:latin typeface="Calibri"/>
                <a:ea typeface="Calibri"/>
                <a:cs typeface="Calibri"/>
                <a:sym typeface="Calibri"/>
              </a:rPr>
              <a:t> mol/L y 10</a:t>
            </a:r>
            <a:r>
              <a:rPr baseline="30000" lang="en-US">
                <a:solidFill>
                  <a:srgbClr val="202122"/>
                </a:solidFill>
                <a:highlight>
                  <a:srgbClr val="FFFFFF"/>
                </a:highlight>
                <a:latin typeface="Calibri"/>
                <a:ea typeface="Calibri"/>
                <a:cs typeface="Calibri"/>
                <a:sym typeface="Calibri"/>
              </a:rPr>
              <a:t>-12</a:t>
            </a:r>
            <a:r>
              <a:rPr lang="en-US" sz="1350">
                <a:solidFill>
                  <a:srgbClr val="202122"/>
                </a:solidFill>
                <a:highlight>
                  <a:srgbClr val="FFFFFF"/>
                </a:highlight>
                <a:latin typeface="Calibri"/>
                <a:ea typeface="Calibri"/>
                <a:cs typeface="Calibri"/>
                <a:sym typeface="Calibri"/>
              </a:rPr>
              <a:t> mol/L, respectivamente.</a:t>
            </a:r>
            <a:endParaRPr sz="2100">
              <a:solidFill>
                <a:schemeClr val="dk2"/>
              </a:solidFill>
              <a:latin typeface="Calibri"/>
              <a:ea typeface="Calibri"/>
              <a:cs typeface="Calibri"/>
              <a:sym typeface="Calibri"/>
            </a:endParaRPr>
          </a:p>
        </p:txBody>
      </p:sp>
      <p:sp>
        <p:nvSpPr>
          <p:cNvPr id="243" name="Google Shape;243;p36"/>
          <p:cNvSpPr txBox="1"/>
          <p:nvPr/>
        </p:nvSpPr>
        <p:spPr>
          <a:xfrm>
            <a:off x="1969163" y="983675"/>
            <a:ext cx="10911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chemeClr val="dk1"/>
                </a:solidFill>
                <a:latin typeface="Calibri"/>
                <a:ea typeface="Calibri"/>
                <a:cs typeface="Calibri"/>
                <a:sym typeface="Calibri"/>
              </a:rPr>
              <a:t>nM = </a:t>
            </a:r>
            <a:endParaRPr b="1" sz="2700">
              <a:solidFill>
                <a:schemeClr val="dk1"/>
              </a:solidFill>
              <a:latin typeface="Calibri"/>
              <a:ea typeface="Calibri"/>
              <a:cs typeface="Calibri"/>
              <a:sym typeface="Calibri"/>
            </a:endParaRPr>
          </a:p>
        </p:txBody>
      </p:sp>
      <p:sp>
        <p:nvSpPr>
          <p:cNvPr id="244" name="Google Shape;244;p36"/>
          <p:cNvSpPr txBox="1"/>
          <p:nvPr/>
        </p:nvSpPr>
        <p:spPr>
          <a:xfrm>
            <a:off x="4872138" y="717325"/>
            <a:ext cx="23574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 ng/</a:t>
            </a:r>
            <a:r>
              <a:rPr lang="en-US" sz="2100">
                <a:solidFill>
                  <a:srgbClr val="202122"/>
                </a:solidFill>
                <a:highlight>
                  <a:srgbClr val="FFFFFF"/>
                </a:highlight>
                <a:latin typeface="Calibri"/>
                <a:ea typeface="Calibri"/>
                <a:cs typeface="Calibri"/>
                <a:sym typeface="Calibri"/>
              </a:rPr>
              <a:t>μ</a:t>
            </a:r>
            <a:r>
              <a:rPr lang="en-US" sz="2100">
                <a:solidFill>
                  <a:schemeClr val="dk1"/>
                </a:solidFill>
                <a:latin typeface="Calibri"/>
                <a:ea typeface="Calibri"/>
                <a:cs typeface="Calibri"/>
                <a:sym typeface="Calibri"/>
              </a:rPr>
              <a:t>L] </a:t>
            </a:r>
            <a:endParaRPr sz="2100">
              <a:solidFill>
                <a:schemeClr val="dk1"/>
              </a:solidFill>
              <a:latin typeface="Calibri"/>
              <a:ea typeface="Calibri"/>
              <a:cs typeface="Calibri"/>
              <a:sym typeface="Calibri"/>
            </a:endParaRPr>
          </a:p>
        </p:txBody>
      </p:sp>
      <p:sp>
        <p:nvSpPr>
          <p:cNvPr id="245" name="Google Shape;245;p36"/>
          <p:cNvSpPr txBox="1"/>
          <p:nvPr/>
        </p:nvSpPr>
        <p:spPr>
          <a:xfrm>
            <a:off x="3274538" y="1353850"/>
            <a:ext cx="5786400" cy="8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a:t>
            </a:r>
            <a:r>
              <a:rPr lang="en-US" sz="2100">
                <a:solidFill>
                  <a:schemeClr val="dk1"/>
                </a:solidFill>
                <a:latin typeface="Calibri"/>
                <a:ea typeface="Calibri"/>
                <a:cs typeface="Calibri"/>
                <a:sym typeface="Calibri"/>
              </a:rPr>
              <a:t>660 g</a:t>
            </a:r>
            <a:r>
              <a:rPr lang="en-US" sz="2100">
                <a:solidFill>
                  <a:schemeClr val="dk1"/>
                </a:solidFill>
                <a:latin typeface="Calibri"/>
                <a:ea typeface="Calibri"/>
                <a:cs typeface="Calibri"/>
                <a:sym typeface="Calibri"/>
              </a:rPr>
              <a:t>/mol) (tamaño en pb de nuestro producto)</a:t>
            </a:r>
            <a:endParaRPr sz="2100">
              <a:solidFill>
                <a:schemeClr val="dk1"/>
              </a:solidFill>
              <a:latin typeface="Calibri"/>
              <a:ea typeface="Calibri"/>
              <a:cs typeface="Calibri"/>
              <a:sym typeface="Calibri"/>
            </a:endParaRPr>
          </a:p>
        </p:txBody>
      </p:sp>
      <p:cxnSp>
        <p:nvCxnSpPr>
          <p:cNvPr id="246" name="Google Shape;246;p36"/>
          <p:cNvCxnSpPr/>
          <p:nvPr/>
        </p:nvCxnSpPr>
        <p:spPr>
          <a:xfrm>
            <a:off x="3060263" y="1311600"/>
            <a:ext cx="5591700" cy="19500"/>
          </a:xfrm>
          <a:prstGeom prst="straightConnector1">
            <a:avLst/>
          </a:prstGeom>
          <a:noFill/>
          <a:ln cap="flat" cmpd="sng" w="28575">
            <a:solidFill>
              <a:schemeClr val="dk1"/>
            </a:solidFill>
            <a:prstDash val="solid"/>
            <a:round/>
            <a:headEnd len="med" w="med" type="none"/>
            <a:tailEnd len="med" w="med" type="none"/>
          </a:ln>
        </p:spPr>
      </p:cxnSp>
      <p:sp>
        <p:nvSpPr>
          <p:cNvPr id="247" name="Google Shape;247;p36"/>
          <p:cNvSpPr txBox="1"/>
          <p:nvPr/>
        </p:nvSpPr>
        <p:spPr>
          <a:xfrm>
            <a:off x="9041425" y="1007850"/>
            <a:ext cx="2591100" cy="7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chemeClr val="dk1"/>
                </a:solidFill>
                <a:latin typeface="Calibri"/>
                <a:ea typeface="Calibri"/>
                <a:cs typeface="Calibri"/>
                <a:sym typeface="Calibri"/>
              </a:rPr>
              <a:t>*  10</a:t>
            </a:r>
            <a:r>
              <a:rPr b="1" baseline="30000" lang="en-US" sz="2100">
                <a:solidFill>
                  <a:schemeClr val="dk1"/>
                </a:solidFill>
                <a:highlight>
                  <a:srgbClr val="FFFFFF"/>
                </a:highlight>
                <a:latin typeface="Calibri"/>
                <a:ea typeface="Calibri"/>
                <a:cs typeface="Calibri"/>
                <a:sym typeface="Calibri"/>
              </a:rPr>
              <a:t>6</a:t>
            </a:r>
            <a:r>
              <a:rPr lang="en-US" sz="2100">
                <a:solidFill>
                  <a:srgbClr val="202122"/>
                </a:solidFill>
                <a:highlight>
                  <a:srgbClr val="FFFFFF"/>
                </a:highlight>
                <a:latin typeface="Calibri"/>
                <a:ea typeface="Calibri"/>
                <a:cs typeface="Calibri"/>
                <a:sym typeface="Calibri"/>
              </a:rPr>
              <a:t>  </a:t>
            </a:r>
            <a:endParaRPr sz="2100">
              <a:solidFill>
                <a:schemeClr val="dk2"/>
              </a:solidFill>
              <a:latin typeface="Calibri"/>
              <a:ea typeface="Calibri"/>
              <a:cs typeface="Calibri"/>
              <a:sym typeface="Calibri"/>
            </a:endParaRPr>
          </a:p>
        </p:txBody>
      </p:sp>
      <p:sp>
        <p:nvSpPr>
          <p:cNvPr id="248" name="Google Shape;248;p36"/>
          <p:cNvSpPr txBox="1"/>
          <p:nvPr/>
        </p:nvSpPr>
        <p:spPr>
          <a:xfrm>
            <a:off x="444500" y="2870200"/>
            <a:ext cx="1879500" cy="8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49" name="Google Shape;249;p36"/>
          <p:cNvSpPr txBox="1"/>
          <p:nvPr/>
        </p:nvSpPr>
        <p:spPr>
          <a:xfrm>
            <a:off x="1968510" y="3143534"/>
            <a:ext cx="3873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0" i="0" lang="en-US" sz="1800" u="none" cap="none" strike="noStrike">
                <a:solidFill>
                  <a:srgbClr val="000000"/>
                </a:solidFill>
                <a:latin typeface="Calibri"/>
                <a:ea typeface="Calibri"/>
                <a:cs typeface="Calibri"/>
                <a:sym typeface="Calibri"/>
              </a:rPr>
              <a:t>M =</a:t>
            </a:r>
            <a:endParaRPr b="0" i="0" sz="1800" u="none" cap="none" strike="noStrike">
              <a:solidFill>
                <a:srgbClr val="000000"/>
              </a:solidFill>
              <a:latin typeface="Calibri"/>
              <a:ea typeface="Calibri"/>
              <a:cs typeface="Calibri"/>
              <a:sym typeface="Calibri"/>
            </a:endParaRPr>
          </a:p>
        </p:txBody>
      </p:sp>
      <p:sp>
        <p:nvSpPr>
          <p:cNvPr id="250" name="Google Shape;250;p36"/>
          <p:cNvSpPr txBox="1"/>
          <p:nvPr/>
        </p:nvSpPr>
        <p:spPr>
          <a:xfrm>
            <a:off x="2568966" y="2970560"/>
            <a:ext cx="18321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libri"/>
                <a:ea typeface="Calibri"/>
                <a:cs typeface="Calibri"/>
                <a:sym typeface="Calibri"/>
              </a:rPr>
              <a:t>moles soluto </a:t>
            </a:r>
            <a:r>
              <a:rPr lang="en-US" sz="1800">
                <a:solidFill>
                  <a:srgbClr val="000000"/>
                </a:solidFill>
                <a:latin typeface="Cambria Math"/>
                <a:ea typeface="Cambria Math"/>
                <a:cs typeface="Cambria Math"/>
                <a:sym typeface="Cambria Math"/>
              </a:rPr>
              <a:t>(mol)</a:t>
            </a:r>
            <a:endParaRPr sz="1800">
              <a:solidFill>
                <a:srgbClr val="000000"/>
              </a:solidFill>
              <a:latin typeface="Cambria Math"/>
              <a:ea typeface="Cambria Math"/>
              <a:cs typeface="Cambria Math"/>
              <a:sym typeface="Cambria Math"/>
            </a:endParaRPr>
          </a:p>
        </p:txBody>
      </p:sp>
      <p:sp>
        <p:nvSpPr>
          <p:cNvPr id="251" name="Google Shape;251;p36"/>
          <p:cNvSpPr txBox="1"/>
          <p:nvPr/>
        </p:nvSpPr>
        <p:spPr>
          <a:xfrm>
            <a:off x="2421291" y="3296772"/>
            <a:ext cx="2126700" cy="2898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rgbClr val="000000"/>
                </a:solidFill>
                <a:latin typeface="Calibri"/>
                <a:ea typeface="Calibri"/>
                <a:cs typeface="Calibri"/>
                <a:sym typeface="Calibri"/>
              </a:rPr>
              <a:t>volumen disolución (L)</a:t>
            </a:r>
            <a:endParaRPr sz="1800">
              <a:solidFill>
                <a:srgbClr val="000000"/>
              </a:solidFill>
              <a:latin typeface="Calibri"/>
              <a:ea typeface="Calibri"/>
              <a:cs typeface="Calibri"/>
              <a:sym typeface="Calibri"/>
            </a:endParaRPr>
          </a:p>
        </p:txBody>
      </p:sp>
      <p:cxnSp>
        <p:nvCxnSpPr>
          <p:cNvPr id="252" name="Google Shape;252;p36"/>
          <p:cNvCxnSpPr/>
          <p:nvPr/>
        </p:nvCxnSpPr>
        <p:spPr>
          <a:xfrm>
            <a:off x="2424150" y="3318250"/>
            <a:ext cx="2121000" cy="0"/>
          </a:xfrm>
          <a:prstGeom prst="straightConnector1">
            <a:avLst/>
          </a:prstGeom>
          <a:noFill/>
          <a:ln cap="flat" cmpd="sng" w="19050">
            <a:solidFill>
              <a:schemeClr val="dk1"/>
            </a:solidFill>
            <a:prstDash val="solid"/>
            <a:round/>
            <a:headEnd len="med" w="med" type="none"/>
            <a:tailEnd len="med" w="med" type="none"/>
          </a:ln>
        </p:spPr>
      </p:cxnSp>
      <p:sp>
        <p:nvSpPr>
          <p:cNvPr id="253" name="Google Shape;253;p36"/>
          <p:cNvSpPr txBox="1"/>
          <p:nvPr/>
        </p:nvSpPr>
        <p:spPr>
          <a:xfrm>
            <a:off x="6934200" y="2959100"/>
            <a:ext cx="29463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1L = 1,000,000 </a:t>
            </a:r>
            <a:r>
              <a:rPr lang="en-US" sz="2100">
                <a:solidFill>
                  <a:srgbClr val="202122"/>
                </a:solidFill>
                <a:highlight>
                  <a:srgbClr val="FFFFFF"/>
                </a:highlight>
                <a:latin typeface="Calibri"/>
                <a:ea typeface="Calibri"/>
                <a:cs typeface="Calibri"/>
                <a:sym typeface="Calibri"/>
              </a:rPr>
              <a:t>μ</a:t>
            </a:r>
            <a:r>
              <a:rPr lang="en-US" sz="2100">
                <a:solidFill>
                  <a:schemeClr val="dk1"/>
                </a:solidFill>
                <a:latin typeface="Calibri"/>
                <a:ea typeface="Calibri"/>
                <a:cs typeface="Calibri"/>
                <a:sym typeface="Calibri"/>
              </a:rPr>
              <a:t>L</a:t>
            </a:r>
            <a:r>
              <a:rPr lang="en-US" sz="1900">
                <a:solidFill>
                  <a:schemeClr val="dk1"/>
                </a:solidFill>
                <a:latin typeface="Calibri"/>
                <a:ea typeface="Calibri"/>
                <a:cs typeface="Calibri"/>
                <a:sym typeface="Calibri"/>
              </a:rPr>
              <a:t>  </a:t>
            </a:r>
            <a:endParaRPr sz="1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