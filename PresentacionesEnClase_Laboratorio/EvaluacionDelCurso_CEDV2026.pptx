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19"/>
  </p:notesMasterIdLst>
  <p:sldIdLst>
    <p:sldId id="256" r:id="rId3"/>
    <p:sldId id="258" r:id="rId4"/>
    <p:sldId id="259" r:id="rId5"/>
    <p:sldId id="266" r:id="rId6"/>
    <p:sldId id="267" r:id="rId7"/>
    <p:sldId id="269" r:id="rId8"/>
    <p:sldId id="270" r:id="rId9"/>
    <p:sldId id="268" r:id="rId10"/>
    <p:sldId id="271" r:id="rId11"/>
    <p:sldId id="265" r:id="rId12"/>
    <p:sldId id="257" r:id="rId13"/>
    <p:sldId id="262" r:id="rId14"/>
    <p:sldId id="261" r:id="rId15"/>
    <p:sldId id="263" r:id="rId16"/>
    <p:sldId id="264" r:id="rId17"/>
    <p:sldId id="260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1d8980c183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21d8980c183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1d8980c183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21d8980c183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1d8980c183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g21d8980c183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1d8980c18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21d8980c18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1d8980c18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21d8980c18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17098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1d8980c18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21d8980c18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90613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1d8980c18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21d8980c18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13511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1d8980c18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21d8980c18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24273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1d8980c183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21d8980c183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500"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0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20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500"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grpSp>
        <p:nvGrpSpPr>
          <p:cNvPr id="9" name="Google Shape;9;p1"/>
          <p:cNvGrpSpPr/>
          <p:nvPr/>
        </p:nvGrpSpPr>
        <p:grpSpPr>
          <a:xfrm>
            <a:off x="156841" y="4197848"/>
            <a:ext cx="8864706" cy="952797"/>
            <a:chOff x="209121" y="5597130"/>
            <a:chExt cx="11819608" cy="1270396"/>
          </a:xfrm>
        </p:grpSpPr>
        <p:pic>
          <p:nvPicPr>
            <p:cNvPr id="10" name="Google Shape;10;p1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10609392" y="5597130"/>
              <a:ext cx="1419336" cy="12703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1"/>
            <p:cNvPicPr preferRelativeResize="0"/>
            <p:nvPr/>
          </p:nvPicPr>
          <p:blipFill rotWithShape="1">
            <a:blip r:embed="rId14">
              <a:alphaModFix/>
            </a:blip>
            <a:srcRect l="8000" t="18013" r="7160" b="19175"/>
            <a:stretch/>
          </p:blipFill>
          <p:spPr>
            <a:xfrm>
              <a:off x="209121" y="5820720"/>
              <a:ext cx="3194157" cy="872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1"/>
            <p:cNvPicPr preferRelativeResize="0"/>
            <p:nvPr/>
          </p:nvPicPr>
          <p:blipFill rotWithShape="1">
            <a:blip r:embed="rId15">
              <a:alphaModFix/>
            </a:blip>
            <a:srcRect l="8825" t="41592" r="60425"/>
            <a:stretch/>
          </p:blipFill>
          <p:spPr>
            <a:xfrm>
              <a:off x="5851890" y="5668273"/>
              <a:ext cx="1291424" cy="109211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5"/>
          <p:cNvPicPr preferRelativeResize="0"/>
          <p:nvPr/>
        </p:nvPicPr>
        <p:blipFill rotWithShape="1">
          <a:blip r:embed="rId3">
            <a:alphaModFix amt="16000"/>
          </a:blip>
          <a:srcRect l="32990" t="7113" r="22075" b="15144"/>
          <a:stretch/>
        </p:blipFill>
        <p:spPr>
          <a:xfrm rot="-5400000">
            <a:off x="1960959" y="-2039540"/>
            <a:ext cx="5179219" cy="92154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" name="Google Shape;134;p25"/>
          <p:cNvGrpSpPr/>
          <p:nvPr/>
        </p:nvGrpSpPr>
        <p:grpSpPr>
          <a:xfrm>
            <a:off x="100013" y="-114300"/>
            <a:ext cx="8796170" cy="1785937"/>
            <a:chOff x="100013" y="-114300"/>
            <a:chExt cx="8796170" cy="1785937"/>
          </a:xfrm>
        </p:grpSpPr>
        <p:pic>
          <p:nvPicPr>
            <p:cNvPr id="135" name="Google Shape;135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00862" y="-114300"/>
              <a:ext cx="1995320" cy="17859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25"/>
            <p:cNvPicPr preferRelativeResize="0"/>
            <p:nvPr/>
          </p:nvPicPr>
          <p:blipFill rotWithShape="1">
            <a:blip r:embed="rId5">
              <a:alphaModFix/>
            </a:blip>
            <a:srcRect l="8000" t="18013" r="7160" b="19175"/>
            <a:stretch/>
          </p:blipFill>
          <p:spPr>
            <a:xfrm>
              <a:off x="100013" y="200025"/>
              <a:ext cx="4490382" cy="1226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25"/>
            <p:cNvPicPr preferRelativeResize="0"/>
            <p:nvPr/>
          </p:nvPicPr>
          <p:blipFill rotWithShape="1">
            <a:blip r:embed="rId6">
              <a:alphaModFix/>
            </a:blip>
            <a:srcRect l="8825" t="41592" r="60425"/>
            <a:stretch/>
          </p:blipFill>
          <p:spPr>
            <a:xfrm>
              <a:off x="4818994" y="-14287"/>
              <a:ext cx="1815497" cy="1535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8" name="Google Shape;138;p25"/>
          <p:cNvSpPr txBox="1">
            <a:spLocks noGrp="1"/>
          </p:cNvSpPr>
          <p:nvPr>
            <p:ph type="ctrTitle"/>
          </p:nvPr>
        </p:nvSpPr>
        <p:spPr>
          <a:xfrm>
            <a:off x="98813" y="2414100"/>
            <a:ext cx="8946600" cy="5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1" dirty="0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" sz="2400" b="1" i="1" dirty="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“Evaluación del Curso”</a:t>
            </a:r>
            <a:endParaRPr i="1" dirty="0">
              <a:solidFill>
                <a:srgbClr val="1C4587"/>
              </a:solidFill>
            </a:endParaRPr>
          </a:p>
        </p:txBody>
      </p:sp>
      <p:sp>
        <p:nvSpPr>
          <p:cNvPr id="139" name="Google Shape;139;p25"/>
          <p:cNvSpPr txBox="1">
            <a:spLocks noGrp="1"/>
          </p:cNvSpPr>
          <p:nvPr>
            <p:ph type="subTitle" idx="1"/>
          </p:nvPr>
        </p:nvSpPr>
        <p:spPr>
          <a:xfrm>
            <a:off x="5437029" y="4275595"/>
            <a:ext cx="3780300" cy="10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" sz="1500" b="1" dirty="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Dra. Clara Estela Díaz Velásquez</a:t>
            </a:r>
            <a:endParaRPr sz="1500" b="1" dirty="0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" sz="1500" b="1" dirty="0">
                <a:solidFill>
                  <a:srgbClr val="1C4587"/>
                </a:solidFill>
                <a:latin typeface="Arial"/>
                <a:cs typeface="Arial"/>
                <a:sym typeface="Arial"/>
              </a:rPr>
              <a:t>4 de mayo de 2026</a:t>
            </a:r>
            <a:endParaRPr sz="1500" dirty="0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6DBFA2-F18C-DFFF-17EF-E57467CD55A1}"/>
              </a:ext>
            </a:extLst>
          </p:cNvPr>
          <p:cNvSpPr txBox="1"/>
          <p:nvPr/>
        </p:nvSpPr>
        <p:spPr>
          <a:xfrm>
            <a:off x="195943" y="247394"/>
            <a:ext cx="617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70C0"/>
                </a:solidFill>
              </a:rPr>
              <a:t>EVALUACIÓN DEL CURSO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5B2C0-5BD7-8BC4-7943-4D4D43DD453B}"/>
              </a:ext>
            </a:extLst>
          </p:cNvPr>
          <p:cNvSpPr txBox="1"/>
          <p:nvPr/>
        </p:nvSpPr>
        <p:spPr>
          <a:xfrm>
            <a:off x="693964" y="1273629"/>
            <a:ext cx="675186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b="1" dirty="0"/>
              <a:t>Trabajo en el laboratorio  30%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b="1" dirty="0"/>
              <a:t>Presentación de sus resultados  30%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b="1" dirty="0"/>
              <a:t>Reporte de laboratorio  40%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b="1" dirty="0"/>
              <a:t>Participación 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44ABC9-E6B7-85D4-8676-9EDD85B8E3E1}"/>
              </a:ext>
            </a:extLst>
          </p:cNvPr>
          <p:cNvSpPr txBox="1"/>
          <p:nvPr/>
        </p:nvSpPr>
        <p:spPr>
          <a:xfrm>
            <a:off x="195943" y="247394"/>
            <a:ext cx="617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70C0"/>
                </a:solidFill>
              </a:rPr>
              <a:t>EVALUACIÓN DEL CURSO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D578C6-4766-1A4B-9064-1A369E8769F9}"/>
              </a:ext>
            </a:extLst>
          </p:cNvPr>
          <p:cNvSpPr txBox="1"/>
          <p:nvPr/>
        </p:nvSpPr>
        <p:spPr>
          <a:xfrm>
            <a:off x="391885" y="772708"/>
            <a:ext cx="3624943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Trabajo en el laboratorio  - Líder de grupo</a:t>
            </a:r>
          </a:p>
          <a:p>
            <a:r>
              <a:rPr lang="es-MX" dirty="0"/>
              <a:t>Calificación individual</a:t>
            </a:r>
          </a:p>
          <a:p>
            <a:endParaRPr lang="es-MX" dirty="0"/>
          </a:p>
          <a:p>
            <a:r>
              <a:rPr lang="es-MX" dirty="0"/>
              <a:t>Uso de bata, puntualidad, disposición al trabajo.</a:t>
            </a:r>
          </a:p>
          <a:p>
            <a:endParaRPr lang="es-MX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9D905B-825D-8079-C994-AAEE84E6F53D}"/>
              </a:ext>
            </a:extLst>
          </p:cNvPr>
          <p:cNvSpPr txBox="1"/>
          <p:nvPr/>
        </p:nvSpPr>
        <p:spPr>
          <a:xfrm>
            <a:off x="391886" y="2375241"/>
            <a:ext cx="3624943" cy="16004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s-MX" dirty="0"/>
          </a:p>
          <a:p>
            <a:r>
              <a:rPr lang="es-MX" dirty="0"/>
              <a:t>Presentación de resultados.  Calificación en equipo  </a:t>
            </a:r>
          </a:p>
          <a:p>
            <a:endParaRPr lang="es-MX" dirty="0"/>
          </a:p>
          <a:p>
            <a:r>
              <a:rPr lang="es-MX" dirty="0"/>
              <a:t>Exposición en </a:t>
            </a:r>
            <a:r>
              <a:rPr lang="es-MX" dirty="0" err="1"/>
              <a:t>power</a:t>
            </a:r>
            <a:r>
              <a:rPr lang="es-MX" dirty="0"/>
              <a:t> </a:t>
            </a:r>
            <a:r>
              <a:rPr lang="es-MX" dirty="0" err="1"/>
              <a:t>point</a:t>
            </a:r>
            <a:r>
              <a:rPr lang="es-MX" dirty="0"/>
              <a:t> y discusión de los análisis. 20 minutos por equipo: 15 minutos de exposición y 5 de preguntas.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E0001-881C-D11D-58F2-13F7F05BCD3D}"/>
              </a:ext>
            </a:extLst>
          </p:cNvPr>
          <p:cNvSpPr txBox="1"/>
          <p:nvPr/>
        </p:nvSpPr>
        <p:spPr>
          <a:xfrm>
            <a:off x="4457699" y="772708"/>
            <a:ext cx="3624943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Reporte de laboratorio – Promedio de 3 evaluaciones. Se entregará el 18 de mayo a las 11:59 </a:t>
            </a:r>
            <a:r>
              <a:rPr lang="es-MX" dirty="0" err="1"/>
              <a:t>hr</a:t>
            </a:r>
            <a:endParaRPr lang="es-MX" dirty="0"/>
          </a:p>
          <a:p>
            <a:endParaRPr lang="es-MX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85E7201B-7D6F-30F1-62E3-DA7FABE3FC88}"/>
              </a:ext>
            </a:extLst>
          </p:cNvPr>
          <p:cNvSpPr txBox="1"/>
          <p:nvPr/>
        </p:nvSpPr>
        <p:spPr>
          <a:xfrm>
            <a:off x="4457699" y="2375241"/>
            <a:ext cx="3624943" cy="116955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Participación – Aportación al tema de trabajo, respuesta correcta a preguntas dirigidas.</a:t>
            </a:r>
          </a:p>
          <a:p>
            <a:endParaRPr lang="es-MX" dirty="0"/>
          </a:p>
          <a:p>
            <a:endParaRPr lang="es-MX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3903C9-B2AF-E64A-41F0-0B410E065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860250" cy="3416400"/>
          </a:xfrm>
        </p:spPr>
        <p:txBody>
          <a:bodyPr/>
          <a:lstStyle/>
          <a:p>
            <a:r>
              <a:rPr lang="es-MX" dirty="0"/>
              <a:t>Debe incluir:</a:t>
            </a:r>
          </a:p>
          <a:p>
            <a:pPr marL="114300" indent="0">
              <a:buNone/>
            </a:pPr>
            <a:r>
              <a:rPr lang="es-MX" dirty="0"/>
              <a:t>Marco Teórico</a:t>
            </a:r>
          </a:p>
          <a:p>
            <a:pPr marL="114300" indent="0">
              <a:buNone/>
            </a:pPr>
            <a:r>
              <a:rPr lang="es-MX" dirty="0"/>
              <a:t>Objetivo</a:t>
            </a:r>
          </a:p>
          <a:p>
            <a:pPr marL="114300" indent="0">
              <a:buNone/>
            </a:pPr>
            <a:r>
              <a:rPr lang="es-MX" dirty="0"/>
              <a:t>Material y métodos</a:t>
            </a:r>
          </a:p>
          <a:p>
            <a:pPr marL="114300" indent="0">
              <a:buNone/>
            </a:pPr>
            <a:r>
              <a:rPr lang="es-MX" dirty="0"/>
              <a:t>Resultados y observaciones</a:t>
            </a:r>
          </a:p>
          <a:p>
            <a:pPr marL="114300" indent="0">
              <a:buNone/>
            </a:pPr>
            <a:r>
              <a:rPr lang="es-MX" dirty="0"/>
              <a:t>Conclusiones</a:t>
            </a:r>
          </a:p>
          <a:p>
            <a:pPr marL="114300" indent="0">
              <a:buNone/>
            </a:pPr>
            <a:r>
              <a:rPr lang="es-MX" dirty="0"/>
              <a:t>Perspectivas</a:t>
            </a:r>
          </a:p>
          <a:p>
            <a:pPr marL="114300" indent="0">
              <a:buNone/>
            </a:pPr>
            <a:r>
              <a:rPr lang="es-MX" dirty="0"/>
              <a:t>Bibliografía</a:t>
            </a:r>
          </a:p>
          <a:p>
            <a:endParaRPr lang="en-US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38A96A12-A382-1BA6-96C7-504D922A51C8}"/>
              </a:ext>
            </a:extLst>
          </p:cNvPr>
          <p:cNvSpPr txBox="1"/>
          <p:nvPr/>
        </p:nvSpPr>
        <p:spPr>
          <a:xfrm>
            <a:off x="195943" y="247394"/>
            <a:ext cx="617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70C0"/>
                </a:solidFill>
              </a:rPr>
              <a:t>REPORTE DE LABORATORIO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56904B65-FEC5-4097-4BF4-B63C6233761F}"/>
              </a:ext>
            </a:extLst>
          </p:cNvPr>
          <p:cNvSpPr txBox="1">
            <a:spLocks/>
          </p:cNvSpPr>
          <p:nvPr/>
        </p:nvSpPr>
        <p:spPr>
          <a:xfrm>
            <a:off x="4718957" y="330997"/>
            <a:ext cx="3860250" cy="1639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dirty="0"/>
              <a:t>Evaluación:</a:t>
            </a:r>
          </a:p>
          <a:p>
            <a:pPr marL="114300" indent="0">
              <a:buFont typeface="Arial"/>
              <a:buNone/>
            </a:pPr>
            <a:r>
              <a:rPr lang="es-MX" dirty="0"/>
              <a:t>Líder de equipo</a:t>
            </a:r>
          </a:p>
          <a:p>
            <a:pPr marL="114300" indent="0">
              <a:buFont typeface="Arial"/>
              <a:buNone/>
            </a:pPr>
            <a:r>
              <a:rPr lang="es-MX" dirty="0"/>
              <a:t>Miembros del equipo</a:t>
            </a:r>
          </a:p>
          <a:p>
            <a:pPr marL="114300" indent="0">
              <a:buFont typeface="Arial"/>
              <a:buNone/>
            </a:pPr>
            <a:r>
              <a:rPr lang="es-MX" dirty="0"/>
              <a:t>Auto Evaluación</a:t>
            </a:r>
          </a:p>
          <a:p>
            <a:endParaRPr lang="en-US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D8863471-8AA0-BB66-1CE5-05C4E51F5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235945"/>
              </p:ext>
            </p:extLst>
          </p:nvPr>
        </p:nvGraphicFramePr>
        <p:xfrm>
          <a:off x="3971925" y="1799283"/>
          <a:ext cx="4792436" cy="212278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98109">
                  <a:extLst>
                    <a:ext uri="{9D8B030D-6E8A-4147-A177-3AD203B41FA5}">
                      <a16:colId xmlns:a16="http://schemas.microsoft.com/office/drawing/2014/main" val="3882579775"/>
                    </a:ext>
                  </a:extLst>
                </a:gridCol>
                <a:gridCol w="1198109">
                  <a:extLst>
                    <a:ext uri="{9D8B030D-6E8A-4147-A177-3AD203B41FA5}">
                      <a16:colId xmlns:a16="http://schemas.microsoft.com/office/drawing/2014/main" val="2950629955"/>
                    </a:ext>
                  </a:extLst>
                </a:gridCol>
                <a:gridCol w="1198109">
                  <a:extLst>
                    <a:ext uri="{9D8B030D-6E8A-4147-A177-3AD203B41FA5}">
                      <a16:colId xmlns:a16="http://schemas.microsoft.com/office/drawing/2014/main" val="1731259495"/>
                    </a:ext>
                  </a:extLst>
                </a:gridCol>
                <a:gridCol w="1198109">
                  <a:extLst>
                    <a:ext uri="{9D8B030D-6E8A-4147-A177-3AD203B41FA5}">
                      <a16:colId xmlns:a16="http://schemas.microsoft.com/office/drawing/2014/main" val="702271234"/>
                    </a:ext>
                  </a:extLst>
                </a:gridCol>
              </a:tblGrid>
              <a:tr h="598783">
                <a:tc>
                  <a:txBody>
                    <a:bodyPr/>
                    <a:lstStyle/>
                    <a:p>
                      <a:r>
                        <a:rPr lang="es-MX" dirty="0"/>
                        <a:t>Alumno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Calificación Líder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Calificación Equipo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Auto evaluación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223989"/>
                  </a:ext>
                </a:extLst>
              </a:tr>
              <a:tr h="27038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277957"/>
                  </a:ext>
                </a:extLst>
              </a:tr>
              <a:tr h="27038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873670"/>
                  </a:ext>
                </a:extLst>
              </a:tr>
              <a:tr h="27038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633853"/>
                  </a:ext>
                </a:extLst>
              </a:tr>
              <a:tr h="27038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920273"/>
                  </a:ext>
                </a:extLst>
              </a:tr>
              <a:tr h="27038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032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4939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79B9FE91-0C95-6252-A4A6-7B9DDB351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2739043-FDA7-59D8-A242-480E66BD7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381" y="0"/>
            <a:ext cx="734123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009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BCBF80FE-87E6-B6CA-FEEE-27635120E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3304348-26BD-C61D-FA2E-ECF54E7BBF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78"/>
          <a:stretch>
            <a:fillRect/>
          </a:stretch>
        </p:blipFill>
        <p:spPr>
          <a:xfrm>
            <a:off x="114300" y="99764"/>
            <a:ext cx="8899071" cy="236405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AA1C86A-EB70-F3BE-C6DB-B70DBDDFCA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612"/>
          <a:stretch>
            <a:fillRect/>
          </a:stretch>
        </p:blipFill>
        <p:spPr>
          <a:xfrm>
            <a:off x="1045027" y="2020629"/>
            <a:ext cx="7568293" cy="312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824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677CB2AE-A5FC-6A82-7439-E3D2C9874D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406E96E-CF64-28E9-2D0A-D3F33CE229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746"/>
          <a:stretch>
            <a:fillRect/>
          </a:stretch>
        </p:blipFill>
        <p:spPr>
          <a:xfrm>
            <a:off x="976352" y="81643"/>
            <a:ext cx="7669626" cy="427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506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E16ADF90-CD7A-3083-B968-AC4C49313F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7CB66F0-DB93-30A5-7FAA-CB1ED91E96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84" r="3722"/>
          <a:stretch>
            <a:fillRect/>
          </a:stretch>
        </p:blipFill>
        <p:spPr>
          <a:xfrm>
            <a:off x="647712" y="488613"/>
            <a:ext cx="8062124" cy="404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063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178EEC8-8CB2-3B15-0A33-5A25F92DD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9430BB6-955C-742B-C5D3-5438C101F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1" y="138793"/>
            <a:ext cx="7684699" cy="4591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119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B6CB2C8-6FA2-8F6F-CEA9-1E944DB9A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538843"/>
            <a:ext cx="8473071" cy="4030032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Convivencia pacífica y respeto a la diversidad cultural, étnica y personal.</a:t>
            </a:r>
          </a:p>
          <a:p>
            <a:r>
              <a:rPr lang="es-ES" dirty="0"/>
              <a:t>Igualdad.</a:t>
            </a:r>
          </a:p>
          <a:p>
            <a:r>
              <a:rPr lang="es-ES" dirty="0"/>
              <a:t>Libertad de pensamiento y de expresión.</a:t>
            </a:r>
          </a:p>
          <a:p>
            <a:r>
              <a:rPr lang="es-ES" dirty="0"/>
              <a:t>Respeto y tolerancia.</a:t>
            </a:r>
          </a:p>
          <a:p>
            <a:r>
              <a:rPr lang="es-ES" dirty="0"/>
              <a:t>Laicidad en las actividades universitarias.</a:t>
            </a:r>
          </a:p>
          <a:p>
            <a:r>
              <a:rPr lang="es-ES" dirty="0"/>
              <a:t>Integridad y honestidad académica.</a:t>
            </a:r>
          </a:p>
          <a:p>
            <a:r>
              <a:rPr lang="es-ES" dirty="0"/>
              <a:t>Reconocimiento y protección de la autoría intelectual.</a:t>
            </a:r>
          </a:p>
          <a:p>
            <a:r>
              <a:rPr lang="es-ES" dirty="0"/>
              <a:t>Responsabilidad social y ambiental en el quehacer universitario.</a:t>
            </a:r>
          </a:p>
          <a:p>
            <a:r>
              <a:rPr lang="es-ES" dirty="0"/>
              <a:t>Objetividad, honestidad e imparcialidad en las evaluaciones académicas.</a:t>
            </a:r>
          </a:p>
          <a:p>
            <a:r>
              <a:rPr lang="es-ES" dirty="0"/>
              <a:t>Cuidado, uso honesto y responsable del patrimonio universitario.</a:t>
            </a:r>
          </a:p>
          <a:p>
            <a:r>
              <a:rPr lang="es-ES" dirty="0"/>
              <a:t>Transparencia en el uso de la información y de los recursos públicos de la Universidad.</a:t>
            </a:r>
          </a:p>
          <a:p>
            <a:r>
              <a:rPr lang="es-ES" dirty="0"/>
              <a:t>Privacidad y protección de la información personal.</a:t>
            </a:r>
            <a:endParaRPr lang="en-US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47B2F4B7-5D69-F0EB-B152-99E2F02D970A}"/>
              </a:ext>
            </a:extLst>
          </p:cNvPr>
          <p:cNvSpPr txBox="1"/>
          <p:nvPr/>
        </p:nvSpPr>
        <p:spPr>
          <a:xfrm>
            <a:off x="236765" y="137248"/>
            <a:ext cx="617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70C0"/>
                </a:solidFill>
              </a:rPr>
              <a:t>PRINCIPIOS ÉTICOS DEL CURSO</a:t>
            </a:r>
            <a:endParaRPr 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377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929280-5280-25EC-5B60-CFC92D47F944}"/>
              </a:ext>
            </a:extLst>
          </p:cNvPr>
          <p:cNvSpPr txBox="1"/>
          <p:nvPr/>
        </p:nvSpPr>
        <p:spPr>
          <a:xfrm>
            <a:off x="718457" y="808264"/>
            <a:ext cx="81397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accent1">
                    <a:lumMod val="75000"/>
                  </a:schemeClr>
                </a:solidFill>
              </a:rPr>
              <a:t>EQUIPO 1   Dra. Clara Estela Díaz Velásquez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A9D7F6-2A2B-E8B1-7A3E-31094D14F24D}"/>
              </a:ext>
            </a:extLst>
          </p:cNvPr>
          <p:cNvSpPr txBox="1"/>
          <p:nvPr/>
        </p:nvSpPr>
        <p:spPr>
          <a:xfrm>
            <a:off x="612321" y="1641021"/>
            <a:ext cx="361677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2201</a:t>
            </a:r>
          </a:p>
          <a:p>
            <a:r>
              <a:rPr lang="es-MX" dirty="0"/>
              <a:t>ARELLANO PEREX XIMENA NICOLEE</a:t>
            </a:r>
          </a:p>
          <a:p>
            <a:r>
              <a:rPr lang="es-MX" dirty="0"/>
              <a:t>BAÑUELOS ACOSTA CAMILA YAMILET</a:t>
            </a:r>
          </a:p>
          <a:p>
            <a:r>
              <a:rPr lang="es-MX" dirty="0"/>
              <a:t>PAREDES HERNANDEZ ADRIAN ALEXIS</a:t>
            </a:r>
          </a:p>
          <a:p>
            <a:r>
              <a:rPr lang="es-MX" dirty="0"/>
              <a:t>RODRIGUEZ PIÑA NATALIA</a:t>
            </a:r>
          </a:p>
          <a:p>
            <a:r>
              <a:rPr lang="es-MX" dirty="0"/>
              <a:t>TERRAZAS SIERRA NEO VADID</a:t>
            </a:r>
          </a:p>
          <a:p>
            <a:endParaRPr lang="es-MX" dirty="0"/>
          </a:p>
          <a:p>
            <a:r>
              <a:rPr lang="es-MX" b="0" i="0" u="none" strike="noStrike" baseline="0" dirty="0">
                <a:latin typeface="ArialMT"/>
              </a:rPr>
              <a:t> </a:t>
            </a:r>
            <a:endParaRPr lang="es-MX" dirty="0">
              <a:latin typeface="ArialMT"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6FCEED-ED3C-CB9D-DCFD-5FAE98378895}"/>
              </a:ext>
            </a:extLst>
          </p:cNvPr>
          <p:cNvSpPr txBox="1"/>
          <p:nvPr/>
        </p:nvSpPr>
        <p:spPr>
          <a:xfrm>
            <a:off x="4514850" y="1641021"/>
            <a:ext cx="42046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2202</a:t>
            </a:r>
          </a:p>
          <a:p>
            <a:r>
              <a:rPr lang="es-MX" b="0" i="0" u="none" strike="noStrike" baseline="0" dirty="0">
                <a:latin typeface="ArialMT"/>
              </a:rPr>
              <a:t>BENITEZ LEON LUIS ENRIQUE</a:t>
            </a:r>
          </a:p>
          <a:p>
            <a:r>
              <a:rPr lang="es-MX" dirty="0">
                <a:latin typeface="ArialMT"/>
              </a:rPr>
              <a:t>HERNANDEZ </a:t>
            </a:r>
            <a:r>
              <a:rPr lang="es-MX" dirty="0" err="1">
                <a:latin typeface="ArialMT"/>
              </a:rPr>
              <a:t>HERNANDEZ</a:t>
            </a:r>
            <a:r>
              <a:rPr lang="es-MX" dirty="0">
                <a:latin typeface="ArialMT"/>
              </a:rPr>
              <a:t> FERNANDA SARAHI</a:t>
            </a:r>
          </a:p>
          <a:p>
            <a:r>
              <a:rPr lang="es-MX" dirty="0">
                <a:latin typeface="ArialMT"/>
              </a:rPr>
              <a:t>MARQUEZ RODRIGUEZ MIGUEL</a:t>
            </a:r>
          </a:p>
          <a:p>
            <a:r>
              <a:rPr lang="es-MX" dirty="0">
                <a:latin typeface="ArialMT"/>
              </a:rPr>
              <a:t>ONTIVEROS RUIZ MAURICIO MAXIMO</a:t>
            </a:r>
          </a:p>
          <a:p>
            <a:r>
              <a:rPr lang="es-MX" dirty="0">
                <a:latin typeface="ArialMT"/>
              </a:rPr>
              <a:t>ROJAS PEREZ ALIN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929280-5280-25EC-5B60-CFC92D47F944}"/>
              </a:ext>
            </a:extLst>
          </p:cNvPr>
          <p:cNvSpPr txBox="1"/>
          <p:nvPr/>
        </p:nvSpPr>
        <p:spPr>
          <a:xfrm>
            <a:off x="738866" y="808264"/>
            <a:ext cx="81397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accent1">
                    <a:lumMod val="75000"/>
                  </a:schemeClr>
                </a:solidFill>
              </a:rPr>
              <a:t>EQUIPO 2   Dr. Héctor Martínez Gregorio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A9D7F6-2A2B-E8B1-7A3E-31094D14F24D}"/>
              </a:ext>
            </a:extLst>
          </p:cNvPr>
          <p:cNvSpPr txBox="1"/>
          <p:nvPr/>
        </p:nvSpPr>
        <p:spPr>
          <a:xfrm>
            <a:off x="612320" y="1641021"/>
            <a:ext cx="41964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2201</a:t>
            </a:r>
          </a:p>
          <a:p>
            <a:r>
              <a:rPr lang="es-MX" b="0" i="0" u="none" strike="noStrike" baseline="0" dirty="0">
                <a:latin typeface="ArialMT"/>
              </a:rPr>
              <a:t>ARVIZU CONTRERAS INGRID ESTEFANIA</a:t>
            </a:r>
          </a:p>
          <a:p>
            <a:r>
              <a:rPr lang="es-MX" dirty="0">
                <a:latin typeface="ArialMT"/>
              </a:rPr>
              <a:t>HERNANDEZ GARCIA SHARI ATZIMBA</a:t>
            </a:r>
          </a:p>
          <a:p>
            <a:r>
              <a:rPr lang="es-MX" dirty="0">
                <a:latin typeface="ArialMT"/>
              </a:rPr>
              <a:t>MOTA FLORIDA DARIO JOSUE</a:t>
            </a:r>
          </a:p>
          <a:p>
            <a:r>
              <a:rPr lang="es-MX" dirty="0">
                <a:latin typeface="ArialMT"/>
              </a:rPr>
              <a:t>PEREZ GUTIERREZ DAVID</a:t>
            </a:r>
          </a:p>
          <a:p>
            <a:r>
              <a:rPr lang="es-MX" dirty="0">
                <a:latin typeface="ArialMT"/>
              </a:rPr>
              <a:t>SOLIS RODRIGUEZ NATALIA ELIZABETH</a:t>
            </a:r>
          </a:p>
          <a:p>
            <a:r>
              <a:rPr lang="en-US" dirty="0"/>
              <a:t>SANCHEZ LOPEZ GUSTAVO EDUARDO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6FCEED-ED3C-CB9D-DCFD-5FAE98378895}"/>
              </a:ext>
            </a:extLst>
          </p:cNvPr>
          <p:cNvSpPr txBox="1"/>
          <p:nvPr/>
        </p:nvSpPr>
        <p:spPr>
          <a:xfrm>
            <a:off x="4914903" y="1641021"/>
            <a:ext cx="38045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2202</a:t>
            </a:r>
          </a:p>
          <a:p>
            <a:r>
              <a:rPr lang="en-US" b="0" i="0" u="none" strike="noStrike" baseline="0" dirty="0">
                <a:latin typeface="ArialMT"/>
              </a:rPr>
              <a:t>CARRILLO SOLORZANO NUBIA NADINE</a:t>
            </a:r>
          </a:p>
          <a:p>
            <a:r>
              <a:rPr lang="en-US" dirty="0">
                <a:latin typeface="ArialMT"/>
              </a:rPr>
              <a:t>JIMENEZ GUTIERREZ EVELYN IVETTE</a:t>
            </a:r>
          </a:p>
          <a:p>
            <a:r>
              <a:rPr lang="en-US" dirty="0">
                <a:latin typeface="ArialMT"/>
              </a:rPr>
              <a:t>MEDEL ZAVALA RUTH HATZIRI</a:t>
            </a:r>
          </a:p>
          <a:p>
            <a:r>
              <a:rPr lang="en-US" dirty="0">
                <a:latin typeface="ArialMT"/>
              </a:rPr>
              <a:t>PAEZ ZETINA SALVADOR ADAN</a:t>
            </a:r>
          </a:p>
          <a:p>
            <a:r>
              <a:rPr lang="en-US" dirty="0">
                <a:latin typeface="ArialMT"/>
              </a:rPr>
              <a:t>VILLANUEVA LAUREANO JAIME DAVID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903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929280-5280-25EC-5B60-CFC92D47F944}"/>
              </a:ext>
            </a:extLst>
          </p:cNvPr>
          <p:cNvSpPr txBox="1"/>
          <p:nvPr/>
        </p:nvSpPr>
        <p:spPr>
          <a:xfrm>
            <a:off x="738866" y="808264"/>
            <a:ext cx="81397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accent1">
                    <a:lumMod val="75000"/>
                  </a:schemeClr>
                </a:solidFill>
              </a:rPr>
              <a:t>EQUIPO 3   M en C. Fernanda Largo Fernández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A9D7F6-2A2B-E8B1-7A3E-31094D14F24D}"/>
              </a:ext>
            </a:extLst>
          </p:cNvPr>
          <p:cNvSpPr txBox="1"/>
          <p:nvPr/>
        </p:nvSpPr>
        <p:spPr>
          <a:xfrm>
            <a:off x="612320" y="1641021"/>
            <a:ext cx="419644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2201</a:t>
            </a:r>
          </a:p>
          <a:p>
            <a:r>
              <a:rPr lang="es-MX" dirty="0">
                <a:latin typeface="ArialMT"/>
              </a:rPr>
              <a:t>BALLEZA AYALA SHERLYN</a:t>
            </a:r>
          </a:p>
          <a:p>
            <a:r>
              <a:rPr lang="es-MX" dirty="0">
                <a:latin typeface="ArialMT"/>
              </a:rPr>
              <a:t>CARRILLO HERNANDEZ CELTZIN CAMILA</a:t>
            </a:r>
          </a:p>
          <a:p>
            <a:r>
              <a:rPr lang="es-MX" dirty="0">
                <a:latin typeface="ArialMT"/>
              </a:rPr>
              <a:t>MARTINEZ RANGEL JOSE SANTIAGO</a:t>
            </a:r>
          </a:p>
          <a:p>
            <a:r>
              <a:rPr lang="es-MX" dirty="0">
                <a:latin typeface="ArialMT"/>
              </a:rPr>
              <a:t>PEREZ MORA CITLALLI JOSELINE</a:t>
            </a:r>
          </a:p>
          <a:p>
            <a:r>
              <a:rPr lang="es-MX" dirty="0">
                <a:latin typeface="ArialMT"/>
              </a:rPr>
              <a:t>SOLIS PEREZ AXEL EMILIANO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6FCEED-ED3C-CB9D-DCFD-5FAE98378895}"/>
              </a:ext>
            </a:extLst>
          </p:cNvPr>
          <p:cNvSpPr txBox="1"/>
          <p:nvPr/>
        </p:nvSpPr>
        <p:spPr>
          <a:xfrm>
            <a:off x="4914903" y="1641021"/>
            <a:ext cx="380455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2202</a:t>
            </a:r>
          </a:p>
          <a:p>
            <a:r>
              <a:rPr lang="en-US" b="0" i="0" u="none" strike="noStrike" baseline="0" dirty="0">
                <a:latin typeface="ArialMT"/>
              </a:rPr>
              <a:t>CABRERA LARIOS DAVID</a:t>
            </a:r>
          </a:p>
          <a:p>
            <a:r>
              <a:rPr lang="en-US" dirty="0">
                <a:latin typeface="ArialMT"/>
              </a:rPr>
              <a:t>GARCIA CABRERA DAILA GUADALUPE</a:t>
            </a:r>
          </a:p>
          <a:p>
            <a:r>
              <a:rPr lang="en-US" dirty="0">
                <a:latin typeface="ArialMT"/>
              </a:rPr>
              <a:t>LARIOS LICEA LARA AURA</a:t>
            </a:r>
          </a:p>
          <a:p>
            <a:r>
              <a:rPr lang="en-US" dirty="0">
                <a:latin typeface="ArialMT"/>
              </a:rPr>
              <a:t>VARGAS PEREZ KAREN MARLENE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842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929280-5280-25EC-5B60-CFC92D47F944}"/>
              </a:ext>
            </a:extLst>
          </p:cNvPr>
          <p:cNvSpPr txBox="1"/>
          <p:nvPr/>
        </p:nvSpPr>
        <p:spPr>
          <a:xfrm>
            <a:off x="738866" y="808264"/>
            <a:ext cx="81397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accent1">
                    <a:lumMod val="75000"/>
                  </a:schemeClr>
                </a:solidFill>
              </a:rPr>
              <a:t>EQUIPO 4 Biol. Laura Itzel Hernández Romero  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A9D7F6-2A2B-E8B1-7A3E-31094D14F24D}"/>
              </a:ext>
            </a:extLst>
          </p:cNvPr>
          <p:cNvSpPr txBox="1"/>
          <p:nvPr/>
        </p:nvSpPr>
        <p:spPr>
          <a:xfrm>
            <a:off x="612320" y="1641021"/>
            <a:ext cx="41964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2201</a:t>
            </a:r>
            <a:r>
              <a:rPr lang="es-MX" b="0" i="0" u="none" strike="noStrike" baseline="0" dirty="0">
                <a:latin typeface="ArialMT"/>
              </a:rPr>
              <a:t> </a:t>
            </a:r>
            <a:endParaRPr lang="en-US" dirty="0"/>
          </a:p>
          <a:p>
            <a:r>
              <a:rPr lang="en-US" dirty="0"/>
              <a:t>CARMONA ARCE BRAYAN ALFEDO</a:t>
            </a:r>
          </a:p>
          <a:p>
            <a:r>
              <a:rPr lang="en-US" dirty="0"/>
              <a:t>ESPINOSA LOPEZ DIEGO</a:t>
            </a:r>
          </a:p>
          <a:p>
            <a:r>
              <a:rPr lang="en-US" dirty="0"/>
              <a:t>OCAMPO CORTES ROBERTO</a:t>
            </a:r>
          </a:p>
          <a:p>
            <a:r>
              <a:rPr lang="en-US" dirty="0"/>
              <a:t>PEREZ ARRIETA LUISA ISABEL</a:t>
            </a:r>
          </a:p>
          <a:p>
            <a:r>
              <a:rPr lang="en-US" dirty="0"/>
              <a:t>RIOS ORTIZ MARIA FERNANDA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6FCEED-ED3C-CB9D-DCFD-5FAE98378895}"/>
              </a:ext>
            </a:extLst>
          </p:cNvPr>
          <p:cNvSpPr txBox="1"/>
          <p:nvPr/>
        </p:nvSpPr>
        <p:spPr>
          <a:xfrm>
            <a:off x="4547507" y="1641021"/>
            <a:ext cx="41719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2202</a:t>
            </a:r>
          </a:p>
          <a:p>
            <a:r>
              <a:rPr lang="en-US" dirty="0">
                <a:latin typeface="ArialMT"/>
              </a:rPr>
              <a:t>CORTEZ GONZALEZ KATERINE ASTRID</a:t>
            </a:r>
          </a:p>
          <a:p>
            <a:r>
              <a:rPr lang="en-US" dirty="0">
                <a:latin typeface="ArialMT"/>
              </a:rPr>
              <a:t>HERRERA MORALES ALFONSO EFREN</a:t>
            </a:r>
          </a:p>
          <a:p>
            <a:r>
              <a:rPr lang="en-US" dirty="0">
                <a:latin typeface="ArialMT"/>
              </a:rPr>
              <a:t>ORTEGA FLORENTINO MARIA GUADALUPE</a:t>
            </a:r>
          </a:p>
          <a:p>
            <a:r>
              <a:rPr lang="en-US" dirty="0">
                <a:latin typeface="ArialMT"/>
              </a:rPr>
              <a:t>RAMIREZ QUESADA SOFIA</a:t>
            </a:r>
          </a:p>
          <a:p>
            <a:r>
              <a:rPr lang="en-US" dirty="0">
                <a:latin typeface="ArialMT"/>
              </a:rPr>
              <a:t>SANCHEZ CASTAÑEDA FERNANDO DANIEL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481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929280-5280-25EC-5B60-CFC92D47F944}"/>
              </a:ext>
            </a:extLst>
          </p:cNvPr>
          <p:cNvSpPr txBox="1"/>
          <p:nvPr/>
        </p:nvSpPr>
        <p:spPr>
          <a:xfrm>
            <a:off x="738866" y="808264"/>
            <a:ext cx="81397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accent1">
                    <a:lumMod val="75000"/>
                  </a:schemeClr>
                </a:solidFill>
              </a:rPr>
              <a:t>EQUIPO 5   Biol. Gabriela Reséndiz Flores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A9D7F6-2A2B-E8B1-7A3E-31094D14F24D}"/>
              </a:ext>
            </a:extLst>
          </p:cNvPr>
          <p:cNvSpPr txBox="1"/>
          <p:nvPr/>
        </p:nvSpPr>
        <p:spPr>
          <a:xfrm>
            <a:off x="612320" y="1641021"/>
            <a:ext cx="419644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2201</a:t>
            </a:r>
          </a:p>
          <a:p>
            <a:r>
              <a:rPr lang="es-MX" b="0" i="0" u="none" strike="noStrike" baseline="0" dirty="0">
                <a:latin typeface="ArialMT"/>
              </a:rPr>
              <a:t>AVILES LOPEZ JAQUELINE</a:t>
            </a:r>
          </a:p>
          <a:p>
            <a:r>
              <a:rPr lang="es-MX" dirty="0">
                <a:latin typeface="ArialMT"/>
              </a:rPr>
              <a:t>DELGADILLO ESPINOSA LESLY MONTSERRAT</a:t>
            </a:r>
          </a:p>
          <a:p>
            <a:r>
              <a:rPr lang="es-MX" dirty="0">
                <a:latin typeface="ArialMT"/>
              </a:rPr>
              <a:t>LOPEZ TESCAHUA YOARI URIEL</a:t>
            </a:r>
          </a:p>
          <a:p>
            <a:r>
              <a:rPr lang="es-MX" dirty="0">
                <a:latin typeface="ArialMT"/>
              </a:rPr>
              <a:t>MORENO CRUZ DIEGO</a:t>
            </a:r>
          </a:p>
          <a:p>
            <a:r>
              <a:rPr lang="es-MX" dirty="0">
                <a:latin typeface="ArialMT"/>
              </a:rPr>
              <a:t>OCHOA BELLO KINICH YOLOTL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6FCEED-ED3C-CB9D-DCFD-5FAE98378895}"/>
              </a:ext>
            </a:extLst>
          </p:cNvPr>
          <p:cNvSpPr txBox="1"/>
          <p:nvPr/>
        </p:nvSpPr>
        <p:spPr>
          <a:xfrm>
            <a:off x="4914903" y="1641021"/>
            <a:ext cx="38045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2202</a:t>
            </a:r>
          </a:p>
          <a:p>
            <a:r>
              <a:rPr lang="en-US" b="0" i="0" u="none" strike="noStrike" baseline="0" dirty="0">
                <a:latin typeface="ArialMT"/>
              </a:rPr>
              <a:t>ANTONIO CARRASCO MIREYA</a:t>
            </a:r>
          </a:p>
          <a:p>
            <a:r>
              <a:rPr lang="en-US" dirty="0">
                <a:latin typeface="ArialMT"/>
              </a:rPr>
              <a:t>MARTINEZ QUIROZ PAOLA ABIGAIL</a:t>
            </a:r>
          </a:p>
          <a:p>
            <a:r>
              <a:rPr lang="en-US" dirty="0">
                <a:latin typeface="ArialMT"/>
              </a:rPr>
              <a:t>MUCIO FLORES ROBERTO</a:t>
            </a:r>
          </a:p>
          <a:p>
            <a:r>
              <a:rPr lang="en-US" dirty="0">
                <a:latin typeface="ArialMT"/>
              </a:rPr>
              <a:t>PEREZ RODRIGUEZ RICARDO JOSUE</a:t>
            </a:r>
          </a:p>
          <a:p>
            <a:r>
              <a:rPr lang="en-US" dirty="0">
                <a:latin typeface="ArialMT"/>
              </a:rPr>
              <a:t>SALINAS GRIMALDO PAOLA GALAAD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362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uan Héctor Algrávez (@algravez) / Twitter">
            <a:extLst>
              <a:ext uri="{FF2B5EF4-FFF2-40B4-BE49-F238E27FC236}">
                <a16:creationId xmlns:a16="http://schemas.microsoft.com/office/drawing/2014/main" id="{A8620384-F3B5-248F-692C-6F8752964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7257" y="413729"/>
            <a:ext cx="4653870" cy="3619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80914E5-3611-40F1-695A-401994DDA8AB}"/>
              </a:ext>
            </a:extLst>
          </p:cNvPr>
          <p:cNvSpPr txBox="1"/>
          <p:nvPr/>
        </p:nvSpPr>
        <p:spPr>
          <a:xfrm>
            <a:off x="710293" y="1877785"/>
            <a:ext cx="19186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C00000"/>
                </a:solidFill>
              </a:rPr>
              <a:t>Diviértanse y aprendan!</a:t>
            </a:r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2806</TotalTime>
  <Words>504</Words>
  <Application>Microsoft Office PowerPoint</Application>
  <PresentationFormat>Presentación en pantalla (16:9)</PresentationFormat>
  <Paragraphs>121</Paragraphs>
  <Slides>16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ArialMT</vt:lpstr>
      <vt:lpstr>Calibri</vt:lpstr>
      <vt:lpstr>Simple Light</vt:lpstr>
      <vt:lpstr>Tema de Office</vt:lpstr>
      <vt:lpstr> “Evaluación del Curso”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“Evaluación del Curso”</dc:title>
  <cp:lastModifiedBy>CLARA ESTELA DIAZ VELASQUEZ</cp:lastModifiedBy>
  <cp:revision>16</cp:revision>
  <dcterms:modified xsi:type="dcterms:W3CDTF">2026-04-26T20:02:31Z</dcterms:modified>
</cp:coreProperties>
</file>