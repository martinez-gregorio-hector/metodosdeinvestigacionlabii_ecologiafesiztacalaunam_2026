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8" r:id="rId3"/>
    <p:sldId id="257" r:id="rId4"/>
    <p:sldId id="258" r:id="rId5"/>
    <p:sldId id="292" r:id="rId6"/>
    <p:sldId id="260" r:id="rId7"/>
    <p:sldId id="259" r:id="rId8"/>
    <p:sldId id="263" r:id="rId9"/>
    <p:sldId id="286" r:id="rId10"/>
    <p:sldId id="287" r:id="rId11"/>
    <p:sldId id="291" r:id="rId12"/>
    <p:sldId id="289" r:id="rId13"/>
    <p:sldId id="264" r:id="rId14"/>
    <p:sldId id="290" r:id="rId15"/>
    <p:sldId id="288" r:id="rId16"/>
    <p:sldId id="267" r:id="rId17"/>
    <p:sldId id="293" r:id="rId18"/>
    <p:sldId id="262" r:id="rId19"/>
    <p:sldId id="294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7F6C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4584"/>
  </p:normalViewPr>
  <p:slideViewPr>
    <p:cSldViewPr snapToGrid="0">
      <p:cViewPr varScale="1">
        <p:scale>
          <a:sx n="120" d="100"/>
          <a:sy n="120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6E5C4-996C-40D2-8106-E304910FE1FD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62648-D6E8-4557-B387-F6200F2AEFA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3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62648-D6E8-4557-B387-F6200F2AE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74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62648-D6E8-4557-B387-F6200F2AEFA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86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62648-D6E8-4557-B387-F6200F2AEF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466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562648-D6E8-4557-B387-F6200F2AEFA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8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1EB96-3722-2EEF-40A3-71C9C2E30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A31A65-1C1C-0D28-F4EC-B4F95A35A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F74385-678D-FBAA-CC95-E1578787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98804F-CE37-C239-B76E-07223C0C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54DB2F-4BB9-4D04-F47F-35D48820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4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68559-1DD8-9F31-F205-25CD08F22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DF877A-0B90-0A67-7F2D-17DF7A872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42062A-BFE7-73F0-1A53-8D857AE8E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7D2C0-8397-0001-6F35-3A0E64C2C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9B710C-08B3-2916-DEE1-4D4DBFB4A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245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2B5B7D-5196-3F7F-7E16-3437DC2B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D03583-7F0B-5907-1C33-C19683061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34A0BC-3E85-2DDE-D8D5-177F551C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B05961-5B99-ECA3-9750-4189E6D00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019D21-0C9C-2B16-34F2-43AC45B2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2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868D2-E0BE-48A1-BD79-BBB0BCD4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64A95E-88F4-5612-4DCA-E6073FC88B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D9374C-D413-9D36-1BD2-85E1FF3F0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F3A354C-AD3B-5EBA-AFEB-5C2D45719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E13CC0-5A46-8177-0C88-F6018590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547F8-0C98-2EFA-9FCF-4C1C56DE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27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19DD96-6233-9433-299E-510A9C9A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CCC654-882D-7931-78E2-CA28766E2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25901A-4A24-B45C-80A9-BDC4AA0AD0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27D70E-A6D7-B39E-8337-64B92C88F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86924D-B239-997F-E1D8-DDA927F059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280FD4-7F58-D86B-CEF6-D3E2B3F7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C827F2D-5EF5-EA2D-0AC6-A490795A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C114F70-70AE-8EF4-6151-8C67098B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0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0B30E-51FE-05EF-A7DA-27B6A1945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A18EB5A-ED9F-2CF9-F878-F8030730C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8FF396-FCC2-B3BA-E925-4C974EEA9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332B7E-0EEF-188C-5922-D5EEEFE3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1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54CB56-DC20-40F8-50D8-5289FCC1D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1A3270-9C33-64D7-7980-6316446D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1BA43B-B82A-0BA4-08C0-4D971F286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4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EF57AB-6B5B-4938-1D83-917AD889E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25E3B1-C129-A422-DDBC-90589F16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B23F20-BDD1-39AF-3A74-9213447807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5C4AB9-9C0F-2D91-B016-F1966873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8B3DB7-EBFA-95D7-56D2-9DE2CD45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8E8230-345F-C15D-01AE-2A2E7769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81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E123E-66A3-A3D8-BDC5-A5328A0BE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2EA5806-3A0E-8DCA-A04C-6DA523AEF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9B42BE-A081-92C1-CA0B-A15864066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C1D21C-44F2-3955-1CDE-591CFB128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6E7C79-27BF-4B90-8E90-DE2A3C80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FB4B77-E52D-3617-1273-1FAF71D32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2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F6786-49CB-1132-0FE3-D8CB61C0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4448C1-41A8-8DFE-E7F8-C2A854AB7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C1AA06-F774-3617-47C4-3838B57C9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1345BD-C7D9-1D9A-8F7D-BFA30245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4D20DA-C1B5-12C6-E714-84BD5F9BC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5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C236D9A-14CA-B512-B129-FCF954D1B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F2AA0B6-2023-1D82-BD74-EC22974A6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A74C43-BB18-0518-14C7-BA0ACC60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FB4015-A6A0-174D-2BBA-4BC54DB76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CE89B5-CAF2-097F-5A3C-FB7B7FC6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8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30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CB55C9-E6EF-F1B4-5E5D-7EF2D943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732CB0-392D-3837-FC8E-1C43FF7A4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8DDF4C-5A37-7C68-F8F7-FED5D3086F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A844DD-916D-486A-985D-B5E7D54B625D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195B49-FD02-E4BB-411A-331E01E6B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254B95-2F30-E793-ABF9-A1A049481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19DF3C-60F6-4EE3-BBB7-6B0B642E68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8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nalc.cshl.edu/resources/animations/pcr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08684-6584-0BB9-0776-51C15631A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6878" y="1404256"/>
            <a:ext cx="9569704" cy="1082449"/>
          </a:xfrm>
        </p:spPr>
        <p:txBody>
          <a:bodyPr>
            <a:normAutofit/>
          </a:bodyPr>
          <a:lstStyle/>
          <a:p>
            <a:r>
              <a:rPr lang="es-MX" sz="3600" dirty="0"/>
              <a:t>Materia Métodos de Investigación en Laboratorio II</a:t>
            </a:r>
            <a:endParaRPr lang="en-US" sz="36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6C023D-26D1-0DAC-1E42-27A03BD01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15534"/>
            <a:ext cx="12192000" cy="1655762"/>
          </a:xfrm>
          <a:solidFill>
            <a:srgbClr val="317F6C"/>
          </a:solidFill>
        </p:spPr>
        <p:txBody>
          <a:bodyPr>
            <a:normAutofit/>
          </a:bodyPr>
          <a:lstStyle/>
          <a:p>
            <a:endParaRPr lang="es-MX" sz="4800" b="1" dirty="0"/>
          </a:p>
          <a:p>
            <a:r>
              <a:rPr lang="es-MX" sz="4800" b="1" dirty="0"/>
              <a:t>Reacción en Cadena de la Polimerasa</a:t>
            </a:r>
            <a:endParaRPr lang="en-US" sz="4800" b="1" dirty="0"/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E58E5FCC-C883-0160-3805-5439188BC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1" y="0"/>
            <a:ext cx="1682521" cy="168252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D309F27-28E8-A3B6-129E-9A85D69866DD}"/>
              </a:ext>
            </a:extLst>
          </p:cNvPr>
          <p:cNvSpPr txBox="1"/>
          <p:nvPr/>
        </p:nvSpPr>
        <p:spPr>
          <a:xfrm>
            <a:off x="5627914" y="6354596"/>
            <a:ext cx="6422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Dr. Felipe Vaca Paniagua</a:t>
            </a:r>
          </a:p>
        </p:txBody>
      </p:sp>
      <p:pic>
        <p:nvPicPr>
          <p:cNvPr id="7" name="Google Shape;136;p25">
            <a:extLst>
              <a:ext uri="{FF2B5EF4-FFF2-40B4-BE49-F238E27FC236}">
                <a16:creationId xmlns:a16="http://schemas.microsoft.com/office/drawing/2014/main" id="{ECFE168D-B246-1FB4-D60F-5CF403E1C2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000" t="18013" r="7160" b="19175"/>
          <a:stretch/>
        </p:blipFill>
        <p:spPr>
          <a:xfrm>
            <a:off x="876276" y="88983"/>
            <a:ext cx="4490382" cy="1226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4EFB55E-9F6B-4E74-5CC3-3FCB129C6A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67" y="4543398"/>
            <a:ext cx="6188967" cy="221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1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940E1-84B4-AF4E-CA25-512B00F8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567B9-67AC-060A-9EA1-629D56266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Historia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DBFB27-AB83-079B-3B2D-FD77EFE97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736" y="1736197"/>
            <a:ext cx="10515600" cy="3428300"/>
          </a:xfrm>
        </p:spPr>
        <p:txBody>
          <a:bodyPr/>
          <a:lstStyle/>
          <a:p>
            <a:r>
              <a:rPr lang="es-MX" dirty="0"/>
              <a:t>1971 </a:t>
            </a:r>
            <a:r>
              <a:rPr lang="es-MX" dirty="0" err="1"/>
              <a:t>Khorana</a:t>
            </a:r>
            <a:r>
              <a:rPr lang="es-MX" dirty="0"/>
              <a:t> y cols., describen la duplicación de una región dúplex de DNA usando </a:t>
            </a:r>
            <a:r>
              <a:rPr lang="es-MX" dirty="0" err="1"/>
              <a:t>primers</a:t>
            </a:r>
            <a:r>
              <a:rPr lang="es-MX" dirty="0"/>
              <a:t>.</a:t>
            </a:r>
          </a:p>
          <a:p>
            <a:r>
              <a:rPr lang="es-MX" dirty="0"/>
              <a:t>Desarrollada en 1983 por el bioquímico</a:t>
            </a:r>
          </a:p>
          <a:p>
            <a:pPr marL="0" indent="0">
              <a:buNone/>
            </a:pPr>
            <a:r>
              <a:rPr lang="es-MX" dirty="0"/>
              <a:t>Kary Mullis</a:t>
            </a:r>
          </a:p>
          <a:p>
            <a:r>
              <a:rPr lang="es-MX" dirty="0"/>
              <a:t>1993 Kary Mullis recibe el premio Nobel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de </a:t>
            </a:r>
            <a:r>
              <a:rPr lang="en-US" dirty="0" err="1"/>
              <a:t>Química</a:t>
            </a:r>
            <a:endParaRPr lang="es-MX" dirty="0"/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BAB332C1-DD06-EB22-7EC6-4340C1C72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1B9C7B64-CAA3-FF77-D6E3-E82453AD8678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8685D18-A4B9-1941-8C32-7663199D9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369" y="2512996"/>
            <a:ext cx="4464893" cy="297659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5DD73C4-8C8E-5BAA-4CEF-03FA484F8980}"/>
              </a:ext>
            </a:extLst>
          </p:cNvPr>
          <p:cNvSpPr txBox="1"/>
          <p:nvPr/>
        </p:nvSpPr>
        <p:spPr>
          <a:xfrm>
            <a:off x="1418847" y="5077477"/>
            <a:ext cx="5725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Mullis KB (1990) The unusual origins of the polymerase chain reaction. Sci Am 262:</a:t>
            </a:r>
          </a:p>
          <a:p>
            <a:r>
              <a:rPr lang="en-US" dirty="0"/>
              <a:t>56–65.</a:t>
            </a:r>
          </a:p>
        </p:txBody>
      </p:sp>
    </p:spTree>
    <p:extLst>
      <p:ext uri="{BB962C8B-B14F-4D97-AF65-F5344CB8AC3E}">
        <p14:creationId xmlns:p14="http://schemas.microsoft.com/office/powerpoint/2010/main" val="53350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B9E5EAA-DA9B-BFCF-28AB-0680533F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5" y="3046242"/>
            <a:ext cx="3429000" cy="3429000"/>
          </a:xfrm>
          <a:prstGeom prst="rect">
            <a:avLst/>
          </a:prstGeo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F6315ACC-F5FF-47BE-2CD3-25553E82D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37E5D19-04DE-07F1-3C08-B149C8329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¿Qué es la PCR?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3A3630-15D4-48D3-57F7-5CECC165F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38" y="1825625"/>
            <a:ext cx="11588524" cy="14727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4000" dirty="0"/>
              <a:t>Generación de muchas copias </a:t>
            </a:r>
            <a:r>
              <a:rPr lang="es-MX" sz="4000" i="1" dirty="0"/>
              <a:t>in vitro </a:t>
            </a:r>
            <a:r>
              <a:rPr lang="es-MX" sz="4000" dirty="0"/>
              <a:t>de un fragmento de ADN</a:t>
            </a:r>
            <a:endParaRPr lang="en-US" sz="4000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182035EB-67FC-C104-876A-D4BC9A6ADDD9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7C72EE2-EBAD-2F2F-F73A-F70C9EB40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350" y="4038600"/>
            <a:ext cx="2625452" cy="174722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E9DA186-2EC8-1FAC-CA6A-4BFBE646B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4747" y="4001294"/>
            <a:ext cx="4105515" cy="174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63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F448-C54C-A2DB-FE4E-931E0D614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901EB8FA-94F2-0273-B4B1-43665C2FC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690742CF-42C7-0A67-2561-2A2E9C058AD1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7B2D4C9-C24A-113B-9580-3F6F19375F52}"/>
              </a:ext>
            </a:extLst>
          </p:cNvPr>
          <p:cNvSpPr/>
          <p:nvPr/>
        </p:nvSpPr>
        <p:spPr>
          <a:xfrm>
            <a:off x="5210129" y="3564476"/>
            <a:ext cx="4189231" cy="1832821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800" b="1" dirty="0"/>
              <a:t>REPLICACIÓN</a:t>
            </a:r>
            <a:endParaRPr lang="en-US" sz="2800" b="1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FA69DD0-ABFD-DCE1-1095-A1EA05F0725A}"/>
              </a:ext>
            </a:extLst>
          </p:cNvPr>
          <p:cNvSpPr/>
          <p:nvPr/>
        </p:nvSpPr>
        <p:spPr>
          <a:xfrm>
            <a:off x="6631130" y="902394"/>
            <a:ext cx="4189231" cy="2480534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SINTESIS DEL DNA</a:t>
            </a:r>
          </a:p>
          <a:p>
            <a:pPr algn="ctr"/>
            <a:r>
              <a:rPr lang="es-MX" sz="2400" b="1" dirty="0"/>
              <a:t>Se lleva a cabo la incorporación de las bases por medio de una Polimerasa</a:t>
            </a:r>
            <a:endParaRPr lang="en-US" sz="2400" b="1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16E1691-77BC-BDE1-CDD4-488B7875D08F}"/>
              </a:ext>
            </a:extLst>
          </p:cNvPr>
          <p:cNvSpPr/>
          <p:nvPr/>
        </p:nvSpPr>
        <p:spPr>
          <a:xfrm>
            <a:off x="301738" y="1180562"/>
            <a:ext cx="4936123" cy="31684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COMPLEMENTARIEDAD</a:t>
            </a:r>
          </a:p>
          <a:p>
            <a:pPr algn="ctr"/>
            <a:r>
              <a:rPr lang="es-MX" sz="2400" b="1" dirty="0"/>
              <a:t>Sigue los principios de Watson-Crick</a:t>
            </a:r>
          </a:p>
          <a:p>
            <a:pPr algn="ctr"/>
            <a:r>
              <a:rPr lang="es-MX" sz="2400" b="1" dirty="0"/>
              <a:t>A:T</a:t>
            </a:r>
          </a:p>
          <a:p>
            <a:pPr algn="ctr"/>
            <a:r>
              <a:rPr lang="es-MX" sz="2400" b="1" dirty="0"/>
              <a:t>G:C</a:t>
            </a:r>
            <a:endParaRPr lang="en-US" sz="2400" b="1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DC79341-19F7-36EA-2418-7B501A70CE2D}"/>
              </a:ext>
            </a:extLst>
          </p:cNvPr>
          <p:cNvSpPr/>
          <p:nvPr/>
        </p:nvSpPr>
        <p:spPr>
          <a:xfrm>
            <a:off x="301738" y="125321"/>
            <a:ext cx="70030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PRINCIPIOS BÁSICOS</a:t>
            </a:r>
          </a:p>
        </p:txBody>
      </p:sp>
    </p:spTree>
    <p:extLst>
      <p:ext uri="{BB962C8B-B14F-4D97-AF65-F5344CB8AC3E}">
        <p14:creationId xmlns:p14="http://schemas.microsoft.com/office/powerpoint/2010/main" val="3090358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20F6-C0E1-A6D6-694A-0309343BB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AE4D9-FC4D-DE14-0122-FEFFBA1D9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07548E-043B-16EC-650C-E46F379AC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30B2E304-1541-A1B0-0B80-2A2D28848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E6024B2-0812-F7D7-E59E-18480D339A0D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FC80D4F-412C-2871-6EDE-97C666040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149" y="717437"/>
            <a:ext cx="6142903" cy="3226817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62BEACB4-56D7-C11C-14C2-3546A87FB8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12" b="10462"/>
          <a:stretch/>
        </p:blipFill>
        <p:spPr bwMode="auto">
          <a:xfrm>
            <a:off x="481626" y="0"/>
            <a:ext cx="6526669" cy="614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799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C843D-7ED1-A995-5EEE-38656362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F8CB7-2603-974D-EBC1-88B59E9EF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Pasos de una PCR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63C5DD-AF21-C85E-573D-57DF3F173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Desnaturalización</a:t>
            </a:r>
            <a:r>
              <a:rPr lang="en-US" dirty="0"/>
              <a:t> (94-98 °C)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Hibridación</a:t>
            </a:r>
            <a:r>
              <a:rPr lang="en-US" dirty="0"/>
              <a:t> (50-60 °C)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Extensión</a:t>
            </a:r>
            <a:r>
              <a:rPr lang="en-US" dirty="0"/>
              <a:t> (72°C)</a:t>
            </a:r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2AFACB33-2DC3-180D-0C10-9BF63234D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11E2D536-785B-00BB-D5C7-BA8E44915579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33619A-6845-3CFE-2E4C-688640464636}"/>
              </a:ext>
            </a:extLst>
          </p:cNvPr>
          <p:cNvSpPr txBox="1"/>
          <p:nvPr/>
        </p:nvSpPr>
        <p:spPr>
          <a:xfrm>
            <a:off x="5816906" y="5612586"/>
            <a:ext cx="5996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hlinkClick r:id="rId3"/>
              </a:rPr>
              <a:t>https://dnalc.cshl.edu/resources/animations/pcr.html</a:t>
            </a:r>
            <a:endParaRPr lang="en-US" dirty="0"/>
          </a:p>
        </p:txBody>
      </p:sp>
      <p:pic>
        <p:nvPicPr>
          <p:cNvPr id="7170" name="Picture 2" descr="DNA Tools">
            <a:extLst>
              <a:ext uri="{FF2B5EF4-FFF2-40B4-BE49-F238E27FC236}">
                <a16:creationId xmlns:a16="http://schemas.microsoft.com/office/drawing/2014/main" id="{4119658C-DD78-815A-D9D0-16FD37002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297" y="173547"/>
            <a:ext cx="2845424" cy="543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6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FE8F0-46EB-DFF3-A70C-B9F4B7AE2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DCF8B-4A77-E04C-664B-B762D068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38" y="365125"/>
            <a:ext cx="6099062" cy="1325563"/>
          </a:xfrm>
        </p:spPr>
        <p:txBody>
          <a:bodyPr/>
          <a:lstStyle/>
          <a:p>
            <a:r>
              <a:rPr lang="es-MX" b="1" dirty="0"/>
              <a:t>Ingredientes de una PCR</a:t>
            </a:r>
            <a:endParaRPr lang="en-US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AE99A3-95CD-9015-6A76-EC192865D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420" y="1425844"/>
            <a:ext cx="10625380" cy="4751119"/>
          </a:xfrm>
        </p:spPr>
        <p:txBody>
          <a:bodyPr/>
          <a:lstStyle/>
          <a:p>
            <a:r>
              <a:rPr lang="es-MX" dirty="0"/>
              <a:t>Molde (10-100 ng)</a:t>
            </a:r>
          </a:p>
          <a:p>
            <a:r>
              <a:rPr lang="es-MX" dirty="0"/>
              <a:t>Polimerasa (XU)</a:t>
            </a:r>
          </a:p>
          <a:p>
            <a:r>
              <a:rPr lang="es-MX" dirty="0" err="1"/>
              <a:t>dNTPs</a:t>
            </a:r>
            <a:r>
              <a:rPr lang="es-MX" dirty="0"/>
              <a:t> (</a:t>
            </a:r>
            <a:r>
              <a:rPr lang="es-MX" dirty="0" err="1"/>
              <a:t>dATP</a:t>
            </a:r>
            <a:r>
              <a:rPr lang="es-MX" dirty="0"/>
              <a:t>, </a:t>
            </a:r>
            <a:r>
              <a:rPr lang="es-MX" dirty="0" err="1"/>
              <a:t>dCTP</a:t>
            </a:r>
            <a:r>
              <a:rPr lang="es-MX" dirty="0"/>
              <a:t>, </a:t>
            </a:r>
          </a:p>
          <a:p>
            <a:pPr marL="0" indent="0">
              <a:buNone/>
            </a:pPr>
            <a:r>
              <a:rPr lang="es-MX" dirty="0" err="1"/>
              <a:t>dGTP</a:t>
            </a:r>
            <a:r>
              <a:rPr lang="es-MX" dirty="0"/>
              <a:t>, </a:t>
            </a:r>
            <a:r>
              <a:rPr lang="es-MX" dirty="0" err="1"/>
              <a:t>dTTP</a:t>
            </a:r>
            <a:r>
              <a:rPr lang="es-MX" dirty="0"/>
              <a:t>) ( 200 µM)</a:t>
            </a:r>
          </a:p>
          <a:p>
            <a:r>
              <a:rPr lang="es-MX" dirty="0"/>
              <a:t>Oligonucleótidos 18-24 </a:t>
            </a:r>
            <a:r>
              <a:rPr lang="es-MX" dirty="0" err="1"/>
              <a:t>bp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 (50-200 </a:t>
            </a:r>
            <a:r>
              <a:rPr lang="es-MX" dirty="0" err="1"/>
              <a:t>nM</a:t>
            </a:r>
            <a:r>
              <a:rPr lang="es-MX" dirty="0"/>
              <a:t>) </a:t>
            </a:r>
          </a:p>
          <a:p>
            <a:r>
              <a:rPr lang="es-MX" dirty="0"/>
              <a:t>MgCl</a:t>
            </a:r>
            <a:r>
              <a:rPr lang="es-MX" baseline="-25000" dirty="0"/>
              <a:t>2</a:t>
            </a:r>
            <a:r>
              <a:rPr lang="es-MX" dirty="0"/>
              <a:t>  (1.5mM)</a:t>
            </a:r>
          </a:p>
          <a:p>
            <a:r>
              <a:rPr lang="en-US" dirty="0"/>
              <a:t># </a:t>
            </a:r>
            <a:r>
              <a:rPr lang="en-US" dirty="0" err="1"/>
              <a:t>ciclos</a:t>
            </a:r>
            <a:r>
              <a:rPr lang="en-US" dirty="0"/>
              <a:t> 25-40</a:t>
            </a:r>
            <a:endParaRPr lang="es-MX" dirty="0"/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34FBA2A3-CC76-2EC7-54C2-F8BDB8A5C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7D6B5027-2494-6683-0B3E-EFBD8079DED9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pic>
        <p:nvPicPr>
          <p:cNvPr id="5122" name="Picture 2" descr="Centro Médico &quot;Romina&quot; - Reacción en Cadena de la Polimerasa (PCR) La PCR  es una reacción bioquímica que nos permite recrear el proceso biológico de  la duplicación del DNA. Para llevarse a">
            <a:extLst>
              <a:ext uri="{FF2B5EF4-FFF2-40B4-BE49-F238E27FC236}">
                <a16:creationId xmlns:a16="http://schemas.microsoft.com/office/drawing/2014/main" id="{2900B7F2-B94A-1888-C4C1-078838D97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9778" y="681037"/>
            <a:ext cx="5340484" cy="534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08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4B7E8-968B-3565-2252-19FACDB3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DD569-8EA5-E4FA-28C4-FC0A5490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Controles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3ABAEB-6936-4055-C969-FD15AF745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MX" b="1" dirty="0"/>
              <a:t>      CONTROL NEGATIVO                              CONTROL POSITIVO</a:t>
            </a:r>
            <a:endParaRPr lang="en-US" b="1" dirty="0"/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CE60F6DF-E2C4-8B23-9753-B7C3E847F6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F01C8B1C-2492-CC96-1FAA-5C82F5DE9226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sp>
        <p:nvSpPr>
          <p:cNvPr id="14" name="Signo menos 13">
            <a:extLst>
              <a:ext uri="{FF2B5EF4-FFF2-40B4-BE49-F238E27FC236}">
                <a16:creationId xmlns:a16="http://schemas.microsoft.com/office/drawing/2014/main" id="{4A77A7E8-49E0-3883-E66D-A95F2D6E3CCC}"/>
              </a:ext>
            </a:extLst>
          </p:cNvPr>
          <p:cNvSpPr/>
          <p:nvPr/>
        </p:nvSpPr>
        <p:spPr>
          <a:xfrm>
            <a:off x="2309247" y="2464232"/>
            <a:ext cx="1704813" cy="604434"/>
          </a:xfrm>
          <a:prstGeom prst="mathMinu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5" name="Signo más 14">
            <a:extLst>
              <a:ext uri="{FF2B5EF4-FFF2-40B4-BE49-F238E27FC236}">
                <a16:creationId xmlns:a16="http://schemas.microsoft.com/office/drawing/2014/main" id="{35F137CF-CDA8-762C-8AC4-66438F87F924}"/>
              </a:ext>
            </a:extLst>
          </p:cNvPr>
          <p:cNvSpPr/>
          <p:nvPr/>
        </p:nvSpPr>
        <p:spPr>
          <a:xfrm>
            <a:off x="7891223" y="2236304"/>
            <a:ext cx="1441342" cy="1239864"/>
          </a:xfrm>
          <a:prstGeom prst="mathPlu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4013635-BCC0-5F6B-F551-FC58DF426FC6}"/>
              </a:ext>
            </a:extLst>
          </p:cNvPr>
          <p:cNvSpPr/>
          <p:nvPr/>
        </p:nvSpPr>
        <p:spPr>
          <a:xfrm>
            <a:off x="1808613" y="3192652"/>
            <a:ext cx="2794383" cy="11003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3600" b="1" dirty="0"/>
              <a:t>SIN MOLDE</a:t>
            </a:r>
            <a:endParaRPr lang="en-US" sz="3600" b="1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9A3BC9-847F-FC30-14B8-D2230C12EAE1}"/>
              </a:ext>
            </a:extLst>
          </p:cNvPr>
          <p:cNvSpPr/>
          <p:nvPr/>
        </p:nvSpPr>
        <p:spPr>
          <a:xfrm>
            <a:off x="6895935" y="3496214"/>
            <a:ext cx="3431918" cy="11003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3600" b="1" dirty="0"/>
              <a:t>MUESTRA CONOCIDA</a:t>
            </a:r>
            <a:endParaRPr lang="en-US" sz="3600" b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C0E1B742-F0B6-3406-DFDE-A13EEA846F9B}"/>
              </a:ext>
            </a:extLst>
          </p:cNvPr>
          <p:cNvSpPr txBox="1"/>
          <p:nvPr/>
        </p:nvSpPr>
        <p:spPr>
          <a:xfrm>
            <a:off x="1038386" y="4519104"/>
            <a:ext cx="42680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Indica la presencia de ADN contaminante en la reacción.</a:t>
            </a:r>
            <a:endParaRPr lang="en-US" sz="32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5753DF5-C876-71B8-9BCC-0A3CBEA7A6BC}"/>
              </a:ext>
            </a:extLst>
          </p:cNvPr>
          <p:cNvSpPr txBox="1"/>
          <p:nvPr/>
        </p:nvSpPr>
        <p:spPr>
          <a:xfrm>
            <a:off x="6895934" y="4596594"/>
            <a:ext cx="42680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3200" dirty="0"/>
              <a:t>Muestra el producto de amplificación ideal.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1846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194" name="Picture 2" descr="Termociclador Serie 4196 con función de gradiente | Termocicladores - PCR">
            <a:extLst>
              <a:ext uri="{FF2B5EF4-FFF2-40B4-BE49-F238E27FC236}">
                <a16:creationId xmlns:a16="http://schemas.microsoft.com/office/drawing/2014/main" id="{9BEBA1C2-7393-45D5-9B08-69D6AF9BE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4" r="2793" b="2"/>
          <a:stretch/>
        </p:blipFill>
        <p:spPr bwMode="auto">
          <a:xfrm>
            <a:off x="194948" y="173518"/>
            <a:ext cx="7803277" cy="6512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Servicio de Innovación y Planificación Tecnológica » Termociclador (T100  Biorad)">
            <a:extLst>
              <a:ext uri="{FF2B5EF4-FFF2-40B4-BE49-F238E27FC236}">
                <a16:creationId xmlns:a16="http://schemas.microsoft.com/office/drawing/2014/main" id="{733B12E2-5FF1-EA66-3F2C-903CFC35D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30" r="10662" b="1"/>
          <a:stretch/>
        </p:blipFill>
        <p:spPr bwMode="auto">
          <a:xfrm>
            <a:off x="8185614" y="169917"/>
            <a:ext cx="3807644" cy="651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88850921-E779-8132-6CDF-81661A2AF0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52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74" t="1040" r="21258" b="16611"/>
          <a:stretch/>
        </p:blipFill>
        <p:spPr>
          <a:xfrm>
            <a:off x="5290799" y="39034"/>
            <a:ext cx="4584879" cy="681896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962" y="880757"/>
            <a:ext cx="1205381" cy="266093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21"/>
          <a:stretch/>
        </p:blipFill>
        <p:spPr>
          <a:xfrm>
            <a:off x="3994663" y="4383414"/>
            <a:ext cx="1205381" cy="2287842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8079428" y="364551"/>
            <a:ext cx="1114626" cy="31303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RECQL4</a:t>
            </a:r>
          </a:p>
        </p:txBody>
      </p:sp>
      <p:sp>
        <p:nvSpPr>
          <p:cNvPr id="8" name="Rectángulo 7"/>
          <p:cNvSpPr/>
          <p:nvPr/>
        </p:nvSpPr>
        <p:spPr>
          <a:xfrm>
            <a:off x="9284809" y="364549"/>
            <a:ext cx="972943" cy="3130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MSH6</a:t>
            </a:r>
          </a:p>
        </p:txBody>
      </p:sp>
      <p:sp>
        <p:nvSpPr>
          <p:cNvPr id="9" name="Rectángulo 8"/>
          <p:cNvSpPr/>
          <p:nvPr/>
        </p:nvSpPr>
        <p:spPr>
          <a:xfrm>
            <a:off x="6864772" y="364550"/>
            <a:ext cx="1123901" cy="2962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ERCC3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5672873" y="364550"/>
            <a:ext cx="1101144" cy="3130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FANCB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5895636" y="4074718"/>
            <a:ext cx="1019577" cy="3086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MSH6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927279" y="978794"/>
            <a:ext cx="2047741" cy="8757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Carril 2, 6, 10 y 14 controles negativos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8221428" y="1972965"/>
            <a:ext cx="1043189" cy="4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247pb</a:t>
            </a:r>
          </a:p>
        </p:txBody>
      </p:sp>
      <p:sp>
        <p:nvSpPr>
          <p:cNvPr id="14" name="Rectángulo 13"/>
          <p:cNvSpPr/>
          <p:nvPr/>
        </p:nvSpPr>
        <p:spPr>
          <a:xfrm>
            <a:off x="6971439" y="1972965"/>
            <a:ext cx="1043189" cy="4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296pb</a:t>
            </a:r>
          </a:p>
        </p:txBody>
      </p:sp>
      <p:sp>
        <p:nvSpPr>
          <p:cNvPr id="15" name="Rectángulo 14"/>
          <p:cNvSpPr/>
          <p:nvPr/>
        </p:nvSpPr>
        <p:spPr>
          <a:xfrm>
            <a:off x="9024298" y="1616299"/>
            <a:ext cx="1043189" cy="4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609pb</a:t>
            </a:r>
          </a:p>
        </p:txBody>
      </p:sp>
      <p:sp>
        <p:nvSpPr>
          <p:cNvPr id="18" name="Rectángulo 17"/>
          <p:cNvSpPr/>
          <p:nvPr/>
        </p:nvSpPr>
        <p:spPr>
          <a:xfrm>
            <a:off x="5895636" y="5144189"/>
            <a:ext cx="1043189" cy="4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609pb</a:t>
            </a:r>
          </a:p>
        </p:txBody>
      </p:sp>
      <p:sp>
        <p:nvSpPr>
          <p:cNvPr id="19" name="Rectángulo 18"/>
          <p:cNvSpPr/>
          <p:nvPr/>
        </p:nvSpPr>
        <p:spPr>
          <a:xfrm>
            <a:off x="5821583" y="1972965"/>
            <a:ext cx="1043189" cy="4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 332pb</a:t>
            </a:r>
          </a:p>
        </p:txBody>
      </p:sp>
      <p:sp>
        <p:nvSpPr>
          <p:cNvPr id="21" name="Título 1"/>
          <p:cNvSpPr txBox="1">
            <a:spLocks/>
          </p:cNvSpPr>
          <p:nvPr/>
        </p:nvSpPr>
        <p:spPr>
          <a:xfrm>
            <a:off x="344906" y="207438"/>
            <a:ext cx="4293188" cy="65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PCR 18/enero/2018</a:t>
            </a:r>
          </a:p>
        </p:txBody>
      </p:sp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FB786F52-0CC4-3D62-1175-F2CD891F2B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09B81B15-3FE2-3D43-D5E1-583650B14272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454E010-095C-6670-2A34-732B3BF88C74}"/>
              </a:ext>
            </a:extLst>
          </p:cNvPr>
          <p:cNvSpPr/>
          <p:nvPr/>
        </p:nvSpPr>
        <p:spPr>
          <a:xfrm>
            <a:off x="409424" y="2471505"/>
            <a:ext cx="314829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rgbClr val="FF000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IDEAL</a:t>
            </a:r>
            <a:endParaRPr lang="es-ES" sz="5400" b="1" cap="none" spc="0" dirty="0">
              <a:ln w="12700">
                <a:solidFill>
                  <a:srgbClr val="FF0000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199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Logotipo&#10;&#10;Descripción generada automáticamente">
            <a:extLst>
              <a:ext uri="{FF2B5EF4-FFF2-40B4-BE49-F238E27FC236}">
                <a16:creationId xmlns:a16="http://schemas.microsoft.com/office/drawing/2014/main" id="{9B4E69D5-480D-ED4D-55C8-4C24EE51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52" y="325750"/>
            <a:ext cx="9094823" cy="6532250"/>
          </a:xfr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21"/>
          <a:stretch/>
        </p:blipFill>
        <p:spPr>
          <a:xfrm>
            <a:off x="3966694" y="1601577"/>
            <a:ext cx="1246230" cy="236537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6620073" y="325750"/>
            <a:ext cx="1123901" cy="296215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ERCC3</a:t>
            </a:r>
          </a:p>
        </p:txBody>
      </p:sp>
      <p:sp>
        <p:nvSpPr>
          <p:cNvPr id="7" name="Rectángulo 6"/>
          <p:cNvSpPr/>
          <p:nvPr/>
        </p:nvSpPr>
        <p:spPr>
          <a:xfrm>
            <a:off x="5518929" y="325750"/>
            <a:ext cx="1101144" cy="31303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FANCB</a:t>
            </a:r>
          </a:p>
        </p:txBody>
      </p:sp>
      <p:sp>
        <p:nvSpPr>
          <p:cNvPr id="8" name="Rectángulo 7"/>
          <p:cNvSpPr/>
          <p:nvPr/>
        </p:nvSpPr>
        <p:spPr>
          <a:xfrm>
            <a:off x="7743974" y="325750"/>
            <a:ext cx="962144" cy="31303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RECQL4</a:t>
            </a: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344906" y="207438"/>
            <a:ext cx="4293188" cy="65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PCR 19/enero/2018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7662929" y="2653049"/>
            <a:ext cx="1043189" cy="4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247pb</a:t>
            </a:r>
          </a:p>
        </p:txBody>
      </p:sp>
      <p:sp>
        <p:nvSpPr>
          <p:cNvPr id="12" name="Rectángulo 11"/>
          <p:cNvSpPr/>
          <p:nvPr/>
        </p:nvSpPr>
        <p:spPr>
          <a:xfrm>
            <a:off x="6773074" y="2891308"/>
            <a:ext cx="1043189" cy="4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296pb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5623218" y="2891308"/>
            <a:ext cx="1043189" cy="4765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 332pb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4F9658-3A4A-454B-F547-4550E7F6C4F3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2D76787-B27C-102B-23E2-E8EBE988ACBD}"/>
              </a:ext>
            </a:extLst>
          </p:cNvPr>
          <p:cNvSpPr/>
          <p:nvPr/>
        </p:nvSpPr>
        <p:spPr>
          <a:xfrm>
            <a:off x="199488" y="3858056"/>
            <a:ext cx="5107127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rgbClr val="FF000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BAJO RENDIMIENTO</a:t>
            </a:r>
            <a:endParaRPr lang="es-ES" sz="5400" b="1" cap="none" spc="0" dirty="0">
              <a:ln w="12700">
                <a:solidFill>
                  <a:srgbClr val="FF0000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3226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232F-3BF0-FF49-D851-3C9156296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 descr="Imagen en blanco y negro&#10;&#10;El contenido generado por IA puede ser incorrecto.">
            <a:extLst>
              <a:ext uri="{FF2B5EF4-FFF2-40B4-BE49-F238E27FC236}">
                <a16:creationId xmlns:a16="http://schemas.microsoft.com/office/drawing/2014/main" id="{3EC37260-111A-99EB-4BD5-13EED711DB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50" t="9414" r="55336" b="26876"/>
          <a:stretch/>
        </p:blipFill>
        <p:spPr>
          <a:xfrm>
            <a:off x="1372376" y="463989"/>
            <a:ext cx="2507910" cy="5654349"/>
          </a:xfr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412527B4-A928-8B53-54F2-C21ACE72E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EA003C0-9ED9-883B-ABA5-C752C23FC859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5C70614-7A7F-73E7-F921-F44C9AA06D60}"/>
              </a:ext>
            </a:extLst>
          </p:cNvPr>
          <p:cNvSpPr/>
          <p:nvPr/>
        </p:nvSpPr>
        <p:spPr>
          <a:xfrm>
            <a:off x="3832508" y="5289289"/>
            <a:ext cx="838343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rgbClr val="FF000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Especificidad y eficiencia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C25D748-A777-5F69-77BB-BABB4E5560C0}"/>
              </a:ext>
            </a:extLst>
          </p:cNvPr>
          <p:cNvSpPr txBox="1"/>
          <p:nvPr/>
        </p:nvSpPr>
        <p:spPr>
          <a:xfrm>
            <a:off x="1505386" y="463989"/>
            <a:ext cx="2861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MPM    M1    M2  </a:t>
            </a:r>
            <a:r>
              <a:rPr lang="es-MX" sz="2400" dirty="0"/>
              <a:t>+     -</a:t>
            </a:r>
            <a:endParaRPr lang="en-US" sz="2400" dirty="0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8D0EB0B5-5304-D301-F5AA-ECD013DF1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021" y="463989"/>
            <a:ext cx="6083300" cy="8450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rgbClr val="FF000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CURVA DE MG2+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4BC840E-4C46-3148-1D50-19E250629F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48"/>
          <a:stretch/>
        </p:blipFill>
        <p:spPr>
          <a:xfrm>
            <a:off x="5008450" y="1403310"/>
            <a:ext cx="7183550" cy="3894187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C9EA541-9592-3064-11AA-2425279CA330}"/>
              </a:ext>
            </a:extLst>
          </p:cNvPr>
          <p:cNvSpPr txBox="1"/>
          <p:nvPr/>
        </p:nvSpPr>
        <p:spPr>
          <a:xfrm>
            <a:off x="12394505" y="59373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62169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FD5C-AE07-C713-4F81-F4C06D0F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8FC6334-0B52-21BC-FD15-120F1F23B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8338" y="1217572"/>
            <a:ext cx="7775462" cy="4761252"/>
          </a:xfrm>
        </p:spPr>
      </p:pic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0570F7BE-6293-E5B0-E05B-605629706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BEADF1FC-C010-15EA-0922-1062F25CF845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2C077C-F430-B4F1-6E09-85DA2912EE5C}"/>
              </a:ext>
            </a:extLst>
          </p:cNvPr>
          <p:cNvSpPr/>
          <p:nvPr/>
        </p:nvSpPr>
        <p:spPr>
          <a:xfrm>
            <a:off x="838199" y="417511"/>
            <a:ext cx="615884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rgbClr val="FF000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EFECTO </a:t>
            </a:r>
            <a:r>
              <a:rPr lang="es-ES" sz="5400" b="1" dirty="0">
                <a:ln w="12700">
                  <a:solidFill>
                    <a:srgbClr val="FF000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 LA TM</a:t>
            </a:r>
            <a:endParaRPr lang="es-ES" sz="5400" b="1" cap="none" spc="0" dirty="0">
              <a:ln w="12700">
                <a:solidFill>
                  <a:srgbClr val="FF0000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2407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C762-F1CF-B62D-79CC-360BA912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ACCA93F6-034B-2F87-7835-9922D9CC3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9842A4FB-FC01-1C27-99EF-8AC071FEB7BE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5E55943-79EC-1BD9-94D8-A42B84827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789805" y="1544250"/>
            <a:ext cx="6622710" cy="3749622"/>
          </a:xfrm>
          <a:prstGeom prst="rect">
            <a:avLst/>
          </a:prstGeom>
        </p:spPr>
      </p:pic>
      <p:sp>
        <p:nvSpPr>
          <p:cNvPr id="8" name="Título 11">
            <a:extLst>
              <a:ext uri="{FF2B5EF4-FFF2-40B4-BE49-F238E27FC236}">
                <a16:creationId xmlns:a16="http://schemas.microsoft.com/office/drawing/2014/main" id="{DF446267-7199-0C09-F754-EC01AF35B929}"/>
              </a:ext>
            </a:extLst>
          </p:cNvPr>
          <p:cNvSpPr txBox="1">
            <a:spLocks/>
          </p:cNvSpPr>
          <p:nvPr/>
        </p:nvSpPr>
        <p:spPr>
          <a:xfrm>
            <a:off x="3054350" y="476111"/>
            <a:ext cx="6083300" cy="845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b="1" dirty="0">
                <a:ln w="12700">
                  <a:solidFill>
                    <a:srgbClr val="FF000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CURVA DE CICLOS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8B5A8E-3811-0D8F-5CF1-54EDBD66C672}"/>
              </a:ext>
            </a:extLst>
          </p:cNvPr>
          <p:cNvSpPr txBox="1"/>
          <p:nvPr/>
        </p:nvSpPr>
        <p:spPr>
          <a:xfrm>
            <a:off x="2959100" y="1544250"/>
            <a:ext cx="6453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MPM        CN             15            20            25            30            35   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703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1A54-9885-4CEF-CB6B-1EF0FD43E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A0717-884E-5C3F-C80C-963D78AB7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FC4394-504D-EC8D-E6F2-C8F930DFB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41649BDE-E2C7-EDA2-6C6F-BD3FDA28F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39E6D850-AEBC-C30E-FA01-87FB3521FC0B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pic>
        <p:nvPicPr>
          <p:cNvPr id="2050" name="Picture 2" descr="Aplicación de las pruebas de PCR convencional simple y múltiple para la  identificación de aislamientos de Leptospira spp. en Colombia">
            <a:extLst>
              <a:ext uri="{FF2B5EF4-FFF2-40B4-BE49-F238E27FC236}">
                <a16:creationId xmlns:a16="http://schemas.microsoft.com/office/drawing/2014/main" id="{C708594D-F7ED-4737-87ED-C6627794C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732" y="801190"/>
            <a:ext cx="6683568" cy="553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0D08E00-909F-B389-61DA-FA5D53132BEF}"/>
              </a:ext>
            </a:extLst>
          </p:cNvPr>
          <p:cNvSpPr/>
          <p:nvPr/>
        </p:nvSpPr>
        <p:spPr>
          <a:xfrm>
            <a:off x="2922512" y="98439"/>
            <a:ext cx="634697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rgbClr val="FF0000"/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SENSIBILIDAD</a:t>
            </a:r>
            <a:endParaRPr lang="es-ES" sz="5400" b="1" cap="none" spc="0" dirty="0">
              <a:ln w="12700">
                <a:solidFill>
                  <a:srgbClr val="FF0000"/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314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D8AF4-32B4-87CC-3DBC-810F5685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E7CFD717-9DF4-29C2-FD12-57CCC9E161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618FCA2-28F9-CB36-47FA-A21C99DE41CE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96A3EA1-D51E-C7C0-CF3A-441E1D97C902}"/>
              </a:ext>
            </a:extLst>
          </p:cNvPr>
          <p:cNvSpPr/>
          <p:nvPr/>
        </p:nvSpPr>
        <p:spPr>
          <a:xfrm>
            <a:off x="301738" y="634222"/>
            <a:ext cx="72546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CONCEPTOS BÁSICOS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160A604-6537-B0C8-5095-A68A820505A3}"/>
              </a:ext>
            </a:extLst>
          </p:cNvPr>
          <p:cNvSpPr/>
          <p:nvPr/>
        </p:nvSpPr>
        <p:spPr>
          <a:xfrm>
            <a:off x="389274" y="1726844"/>
            <a:ext cx="3765524" cy="31373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PROCESIVIDAD</a:t>
            </a:r>
          </a:p>
          <a:p>
            <a:pPr algn="ctr"/>
            <a:r>
              <a:rPr lang="es-MX" sz="2400" dirty="0"/>
              <a:t>Se refiere a la capacidad de unión  de la polimerasa  al ADN.</a:t>
            </a:r>
          </a:p>
          <a:p>
            <a:pPr algn="ctr"/>
            <a:r>
              <a:rPr lang="es-MX" sz="2400" dirty="0"/>
              <a:t>Impacta en la longitud de los </a:t>
            </a:r>
            <a:r>
              <a:rPr lang="es-MX" sz="2400" dirty="0" err="1"/>
              <a:t>amplicones</a:t>
            </a:r>
            <a:r>
              <a:rPr lang="es-MX" sz="2400" dirty="0"/>
              <a:t>.</a:t>
            </a:r>
          </a:p>
          <a:p>
            <a:pPr algn="ctr"/>
            <a:endParaRPr lang="en-US" sz="2400" dirty="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E6CC1A7-0290-0D03-87EC-495A4AE4BB1F}"/>
              </a:ext>
            </a:extLst>
          </p:cNvPr>
          <p:cNvSpPr/>
          <p:nvPr/>
        </p:nvSpPr>
        <p:spPr>
          <a:xfrm>
            <a:off x="4473497" y="1781296"/>
            <a:ext cx="3676186" cy="3082923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FIDELIDAD</a:t>
            </a:r>
          </a:p>
          <a:p>
            <a:pPr algn="ctr"/>
            <a:r>
              <a:rPr lang="es-MX" sz="2400" dirty="0"/>
              <a:t>Es la tasa de error de la polimerasa y se basa en su capacidad de edición del DNA.</a:t>
            </a:r>
          </a:p>
          <a:p>
            <a:pPr algn="ctr"/>
            <a:r>
              <a:rPr lang="es-MX" sz="2400" dirty="0" err="1"/>
              <a:t>Taq</a:t>
            </a:r>
            <a:r>
              <a:rPr lang="es-MX" sz="2400" dirty="0"/>
              <a:t> 10</a:t>
            </a:r>
            <a:r>
              <a:rPr lang="es-MX" sz="2400" baseline="30000" dirty="0"/>
              <a:t>4</a:t>
            </a:r>
          </a:p>
          <a:p>
            <a:pPr algn="ctr"/>
            <a:r>
              <a:rPr lang="es-MX" sz="2400" dirty="0" err="1"/>
              <a:t>Pfu</a:t>
            </a:r>
            <a:r>
              <a:rPr lang="es-MX" sz="2400" dirty="0"/>
              <a:t> 10</a:t>
            </a:r>
            <a:r>
              <a:rPr lang="es-MX" sz="2400" baseline="30000" dirty="0"/>
              <a:t>6</a:t>
            </a:r>
            <a:endParaRPr lang="en-US" sz="2400" baseline="30000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A7954EE-1991-BCE9-6F79-BD8D5DD8438D}"/>
              </a:ext>
            </a:extLst>
          </p:cNvPr>
          <p:cNvSpPr/>
          <p:nvPr/>
        </p:nvSpPr>
        <p:spPr>
          <a:xfrm>
            <a:off x="8352263" y="1795344"/>
            <a:ext cx="3537999" cy="389177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ASTRINGENCIA</a:t>
            </a:r>
          </a:p>
          <a:p>
            <a:pPr algn="ctr"/>
            <a:endParaRPr lang="es-MX" sz="2400" dirty="0"/>
          </a:p>
          <a:p>
            <a:pPr algn="ctr"/>
            <a:r>
              <a:rPr lang="es-MX" sz="2400" dirty="0"/>
              <a:t>Implica las condiciones de la reacción respecto a variables como la Tm, concentración de MgCl</a:t>
            </a:r>
            <a:r>
              <a:rPr lang="es-MX" sz="2400" baseline="-25000" dirty="0"/>
              <a:t>2</a:t>
            </a:r>
            <a:r>
              <a:rPr lang="es-MX" sz="2400" dirty="0"/>
              <a:t>, número de ciclos</a:t>
            </a:r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27631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2C902-D3DE-CAEC-DC54-23144BEBA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20" y="-82138"/>
            <a:ext cx="11711842" cy="796841"/>
          </a:xfrm>
        </p:spPr>
        <p:txBody>
          <a:bodyPr/>
          <a:lstStyle/>
          <a:p>
            <a:r>
              <a:rPr lang="es-MX" dirty="0"/>
              <a:t>¿Cuándo utilizar una polimerasa de alta fidelidad?</a:t>
            </a:r>
            <a:endParaRPr lang="en-US" dirty="0"/>
          </a:p>
        </p:txBody>
      </p:sp>
      <p:pic>
        <p:nvPicPr>
          <p:cNvPr id="5" name="Marcador de contenido 4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95638778-2A7A-FC44-5A86-412094FC20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4451" y="1472957"/>
            <a:ext cx="6815811" cy="4302481"/>
          </a:xfrm>
        </p:spPr>
      </p:pic>
      <p:pic>
        <p:nvPicPr>
          <p:cNvPr id="6" name="Imagen 5" descr="Logotipo&#10;&#10;Descripción generada automáticamente">
            <a:extLst>
              <a:ext uri="{FF2B5EF4-FFF2-40B4-BE49-F238E27FC236}">
                <a16:creationId xmlns:a16="http://schemas.microsoft.com/office/drawing/2014/main" id="{EF28DBF6-7037-290E-09C7-5229B071C9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C7F4829C-83EB-638F-40DA-0850F74F3297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pic>
        <p:nvPicPr>
          <p:cNvPr id="9218" name="Picture 2" descr="La PCR múltiple en microbiología clínica | Enfermedades Infecciosas y  Microbiología Clínica">
            <a:extLst>
              <a:ext uri="{FF2B5EF4-FFF2-40B4-BE49-F238E27FC236}">
                <a16:creationId xmlns:a16="http://schemas.microsoft.com/office/drawing/2014/main" id="{9F6E853B-89E8-8E0A-C14A-E749B8EC8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40" y="2110825"/>
            <a:ext cx="4304236" cy="3119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5D55657-974D-E1A7-591D-FFCD5559BD8D}"/>
              </a:ext>
            </a:extLst>
          </p:cNvPr>
          <p:cNvSpPr txBox="1"/>
          <p:nvPr/>
        </p:nvSpPr>
        <p:spPr>
          <a:xfrm>
            <a:off x="1135361" y="1409448"/>
            <a:ext cx="2525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Verificación simple: </a:t>
            </a:r>
            <a:r>
              <a:rPr lang="es-MX" b="1" dirty="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96E22A7-676B-5A5A-AB2C-07ED543BAC38}"/>
              </a:ext>
            </a:extLst>
          </p:cNvPr>
          <p:cNvSpPr txBox="1"/>
          <p:nvPr/>
        </p:nvSpPr>
        <p:spPr>
          <a:xfrm>
            <a:off x="6369269" y="1005575"/>
            <a:ext cx="4629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Detección de mutaciones en un paciente: </a:t>
            </a:r>
            <a:r>
              <a:rPr lang="es-MX" b="1" dirty="0">
                <a:solidFill>
                  <a:srgbClr val="00B0F0"/>
                </a:solidFill>
              </a:rPr>
              <a:t>SÍ</a:t>
            </a:r>
          </a:p>
        </p:txBody>
      </p:sp>
    </p:spTree>
    <p:extLst>
      <p:ext uri="{BB962C8B-B14F-4D97-AF65-F5344CB8AC3E}">
        <p14:creationId xmlns:p14="http://schemas.microsoft.com/office/powerpoint/2010/main" val="1886953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8D42-E2B7-2EA7-298C-8308F6C0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8BF4B-07F0-D97B-00A0-ABD4261E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 de PCR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C988F2-48C2-DB4C-C837-AC4517B1F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732" y="1978789"/>
            <a:ext cx="10465639" cy="3677080"/>
          </a:xfrm>
        </p:spPr>
        <p:txBody>
          <a:bodyPr/>
          <a:lstStyle/>
          <a:p>
            <a:r>
              <a:rPr lang="es-MX" dirty="0"/>
              <a:t>PCR PUNTO FINAL</a:t>
            </a:r>
          </a:p>
          <a:p>
            <a:r>
              <a:rPr lang="es-MX" dirty="0"/>
              <a:t>PCR TIEMPO REAL</a:t>
            </a:r>
          </a:p>
          <a:p>
            <a:r>
              <a:rPr lang="es-MX" dirty="0"/>
              <a:t>RT-PCR</a:t>
            </a:r>
          </a:p>
          <a:p>
            <a:r>
              <a:rPr lang="es-MX" dirty="0"/>
              <a:t>PCR DIGITAL</a:t>
            </a:r>
          </a:p>
          <a:p>
            <a:r>
              <a:rPr lang="es-MX" dirty="0"/>
              <a:t>Mutagénesis dirigida</a:t>
            </a:r>
          </a:p>
          <a:p>
            <a:r>
              <a:rPr lang="es-MX" dirty="0"/>
              <a:t>Clonación</a:t>
            </a:r>
          </a:p>
          <a:p>
            <a:endParaRPr lang="en-US" dirty="0"/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1B9F3877-DE56-49EE-803B-86B939D1E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F19D5D2B-6D5D-E94F-AF3E-84332FA3AE6D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  <p:pic>
        <p:nvPicPr>
          <p:cNvPr id="8196" name="Picture 4" descr="Utilidad de la PCR en Tiempo Real en el diagnóstico de las colibacilos -  Artículos - 3tres3 México, la página del Cerdo">
            <a:extLst>
              <a:ext uri="{FF2B5EF4-FFF2-40B4-BE49-F238E27FC236}">
                <a16:creationId xmlns:a16="http://schemas.microsoft.com/office/drawing/2014/main" id="{D1AAAB77-1E56-B215-82DB-1AB7CAB4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832" y="1202131"/>
            <a:ext cx="8064168" cy="493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2292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454A13B-E87F-0D37-180A-09193BBB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796" y="0"/>
            <a:ext cx="6408407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196BAC5-7B08-E6FF-30DA-FF854A3DF92A}"/>
              </a:ext>
            </a:extLst>
          </p:cNvPr>
          <p:cNvSpPr/>
          <p:nvPr/>
        </p:nvSpPr>
        <p:spPr>
          <a:xfrm>
            <a:off x="407797" y="725940"/>
            <a:ext cx="23439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ddPCR</a:t>
            </a:r>
            <a:endParaRPr lang="es-E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0428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B5894-AE64-704B-0265-21627E57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Aplicaciones</a:t>
            </a:r>
          </a:p>
        </p:txBody>
      </p:sp>
      <p:pic>
        <p:nvPicPr>
          <p:cNvPr id="6146" name="Picture 2" descr="Examples of PCR applications (Created with Biorender.com) | Download  Scientific Diagram">
            <a:extLst>
              <a:ext uri="{FF2B5EF4-FFF2-40B4-BE49-F238E27FC236}">
                <a16:creationId xmlns:a16="http://schemas.microsoft.com/office/drawing/2014/main" id="{251E2586-6EAA-C94D-E154-D8D7D3765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622" y="255453"/>
            <a:ext cx="6179949" cy="559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D0F8674-606F-573A-C020-2329D981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8" y="5775438"/>
            <a:ext cx="1072923" cy="1072923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37A868AB-EE04-21F0-9497-B2552858DBBB}"/>
              </a:ext>
            </a:extLst>
          </p:cNvPr>
          <p:cNvSpPr txBox="1">
            <a:spLocks/>
          </p:cNvSpPr>
          <p:nvPr/>
        </p:nvSpPr>
        <p:spPr>
          <a:xfrm>
            <a:off x="2397919" y="6340871"/>
            <a:ext cx="9492343" cy="343582"/>
          </a:xfrm>
          <a:prstGeom prst="rect">
            <a:avLst/>
          </a:prstGeom>
          <a:solidFill>
            <a:srgbClr val="317F6C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000" dirty="0"/>
              <a:t>Reacción en Cadena de la Polimerasa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923231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58552</TotalTime>
  <Words>511</Words>
  <Application>Microsoft Macintosh PowerPoint</Application>
  <PresentationFormat>Panorámica</PresentationFormat>
  <Paragraphs>118</Paragraphs>
  <Slides>20</Slides>
  <Notes>4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Tema de Office</vt:lpstr>
      <vt:lpstr>Materia Métodos de Investigación en Laboratorio II</vt:lpstr>
      <vt:lpstr>Historia</vt:lpstr>
      <vt:lpstr>¿Qué es la PCR?</vt:lpstr>
      <vt:lpstr>Presentación de PowerPoint</vt:lpstr>
      <vt:lpstr>Presentación de PowerPoint</vt:lpstr>
      <vt:lpstr>Pasos de una PCR</vt:lpstr>
      <vt:lpstr>Ingredientes de una PCR</vt:lpstr>
      <vt:lpstr>Controles</vt:lpstr>
      <vt:lpstr>Presentación de PowerPoint</vt:lpstr>
      <vt:lpstr>Presentación de PowerPoint</vt:lpstr>
      <vt:lpstr>Presentación de PowerPoint</vt:lpstr>
      <vt:lpstr>CURVA DE MG2+</vt:lpstr>
      <vt:lpstr>Presentación de PowerPoint</vt:lpstr>
      <vt:lpstr>Presentación de PowerPoint</vt:lpstr>
      <vt:lpstr>Presentación de PowerPoint</vt:lpstr>
      <vt:lpstr>Presentación de PowerPoint</vt:lpstr>
      <vt:lpstr>¿Cuándo utilizar una polimerasa de alta fidelidad?</vt:lpstr>
      <vt:lpstr>Tipos de PCR</vt:lpstr>
      <vt:lpstr>Presentación de PowerPoint</vt:lpstr>
      <vt:lpstr>Aplicaciones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CLARA ESTELA DIAZ VELASQUEZ</dc:creator>
  <cp:lastModifiedBy>Felipe Vaca Paniagua</cp:lastModifiedBy>
  <cp:revision>21</cp:revision>
  <dcterms:created xsi:type="dcterms:W3CDTF">2025-02-05T16:00:01Z</dcterms:created>
  <dcterms:modified xsi:type="dcterms:W3CDTF">2026-05-05T18:04:05Z</dcterms:modified>
</cp:coreProperties>
</file>