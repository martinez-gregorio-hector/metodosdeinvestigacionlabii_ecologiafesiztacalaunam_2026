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58">
          <p15:clr>
            <a:srgbClr val="000000"/>
          </p15:clr>
        </p15:guide>
        <p15:guide id="2" pos="2844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jDpkDAMGCL893tZn695GI8LWj3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58" orient="horz"/>
        <p:guide pos="28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7fcde271931ae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7fcde271931ae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c54f925ec346e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c54f925ec346e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e82d71c2c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de82d71c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Tinción de Gram composición de la pared de las bacterias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Las bacterias Gram positivas retienen el colorante violeta y aparecen de color violeta oscuro, mientras que las Gram negativas se descolorean y aparecen de color rosado </a:t>
            </a:r>
            <a:endParaRPr/>
          </a:p>
          <a:p>
            <a:pPr indent="0" lvl="0" marL="0" rtl="0" algn="l">
              <a:lnSpc>
                <a:spcPct val="103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Bacterias gran negativas</a:t>
            </a:r>
            <a:r>
              <a:rPr b="1"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375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bacterias gram negativas  consisten en una pared celular delgada rodeada por una segundamembrana lipidica llamada membrana externa llamada membrana externa MO, el espacio  entre la MO y la membrana citoplasmatica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375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poros donde entran los farmacos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375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Acuérdate que cuando son gram negativas tienen presencia de pared de péptido glicanos que hacen que la tinción de gram tiña la bacteria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Buffer de Lysis celular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Detergentes no ionicos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Sales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Buffer Tris HCl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EDTA (agente quelante de cationes divalente como Mg2+ que es cofactor para nucleasas como Dnasas). 	</a:t>
            </a:r>
            <a:endParaRPr/>
          </a:p>
        </p:txBody>
      </p:sp>
      <p:sp>
        <p:nvSpPr>
          <p:cNvPr id="159" name="Google Shape;159;g3de82d71c2c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67" name="Google Shape;167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213cd840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01" name="Google Shape;201;g2213cd84074_0_0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213cd8407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07" name="Google Shape;207;g2213cd84074_0_14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las diferentes moleculas biologicas a diferentes longitudes de onda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13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picogreen en una  tincion cianina excitada a 480 nm  y una emision de 520 nm </a:t>
            </a:r>
            <a:endParaRPr sz="1100"/>
          </a:p>
        </p:txBody>
      </p:sp>
      <p:sp>
        <p:nvSpPr>
          <p:cNvPr id="241" name="Google Shape;241;p12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50" name="Google Shape;250;p15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3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7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37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37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48" name="Google Shape;48;p3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3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8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4" name="Google Shape;54;p38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5" name="Google Shape;55;p3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1" name="Google Shape;61;p39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2" name="Google Shape;62;p3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3" name="Google Shape;63;p39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3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40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4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4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4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0" name="Google Shape;90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1" name="Google Shape;9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title"/>
          </p:nvPr>
        </p:nvSpPr>
        <p:spPr>
          <a:xfrm>
            <a:off x="628650" y="273844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0" type="dt"/>
          </p:nvPr>
        </p:nvSpPr>
        <p:spPr>
          <a:xfrm>
            <a:off x="628650" y="4767263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11" type="ftr"/>
          </p:nvPr>
        </p:nvSpPr>
        <p:spPr>
          <a:xfrm>
            <a:off x="3028950" y="4767263"/>
            <a:ext cx="30861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6457950" y="4767263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2" name="Google Shape;10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0" name="Google Shape;110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7" name="Google Shape;117;p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8" name="Google Shape;11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1" name="Google Shape;12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5" name="Google Shape;125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6" name="Google Shape;126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30" name="Google Shape;13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3" name="Google Shape;133;p3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2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grpSp>
        <p:nvGrpSpPr>
          <p:cNvPr id="84" name="Google Shape;84;p19"/>
          <p:cNvGrpSpPr/>
          <p:nvPr/>
        </p:nvGrpSpPr>
        <p:grpSpPr>
          <a:xfrm>
            <a:off x="156841" y="4197848"/>
            <a:ext cx="8864705" cy="952797"/>
            <a:chOff x="209121" y="5597130"/>
            <a:chExt cx="11819607" cy="1270396"/>
          </a:xfrm>
        </p:grpSpPr>
        <p:pic>
          <p:nvPicPr>
            <p:cNvPr id="85" name="Google Shape;85;p19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0609392" y="5597130"/>
              <a:ext cx="1419336" cy="12703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9"/>
            <p:cNvPicPr preferRelativeResize="0"/>
            <p:nvPr/>
          </p:nvPicPr>
          <p:blipFill rotWithShape="1">
            <a:blip r:embed="rId2">
              <a:alphaModFix/>
            </a:blip>
            <a:srcRect b="19175" l="8000" r="7160" t="18013"/>
            <a:stretch/>
          </p:blipFill>
          <p:spPr>
            <a:xfrm>
              <a:off x="209121" y="5820720"/>
              <a:ext cx="3194157" cy="872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9"/>
            <p:cNvPicPr preferRelativeResize="0"/>
            <p:nvPr/>
          </p:nvPicPr>
          <p:blipFill rotWithShape="1">
            <a:blip r:embed="rId3">
              <a:alphaModFix/>
            </a:blip>
            <a:srcRect b="0" l="8825" r="60425" t="41592"/>
            <a:stretch/>
          </p:blipFill>
          <p:spPr>
            <a:xfrm>
              <a:off x="5851890" y="5668273"/>
              <a:ext cx="1291424" cy="109211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0.png"/><Relationship Id="rId5" Type="http://schemas.openxmlformats.org/officeDocument/2006/relationships/image" Target="../media/image5.png"/><Relationship Id="rId6" Type="http://schemas.openxmlformats.org/officeDocument/2006/relationships/image" Target="../media/image15.png"/><Relationship Id="rId7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Relationship Id="rId4" Type="http://schemas.openxmlformats.org/officeDocument/2006/relationships/image" Target="../media/image2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11.png"/><Relationship Id="rId5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jpg"/><Relationship Id="rId4" Type="http://schemas.openxmlformats.org/officeDocument/2006/relationships/image" Target="../media/image1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3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"/>
          <p:cNvSpPr txBox="1"/>
          <p:nvPr>
            <p:ph idx="1" type="subTitle"/>
          </p:nvPr>
        </p:nvSpPr>
        <p:spPr>
          <a:xfrm>
            <a:off x="5160985" y="3876543"/>
            <a:ext cx="37803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s-ES" sz="15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Ponente </a:t>
            </a:r>
            <a:r>
              <a:rPr b="1" lang="es-ES" sz="1500"/>
              <a:t>M.C.</a:t>
            </a:r>
            <a:r>
              <a:rPr b="1" lang="es-ES" sz="1500"/>
              <a:t> María Fernanda Largo Fernández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 b="1" sz="1500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s-ES" sz="15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Fecha Abril 2026</a:t>
            </a:r>
            <a:endParaRPr b="1" sz="1500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1"/>
          <p:cNvPicPr preferRelativeResize="0"/>
          <p:nvPr/>
        </p:nvPicPr>
        <p:blipFill rotWithShape="1">
          <a:blip r:embed="rId3">
            <a:alphaModFix amt="16000"/>
          </a:blip>
          <a:srcRect b="14685" l="33306" r="21759" t="7572"/>
          <a:stretch/>
        </p:blipFill>
        <p:spPr>
          <a:xfrm rot="-5400000">
            <a:off x="2161772" y="-2172040"/>
            <a:ext cx="5179219" cy="92154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" name="Google Shape;141;p1"/>
          <p:cNvGrpSpPr/>
          <p:nvPr/>
        </p:nvGrpSpPr>
        <p:grpSpPr>
          <a:xfrm>
            <a:off x="100013" y="-114300"/>
            <a:ext cx="8796169" cy="1785937"/>
            <a:chOff x="100013" y="-114300"/>
            <a:chExt cx="8796169" cy="1785937"/>
          </a:xfrm>
        </p:grpSpPr>
        <p:pic>
          <p:nvPicPr>
            <p:cNvPr id="142" name="Google Shape;142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00862" y="-114300"/>
              <a:ext cx="1995320" cy="17859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"/>
            <p:cNvPicPr preferRelativeResize="0"/>
            <p:nvPr/>
          </p:nvPicPr>
          <p:blipFill rotWithShape="1">
            <a:blip r:embed="rId5">
              <a:alphaModFix/>
            </a:blip>
            <a:srcRect b="19175" l="8000" r="7160" t="18013"/>
            <a:stretch/>
          </p:blipFill>
          <p:spPr>
            <a:xfrm>
              <a:off x="100013" y="200025"/>
              <a:ext cx="4490382" cy="1226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"/>
            <p:cNvPicPr preferRelativeResize="0"/>
            <p:nvPr/>
          </p:nvPicPr>
          <p:blipFill rotWithShape="1">
            <a:blip r:embed="rId6">
              <a:alphaModFix/>
            </a:blip>
            <a:srcRect b="0" l="8825" r="60425" t="41592"/>
            <a:stretch/>
          </p:blipFill>
          <p:spPr>
            <a:xfrm>
              <a:off x="4818994" y="-14287"/>
              <a:ext cx="1815497" cy="1535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1"/>
          <p:cNvSpPr txBox="1"/>
          <p:nvPr/>
        </p:nvSpPr>
        <p:spPr>
          <a:xfrm>
            <a:off x="709335" y="1671134"/>
            <a:ext cx="8084100" cy="15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Extracción de DNA genómico y evaluación de su calidad</a:t>
            </a:r>
            <a:endParaRPr b="0" i="0" sz="2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g3d7fcde271931ae7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00" y="152400"/>
            <a:ext cx="72580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gc54f925ec346e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400" y="152400"/>
            <a:ext cx="72580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g3de82d71c2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2950"/>
            <a:ext cx="8839200" cy="3789547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de82d71c2c_0_0"/>
          <p:cNvSpPr txBox="1"/>
          <p:nvPr/>
        </p:nvSpPr>
        <p:spPr>
          <a:xfrm>
            <a:off x="1024700" y="1416500"/>
            <a:ext cx="78156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3" name="Google Shape;163;g3de82d71c2c_0_0"/>
          <p:cNvSpPr/>
          <p:nvPr/>
        </p:nvSpPr>
        <p:spPr>
          <a:xfrm>
            <a:off x="1346175" y="130575"/>
            <a:ext cx="6710700" cy="76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800">
                <a:solidFill>
                  <a:schemeClr val="dk1"/>
                </a:solidFill>
              </a:rPr>
              <a:t>EXTRACCIÓN DE ADN BACTERIANO (tipo Power Soil)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750" y="0"/>
            <a:ext cx="7560127" cy="504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 txBox="1"/>
          <p:nvPr/>
        </p:nvSpPr>
        <p:spPr>
          <a:xfrm>
            <a:off x="2106367" y="2507111"/>
            <a:ext cx="27840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E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Isopropanol/alcohol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E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Causa precipitación 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E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ADN insoluble en alcohol 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997403" y="252759"/>
            <a:ext cx="600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s-ES" sz="2250" u="none" cap="none" strike="noStrike">
                <a:solidFill>
                  <a:schemeClr val="dk1"/>
                </a:solidFill>
              </a:rPr>
              <a:t>Precipitación </a:t>
            </a:r>
            <a:endParaRPr b="1" i="0" sz="2250" u="none" cap="none" strike="noStrike">
              <a:solidFill>
                <a:srgbClr val="000000"/>
              </a:solidFill>
            </a:endParaRPr>
          </a:p>
        </p:txBody>
      </p:sp>
      <p:pic>
        <p:nvPicPr>
          <p:cNvPr descr="Forma&#10;&#10;Descripción generada automáticamente con confianza media" id="176" name="Google Shape;176;p7"/>
          <p:cNvPicPr preferRelativeResize="0"/>
          <p:nvPr/>
        </p:nvPicPr>
        <p:blipFill rotWithShape="1">
          <a:blip r:embed="rId3">
            <a:alphaModFix/>
          </a:blip>
          <a:srcRect b="69444" l="0" r="84405" t="0"/>
          <a:stretch/>
        </p:blipFill>
        <p:spPr>
          <a:xfrm>
            <a:off x="1160055" y="710514"/>
            <a:ext cx="1069522" cy="96716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 txBox="1"/>
          <p:nvPr/>
        </p:nvSpPr>
        <p:spPr>
          <a:xfrm>
            <a:off x="2153738" y="997955"/>
            <a:ext cx="2784022" cy="3898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E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ADN se encuentra en un mix de proteínas y reactivos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xto&#10;&#10;Descripción generada automáticamente" id="178" name="Google Shape;17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7010" y="1609124"/>
            <a:ext cx="593633" cy="5936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Descripción generada automáticamente" id="179" name="Google Shape;17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2303" y="2356872"/>
            <a:ext cx="851708" cy="85170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 txBox="1"/>
          <p:nvPr/>
        </p:nvSpPr>
        <p:spPr>
          <a:xfrm>
            <a:off x="2154011" y="1677603"/>
            <a:ext cx="2784022" cy="3898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E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Neutraliza las cargas negativas 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E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ADN más estable 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 dibujo de una persona&#10;&#10;Descripción generada automáticamente con confianza baja" id="181" name="Google Shape;18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9225" y="3581665"/>
            <a:ext cx="651211" cy="71948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7"/>
          <p:cNvSpPr txBox="1"/>
          <p:nvPr/>
        </p:nvSpPr>
        <p:spPr>
          <a:xfrm>
            <a:off x="2106386" y="3581665"/>
            <a:ext cx="2784022" cy="3898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E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Proteasas degradan proteínas asociadas a ADN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7"/>
          <p:cNvPicPr preferRelativeResize="0"/>
          <p:nvPr/>
        </p:nvPicPr>
        <p:blipFill rotWithShape="1">
          <a:blip r:embed="rId7">
            <a:alphaModFix/>
          </a:blip>
          <a:srcRect b="11056" l="0" r="0" t="0"/>
          <a:stretch/>
        </p:blipFill>
        <p:spPr>
          <a:xfrm>
            <a:off x="846450" y="0"/>
            <a:ext cx="7336800" cy="4350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columna de silica adn" id="188" name="Google Shape;188;p9"/>
          <p:cNvPicPr preferRelativeResize="0"/>
          <p:nvPr/>
        </p:nvPicPr>
        <p:blipFill rotWithShape="1">
          <a:blip r:embed="rId3">
            <a:alphaModFix/>
          </a:blip>
          <a:srcRect b="52319" l="0" r="0" t="0"/>
          <a:stretch/>
        </p:blipFill>
        <p:spPr>
          <a:xfrm>
            <a:off x="3996345" y="1368113"/>
            <a:ext cx="4696460" cy="2210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bierto tubo de Eppendorf" id="189" name="Google Shape;18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714" y="1732859"/>
            <a:ext cx="882644" cy="148094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 txBox="1"/>
          <p:nvPr/>
        </p:nvSpPr>
        <p:spPr>
          <a:xfrm>
            <a:off x="1431641" y="1794505"/>
            <a:ext cx="2330400" cy="1177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Columna de sílica: Unión por cargas en presencia de sales caotrópicas.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Mecanismo de adsorción.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449025" y="376650"/>
            <a:ext cx="6399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50">
                <a:solidFill>
                  <a:schemeClr val="dk1"/>
                </a:solidFill>
              </a:rPr>
              <a:t>Unión del DNA genómico a la </a:t>
            </a:r>
            <a:r>
              <a:rPr b="1" lang="es-ES" sz="2250">
                <a:solidFill>
                  <a:schemeClr val="dk1"/>
                </a:solidFill>
              </a:rPr>
              <a:t>membrana</a:t>
            </a:r>
            <a:endParaRPr b="1"/>
          </a:p>
        </p:txBody>
      </p:sp>
      <p:pic>
        <p:nvPicPr>
          <p:cNvPr id="192" name="Google Shape;19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59485" y="3403335"/>
            <a:ext cx="2411730" cy="159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://www.cultek.com/img/otros/Aplicaciones/AN_Purif/AN_Pur_tec026.jpg" id="197" name="Google Shape;1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1674" y="310259"/>
            <a:ext cx="2413159" cy="3233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cultek.com/img/otros/Aplicaciones/AN_Purif/AN_Pur_tec027.jpg" id="198" name="Google Shape;19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3300" y="310515"/>
            <a:ext cx="2090420" cy="377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g2213cd84074_0_0"/>
          <p:cNvPicPr preferRelativeResize="0"/>
          <p:nvPr/>
        </p:nvPicPr>
        <p:blipFill rotWithShape="1">
          <a:blip r:embed="rId3">
            <a:alphaModFix/>
          </a:blip>
          <a:srcRect b="56050" l="0" r="438" t="0"/>
          <a:stretch/>
        </p:blipFill>
        <p:spPr>
          <a:xfrm>
            <a:off x="1175125" y="1342575"/>
            <a:ext cx="6078176" cy="232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2213cd84074_0_0"/>
          <p:cNvSpPr txBox="1"/>
          <p:nvPr/>
        </p:nvSpPr>
        <p:spPr>
          <a:xfrm>
            <a:off x="133450" y="191550"/>
            <a:ext cx="4187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50">
                <a:solidFill>
                  <a:schemeClr val="dk1"/>
                </a:solidFill>
              </a:rPr>
              <a:t>Mecanismo de desorción.</a:t>
            </a:r>
            <a:endParaRPr sz="22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213cd84074_0_14"/>
          <p:cNvSpPr txBox="1"/>
          <p:nvPr/>
        </p:nvSpPr>
        <p:spPr>
          <a:xfrm>
            <a:off x="0" y="166600"/>
            <a:ext cx="52497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50">
                <a:solidFill>
                  <a:schemeClr val="dk1"/>
                </a:solidFill>
              </a:rPr>
              <a:t>Extracción de DNA por columna </a:t>
            </a:r>
            <a:endParaRPr sz="2250"/>
          </a:p>
        </p:txBody>
      </p:sp>
      <p:pic>
        <p:nvPicPr>
          <p:cNvPr id="210" name="Google Shape;210;g2213cd84074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7175" y="1158350"/>
            <a:ext cx="6524625" cy="233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" name="Google Shape;215;p10"/>
          <p:cNvCxnSpPr/>
          <p:nvPr/>
        </p:nvCxnSpPr>
        <p:spPr>
          <a:xfrm>
            <a:off x="3553515" y="987194"/>
            <a:ext cx="3825" cy="2510325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6" name="Google Shape;216;p10"/>
          <p:cNvSpPr/>
          <p:nvPr/>
        </p:nvSpPr>
        <p:spPr>
          <a:xfrm>
            <a:off x="2629176" y="195739"/>
            <a:ext cx="1848600" cy="76972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Rendimiento de la reacción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2636631" y="1744857"/>
            <a:ext cx="1841175" cy="97335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Pureza de la muestra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2636631" y="3497600"/>
            <a:ext cx="1841175" cy="97335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Integridad del DNA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"/>
          <p:cNvSpPr txBox="1"/>
          <p:nvPr/>
        </p:nvSpPr>
        <p:spPr>
          <a:xfrm>
            <a:off x="308618" y="320032"/>
            <a:ext cx="5788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2250" u="none" cap="none" strike="noStrike">
                <a:solidFill>
                  <a:srgbClr val="000000"/>
                </a:solidFill>
              </a:rPr>
              <a:t>Evaluación de la calidad del ADN aislado </a:t>
            </a:r>
            <a:endParaRPr b="1" i="0" sz="2250" u="none" cap="none" strike="noStrike">
              <a:solidFill>
                <a:srgbClr val="000000"/>
              </a:solidFill>
            </a:endParaRPr>
          </a:p>
        </p:txBody>
      </p:sp>
      <p:pic>
        <p:nvPicPr>
          <p:cNvPr id="224" name="Google Shape;224;p11"/>
          <p:cNvPicPr preferRelativeResize="0"/>
          <p:nvPr/>
        </p:nvPicPr>
        <p:blipFill rotWithShape="1">
          <a:blip r:embed="rId3">
            <a:alphaModFix/>
          </a:blip>
          <a:srcRect b="-1354" l="0" r="57417" t="0"/>
          <a:stretch/>
        </p:blipFill>
        <p:spPr>
          <a:xfrm>
            <a:off x="1266206" y="881743"/>
            <a:ext cx="1877045" cy="2049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Forma&#10;&#10;Descripción generada automáticamente" id="225" name="Google Shape;225;p11"/>
          <p:cNvPicPr preferRelativeResize="0"/>
          <p:nvPr/>
        </p:nvPicPr>
        <p:blipFill rotWithShape="1">
          <a:blip r:embed="rId4">
            <a:alphaModFix/>
          </a:blip>
          <a:srcRect b="46388" l="11666" r="70595" t="15952"/>
          <a:stretch/>
        </p:blipFill>
        <p:spPr>
          <a:xfrm>
            <a:off x="4825093" y="881743"/>
            <a:ext cx="2873829" cy="28159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interior, parado&#10;&#10;Descripción generada automáticamente" id="226" name="Google Shape;22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81374" y="959868"/>
            <a:ext cx="1275067" cy="1892984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1"/>
          <p:cNvSpPr txBox="1"/>
          <p:nvPr/>
        </p:nvSpPr>
        <p:spPr>
          <a:xfrm>
            <a:off x="1583153" y="3205214"/>
            <a:ext cx="2098222" cy="27495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E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Integridad </a:t>
            </a:r>
            <a:endParaRPr b="1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3681374" y="3205214"/>
            <a:ext cx="2098222" cy="27495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E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Cuantificación</a:t>
            </a:r>
            <a:endParaRPr b="1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 txBox="1"/>
          <p:nvPr/>
        </p:nvSpPr>
        <p:spPr>
          <a:xfrm>
            <a:off x="3522889" y="2822100"/>
            <a:ext cx="2098222" cy="27495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E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Nanodrop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5254436" y="2822100"/>
            <a:ext cx="2098222" cy="27495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E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Quibit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6511736" y="1221900"/>
            <a:ext cx="2098222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E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Unidades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ES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Ng/uL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"/>
          <p:cNvSpPr/>
          <p:nvPr/>
        </p:nvSpPr>
        <p:spPr>
          <a:xfrm>
            <a:off x="493090" y="258047"/>
            <a:ext cx="1841175" cy="58275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Pureza de la muestra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260/280 adn" id="237" name="Google Shape;23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0626" y="1717763"/>
            <a:ext cx="4718602" cy="2337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implen" id="238" name="Google Shape;23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1278" y="257771"/>
            <a:ext cx="1501878" cy="1628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tubo eppendorf dibujo" id="243" name="Google Shape;24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7581" y="1598301"/>
            <a:ext cx="742523" cy="125012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2"/>
          <p:cNvSpPr txBox="1"/>
          <p:nvPr/>
        </p:nvSpPr>
        <p:spPr>
          <a:xfrm>
            <a:off x="4907280" y="139065"/>
            <a:ext cx="2623185" cy="243649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Fluorometría: utiliza un fluoróforo intercalante de dsDNA 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 2 puntos de referencia: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S1 – agua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S2 –100ng de dsDNA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32610784-Quantus-CalloutImage-2" id="245" name="Google Shape;24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42719" y="1683496"/>
            <a:ext cx="1907658" cy="224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2"/>
          <p:cNvPicPr preferRelativeResize="0"/>
          <p:nvPr/>
        </p:nvPicPr>
        <p:blipFill rotWithShape="1">
          <a:blip r:embed="rId5">
            <a:alphaModFix/>
          </a:blip>
          <a:srcRect b="8677" l="5680" r="5001" t="12152"/>
          <a:stretch/>
        </p:blipFill>
        <p:spPr>
          <a:xfrm>
            <a:off x="5238170" y="2848922"/>
            <a:ext cx="2750654" cy="182763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2"/>
          <p:cNvSpPr txBox="1"/>
          <p:nvPr/>
        </p:nvSpPr>
        <p:spPr>
          <a:xfrm>
            <a:off x="0" y="264525"/>
            <a:ext cx="4515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50">
                <a:solidFill>
                  <a:schemeClr val="dk1"/>
                </a:solidFill>
              </a:rPr>
              <a:t>Rendimiento de la reacción</a:t>
            </a:r>
            <a:endParaRPr b="1" sz="22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"/>
          <p:cNvSpPr txBox="1"/>
          <p:nvPr>
            <p:ph type="title"/>
          </p:nvPr>
        </p:nvSpPr>
        <p:spPr>
          <a:xfrm>
            <a:off x="4415790" y="234950"/>
            <a:ext cx="3639820" cy="751840"/>
          </a:xfrm>
          <a:prstGeom prst="rect">
            <a:avLst/>
          </a:prstGeom>
          <a:gradFill>
            <a:gsLst>
              <a:gs pos="0">
                <a:srgbClr val="A6B6DE"/>
              </a:gs>
              <a:gs pos="50000">
                <a:srgbClr val="98AAD9"/>
              </a:gs>
              <a:gs pos="100000">
                <a:srgbClr val="859CD7"/>
              </a:gs>
            </a:gsLst>
            <a:lin ang="5400012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ES" sz="297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Gel de agarosa al 0.8%</a:t>
            </a:r>
            <a:endParaRPr sz="29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15"/>
          <p:cNvPicPr preferRelativeResize="0"/>
          <p:nvPr/>
        </p:nvPicPr>
        <p:blipFill rotWithShape="1">
          <a:blip r:embed="rId3">
            <a:alphaModFix/>
          </a:blip>
          <a:srcRect b="5989" l="20747" r="47265" t="12304"/>
          <a:stretch/>
        </p:blipFill>
        <p:spPr>
          <a:xfrm>
            <a:off x="578222" y="782479"/>
            <a:ext cx="2225060" cy="357909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C:\Users\Alex\AppData\Local\Microsoft\Windows\INetCache\Content.Word\Administrator 2018-06-09 18hr 49min.jpg" id="254" name="Google Shape;254;p15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23588" l="26837" r="31462" t="0"/>
          <a:stretch/>
        </p:blipFill>
        <p:spPr>
          <a:xfrm>
            <a:off x="5290820" y="1602899"/>
            <a:ext cx="2699700" cy="26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5"/>
          <p:cNvSpPr txBox="1"/>
          <p:nvPr/>
        </p:nvSpPr>
        <p:spPr>
          <a:xfrm>
            <a:off x="5291068" y="1064897"/>
            <a:ext cx="2296125" cy="2769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E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MPM         gDNA </a:t>
            </a:r>
            <a:r>
              <a:rPr b="0" i="1" lang="es-E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Staphylococcus aureus</a:t>
            </a:r>
            <a:endParaRPr b="0" i="1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 txBox="1"/>
          <p:nvPr/>
        </p:nvSpPr>
        <p:spPr>
          <a:xfrm>
            <a:off x="169817" y="228600"/>
            <a:ext cx="3000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50">
                <a:solidFill>
                  <a:schemeClr val="dk1"/>
                </a:solidFill>
              </a:rPr>
              <a:t>Integridad del DNA</a:t>
            </a:r>
            <a:endParaRPr b="1" sz="22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2023-05-01T14:18:21Z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1033-11.1.0.11691</vt:lpwstr>
  </property>
</Properties>
</file>