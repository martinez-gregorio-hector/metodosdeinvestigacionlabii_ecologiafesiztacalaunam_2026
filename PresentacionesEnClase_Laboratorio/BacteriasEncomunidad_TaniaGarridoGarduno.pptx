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32"/>
  </p:notesMasterIdLst>
  <p:sldIdLst>
    <p:sldId id="256" r:id="rId3"/>
    <p:sldId id="261" r:id="rId4"/>
    <p:sldId id="262" r:id="rId5"/>
    <p:sldId id="257" r:id="rId6"/>
    <p:sldId id="258" r:id="rId7"/>
    <p:sldId id="271" r:id="rId8"/>
    <p:sldId id="265" r:id="rId9"/>
    <p:sldId id="259" r:id="rId10"/>
    <p:sldId id="264" r:id="rId11"/>
    <p:sldId id="273" r:id="rId12"/>
    <p:sldId id="279" r:id="rId13"/>
    <p:sldId id="274" r:id="rId14"/>
    <p:sldId id="278" r:id="rId15"/>
    <p:sldId id="280" r:id="rId16"/>
    <p:sldId id="276" r:id="rId17"/>
    <p:sldId id="281" r:id="rId18"/>
    <p:sldId id="282" r:id="rId19"/>
    <p:sldId id="283" r:id="rId20"/>
    <p:sldId id="275" r:id="rId21"/>
    <p:sldId id="266" r:id="rId22"/>
    <p:sldId id="284" r:id="rId23"/>
    <p:sldId id="285" r:id="rId24"/>
    <p:sldId id="286" r:id="rId25"/>
    <p:sldId id="268" r:id="rId26"/>
    <p:sldId id="267" r:id="rId27"/>
    <p:sldId id="270" r:id="rId28"/>
    <p:sldId id="287" r:id="rId29"/>
    <p:sldId id="277" r:id="rId30"/>
    <p:sldId id="260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52"/>
    <p:restoredTop sz="94668"/>
  </p:normalViewPr>
  <p:slideViewPr>
    <p:cSldViewPr snapToGrid="0">
      <p:cViewPr varScale="1">
        <p:scale>
          <a:sx n="124" d="100"/>
          <a:sy n="124" d="100"/>
        </p:scale>
        <p:origin x="192" y="23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d8980c18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1d8980c18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d8980c18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1d8980c18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9B9C7093-59D8-B4B7-3130-D52A97DD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d8980c183_0_95:notes">
            <a:extLst>
              <a:ext uri="{FF2B5EF4-FFF2-40B4-BE49-F238E27FC236}">
                <a16:creationId xmlns:a16="http://schemas.microsoft.com/office/drawing/2014/main" id="{E987920D-C8A9-D91E-40A1-25DD65D1C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1d8980c183_0_95:notes">
            <a:extLst>
              <a:ext uri="{FF2B5EF4-FFF2-40B4-BE49-F238E27FC236}">
                <a16:creationId xmlns:a16="http://schemas.microsoft.com/office/drawing/2014/main" id="{C968D139-08CA-395D-FF4B-ABF333D8C9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519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117223-B0AD-C1EC-F7DA-A587112EE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>
            <a:extLst>
              <a:ext uri="{FF2B5EF4-FFF2-40B4-BE49-F238E27FC236}">
                <a16:creationId xmlns:a16="http://schemas.microsoft.com/office/drawing/2014/main" id="{059A91C0-4525-407F-EE68-36449B46D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>
            <a:extLst>
              <a:ext uri="{FF2B5EF4-FFF2-40B4-BE49-F238E27FC236}">
                <a16:creationId xmlns:a16="http://schemas.microsoft.com/office/drawing/2014/main" id="{E1275B18-4A63-B396-504D-E838922B1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3721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0000E2-2E96-2CB6-2F2F-9D11B1DC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>
            <a:extLst>
              <a:ext uri="{FF2B5EF4-FFF2-40B4-BE49-F238E27FC236}">
                <a16:creationId xmlns:a16="http://schemas.microsoft.com/office/drawing/2014/main" id="{8529C9FD-8D7F-B734-4634-58BD13B23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>
            <a:extLst>
              <a:ext uri="{FF2B5EF4-FFF2-40B4-BE49-F238E27FC236}">
                <a16:creationId xmlns:a16="http://schemas.microsoft.com/office/drawing/2014/main" id="{5EEB1210-6F21-5D68-90D9-D74E7C543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959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B3D4AAC-0E0C-2790-A0F2-FDA7D2F3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>
            <a:extLst>
              <a:ext uri="{FF2B5EF4-FFF2-40B4-BE49-F238E27FC236}">
                <a16:creationId xmlns:a16="http://schemas.microsoft.com/office/drawing/2014/main" id="{5D18F16F-D489-CFC7-C355-7C8FBF0F26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>
            <a:extLst>
              <a:ext uri="{FF2B5EF4-FFF2-40B4-BE49-F238E27FC236}">
                <a16:creationId xmlns:a16="http://schemas.microsoft.com/office/drawing/2014/main" id="{E21A093E-E289-B757-EE43-9C627B1602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010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46B0229C-B517-7ED7-51A7-810CA12F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>
            <a:extLst>
              <a:ext uri="{FF2B5EF4-FFF2-40B4-BE49-F238E27FC236}">
                <a16:creationId xmlns:a16="http://schemas.microsoft.com/office/drawing/2014/main" id="{A633CCFE-28B0-980A-D3C5-EBC26A1A5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>
            <a:extLst>
              <a:ext uri="{FF2B5EF4-FFF2-40B4-BE49-F238E27FC236}">
                <a16:creationId xmlns:a16="http://schemas.microsoft.com/office/drawing/2014/main" id="{8D321B52-4E32-6621-2A7D-8A4679D81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896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3EFFB4-F007-0871-9E30-FC3A8EF3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>
            <a:extLst>
              <a:ext uri="{FF2B5EF4-FFF2-40B4-BE49-F238E27FC236}">
                <a16:creationId xmlns:a16="http://schemas.microsoft.com/office/drawing/2014/main" id="{EE63B964-C30F-DE4D-3661-05ED0B23F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>
            <a:extLst>
              <a:ext uri="{FF2B5EF4-FFF2-40B4-BE49-F238E27FC236}">
                <a16:creationId xmlns:a16="http://schemas.microsoft.com/office/drawing/2014/main" id="{0001D06F-7D6A-51CC-3EB7-D8826B38F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815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C63E39-759B-5C55-3F40-92C60F20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>
            <a:extLst>
              <a:ext uri="{FF2B5EF4-FFF2-40B4-BE49-F238E27FC236}">
                <a16:creationId xmlns:a16="http://schemas.microsoft.com/office/drawing/2014/main" id="{9A043E02-2D6F-7384-922A-678074CEB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>
            <a:extLst>
              <a:ext uri="{FF2B5EF4-FFF2-40B4-BE49-F238E27FC236}">
                <a16:creationId xmlns:a16="http://schemas.microsoft.com/office/drawing/2014/main" id="{F08FDADF-E370-48D9-684B-5A94F3789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849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d8980c18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21d8980c183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1945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156841" y="4197848"/>
            <a:ext cx="8864706" cy="952797"/>
            <a:chOff x="209121" y="5597130"/>
            <a:chExt cx="11819608" cy="1270396"/>
          </a:xfrm>
        </p:grpSpPr>
        <p:pic>
          <p:nvPicPr>
            <p:cNvPr id="10" name="Google Shape;10;p1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1"/>
            <p:cNvPicPr preferRelativeResize="0"/>
            <p:nvPr/>
          </p:nvPicPr>
          <p:blipFill rotWithShape="1">
            <a:blip r:embed="rId15">
              <a:alphaModFix/>
            </a:blip>
            <a:srcRect l="8000" t="18013" r="7160" b="19175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1"/>
            <p:cNvPicPr preferRelativeResize="0"/>
            <p:nvPr/>
          </p:nvPicPr>
          <p:blipFill rotWithShape="1">
            <a:blip r:embed="rId16">
              <a:alphaModFix/>
            </a:blip>
            <a:srcRect l="8825" t="41592" r="60425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 amt="16000"/>
          </a:blip>
          <a:srcRect l="32990" t="7113" r="22075" b="15144"/>
          <a:stretch/>
        </p:blipFill>
        <p:spPr>
          <a:xfrm rot="-5400000">
            <a:off x="1960959" y="-2039540"/>
            <a:ext cx="5179219" cy="9215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25"/>
          <p:cNvGrpSpPr/>
          <p:nvPr/>
        </p:nvGrpSpPr>
        <p:grpSpPr>
          <a:xfrm>
            <a:off x="100013" y="-114300"/>
            <a:ext cx="8796170" cy="1785937"/>
            <a:chOff x="100013" y="-114300"/>
            <a:chExt cx="8796170" cy="1785937"/>
          </a:xfrm>
        </p:grpSpPr>
        <p:pic>
          <p:nvPicPr>
            <p:cNvPr id="135" name="Google Shape;13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0862" y="-114300"/>
              <a:ext cx="1995320" cy="1785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5"/>
            <p:cNvPicPr preferRelativeResize="0"/>
            <p:nvPr/>
          </p:nvPicPr>
          <p:blipFill rotWithShape="1">
            <a:blip r:embed="rId5">
              <a:alphaModFix/>
            </a:blip>
            <a:srcRect l="8000" t="18013" r="7160" b="19175"/>
            <a:stretch/>
          </p:blipFill>
          <p:spPr>
            <a:xfrm>
              <a:off x="100013" y="200025"/>
              <a:ext cx="4490382" cy="122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5"/>
            <p:cNvPicPr preferRelativeResize="0"/>
            <p:nvPr/>
          </p:nvPicPr>
          <p:blipFill rotWithShape="1">
            <a:blip r:embed="rId6">
              <a:alphaModFix/>
            </a:blip>
            <a:srcRect l="8825" t="41592" r="60425"/>
            <a:stretch/>
          </p:blipFill>
          <p:spPr>
            <a:xfrm>
              <a:off x="4818994" y="-14287"/>
              <a:ext cx="1815497" cy="153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5"/>
          <p:cNvSpPr txBox="1">
            <a:spLocks noGrp="1"/>
          </p:cNvSpPr>
          <p:nvPr>
            <p:ph type="ctrTitle"/>
          </p:nvPr>
        </p:nvSpPr>
        <p:spPr>
          <a:xfrm>
            <a:off x="98700" y="3009602"/>
            <a:ext cx="89466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 dirty="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chemeClr val="lt1"/>
              </a:buClr>
              <a:buSzPts val="2400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Bacterias en comunidad: composición y estructura a través de diferentes tipos de hábitats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i="1" dirty="0">
              <a:solidFill>
                <a:srgbClr val="1C4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Google Shape;139;p25"/>
          <p:cNvSpPr txBox="1">
            <a:spLocks noGrp="1"/>
          </p:cNvSpPr>
          <p:nvPr>
            <p:ph type="subTitle" idx="1"/>
          </p:nvPr>
        </p:nvSpPr>
        <p:spPr>
          <a:xfrm>
            <a:off x="5265000" y="4092732"/>
            <a:ext cx="37803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500" b="1" dirty="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Ponente: Tania Garrido Garduño</a:t>
            </a:r>
            <a:endParaRPr sz="1500" b="1" dirty="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500" b="1" dirty="0" err="1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Fecha</a:t>
            </a:r>
            <a:r>
              <a:rPr lang="en" sz="1500" b="1" dirty="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: 4 de mayo del 2026 </a:t>
            </a:r>
            <a:endParaRPr sz="1500" dirty="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8BDE6-15DC-78C5-CBA0-52AAE3D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94018"/>
            <a:ext cx="7886700" cy="994200"/>
          </a:xfrm>
        </p:spPr>
        <p:txBody>
          <a:bodyPr/>
          <a:lstStyle/>
          <a:p>
            <a:pPr algn="ctr"/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Comunidad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06400A-1F0A-B08D-0947-009EF8074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40050"/>
            <a:ext cx="7886700" cy="3263400"/>
          </a:xfrm>
        </p:spPr>
        <p:txBody>
          <a:bodyPr/>
          <a:lstStyle/>
          <a:p>
            <a:pPr marL="139700" indent="0">
              <a:buNone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Conjunto de poblaciones de diferentes especies que coexisten en un mismo espacio y tiempo.</a:t>
            </a:r>
          </a:p>
          <a:p>
            <a:pPr marL="139700" indent="0">
              <a:buNone/>
            </a:pPr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>
              <a:buNone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Determinada por:</a:t>
            </a:r>
          </a:p>
          <a:p>
            <a:pPr marL="139700" indent="0">
              <a:buNone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-Limitaciones a la dispersión</a:t>
            </a:r>
          </a:p>
          <a:p>
            <a:pPr marL="139700" indent="0">
              <a:buNone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-Limitaciones del ambiente</a:t>
            </a:r>
          </a:p>
          <a:p>
            <a:pPr marL="139700" indent="0">
              <a:buNone/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-Dinámica interna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8596C8-8235-B08F-8390-25EB9D68F75C}"/>
              </a:ext>
            </a:extLst>
          </p:cNvPr>
          <p:cNvSpPr txBox="1"/>
          <p:nvPr/>
        </p:nvSpPr>
        <p:spPr>
          <a:xfrm>
            <a:off x="7231118" y="4603532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Begon et al., 2006</a:t>
            </a:r>
          </a:p>
        </p:txBody>
      </p:sp>
    </p:spTree>
    <p:extLst>
      <p:ext uri="{BB962C8B-B14F-4D97-AF65-F5344CB8AC3E}">
        <p14:creationId xmlns:p14="http://schemas.microsoft.com/office/powerpoint/2010/main" val="344083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1E48320E-2885-16BC-B159-67F988C76615}"/>
              </a:ext>
            </a:extLst>
          </p:cNvPr>
          <p:cNvGrpSpPr/>
          <p:nvPr/>
        </p:nvGrpSpPr>
        <p:grpSpPr>
          <a:xfrm>
            <a:off x="794090" y="0"/>
            <a:ext cx="7740310" cy="4995392"/>
            <a:chOff x="1638107" y="146648"/>
            <a:chExt cx="6444347" cy="4152084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3C378FDD-F3D8-7795-C58B-7F181EAB3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6766"/>
            <a:stretch>
              <a:fillRect/>
            </a:stretch>
          </p:blipFill>
          <p:spPr>
            <a:xfrm>
              <a:off x="1638107" y="146648"/>
              <a:ext cx="6444347" cy="4152084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D64995A-F117-AA85-F14F-4B9EE5EE4B68}"/>
                </a:ext>
              </a:extLst>
            </p:cNvPr>
            <p:cNvSpPr txBox="1"/>
            <p:nvPr/>
          </p:nvSpPr>
          <p:spPr>
            <a:xfrm>
              <a:off x="2316113" y="562138"/>
              <a:ext cx="1149674" cy="5232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MX" dirty="0"/>
                <a:t>Limitantes </a:t>
              </a:r>
            </a:p>
            <a:p>
              <a:pPr algn="ctr"/>
              <a:r>
                <a:rPr lang="es-MX" dirty="0"/>
                <a:t>ambientales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F50BF180-14C4-D56B-85E4-FC9FF2E2EF39}"/>
                </a:ext>
              </a:extLst>
            </p:cNvPr>
            <p:cNvSpPr txBox="1"/>
            <p:nvPr/>
          </p:nvSpPr>
          <p:spPr>
            <a:xfrm>
              <a:off x="3828246" y="562138"/>
              <a:ext cx="2064067" cy="3077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Total de especies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C484FDF-9730-BF4E-9094-F65868D7AE53}"/>
                </a:ext>
              </a:extLst>
            </p:cNvPr>
            <p:cNvSpPr txBox="1"/>
            <p:nvPr/>
          </p:nvSpPr>
          <p:spPr>
            <a:xfrm>
              <a:off x="5766205" y="1044815"/>
              <a:ext cx="1338829" cy="5232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MX" dirty="0"/>
                <a:t>Limitantes </a:t>
              </a:r>
            </a:p>
            <a:p>
              <a:pPr algn="ctr"/>
              <a:r>
                <a:rPr lang="es-MX" dirty="0"/>
                <a:t>a la disperisón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110D651-3652-09BC-B90E-AEF8D4E0815D}"/>
                </a:ext>
              </a:extLst>
            </p:cNvPr>
            <p:cNvSpPr txBox="1"/>
            <p:nvPr/>
          </p:nvSpPr>
          <p:spPr>
            <a:xfrm>
              <a:off x="2308981" y="1500848"/>
              <a:ext cx="131960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Hábitat de las especies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216BDE8-EA36-068F-40C6-294199EA652B}"/>
                </a:ext>
              </a:extLst>
            </p:cNvPr>
            <p:cNvSpPr txBox="1"/>
            <p:nvPr/>
          </p:nvSpPr>
          <p:spPr>
            <a:xfrm>
              <a:off x="5677546" y="2024068"/>
              <a:ext cx="1319605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Rango geográfico de la especies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A3999ED-CCC0-FB3F-5924-24439B93D2C5}"/>
                </a:ext>
              </a:extLst>
            </p:cNvPr>
            <p:cNvSpPr txBox="1"/>
            <p:nvPr/>
          </p:nvSpPr>
          <p:spPr>
            <a:xfrm>
              <a:off x="4138287" y="3002751"/>
              <a:ext cx="1116884" cy="30777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Comunidad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2EFFF30-D659-9AD2-448B-2BF014818972}"/>
                </a:ext>
              </a:extLst>
            </p:cNvPr>
            <p:cNvSpPr txBox="1"/>
            <p:nvPr/>
          </p:nvSpPr>
          <p:spPr>
            <a:xfrm>
              <a:off x="3953460" y="1858118"/>
              <a:ext cx="1354265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Dinámica de las especies</a:t>
              </a:r>
            </a:p>
            <a:p>
              <a:pPr algn="ctr"/>
              <a:endParaRPr lang="es-MX" dirty="0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D9D26C3-D286-F891-EED4-B7657F06CC6D}"/>
              </a:ext>
            </a:extLst>
          </p:cNvPr>
          <p:cNvSpPr txBox="1"/>
          <p:nvPr/>
        </p:nvSpPr>
        <p:spPr>
          <a:xfrm>
            <a:off x="7507013" y="4835723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Begon et al., 2006</a:t>
            </a:r>
          </a:p>
        </p:txBody>
      </p:sp>
    </p:spTree>
    <p:extLst>
      <p:ext uri="{BB962C8B-B14F-4D97-AF65-F5344CB8AC3E}">
        <p14:creationId xmlns:p14="http://schemas.microsoft.com/office/powerpoint/2010/main" val="214917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D468D23-0F6D-E812-BDC7-F634BDA0A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32" y="0"/>
            <a:ext cx="8983368" cy="440317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92938DF-A1BC-7833-7DF7-29A02AAF512A}"/>
              </a:ext>
            </a:extLst>
          </p:cNvPr>
          <p:cNvSpPr txBox="1"/>
          <p:nvPr/>
        </p:nvSpPr>
        <p:spPr>
          <a:xfrm>
            <a:off x="7346381" y="4004443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Begon et al., 2006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3D270-C9AF-D7A5-1769-8E3F8E6B3CDA}"/>
              </a:ext>
            </a:extLst>
          </p:cNvPr>
          <p:cNvSpPr txBox="1">
            <a:spLocks/>
          </p:cNvSpPr>
          <p:nvPr/>
        </p:nvSpPr>
        <p:spPr>
          <a:xfrm>
            <a:off x="107731" y="-168166"/>
            <a:ext cx="4185088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Hábitat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0A0E6F-74B2-3D39-86C2-E1C1FDEBA791}"/>
              </a:ext>
            </a:extLst>
          </p:cNvPr>
          <p:cNvSpPr txBox="1"/>
          <p:nvPr/>
        </p:nvSpPr>
        <p:spPr>
          <a:xfrm>
            <a:off x="254876" y="901111"/>
            <a:ext cx="446426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Porción local del ambiente, donde un organismo o una serie de organismos viven bajo una serie de condiciones.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7DB46B-EF20-555B-CF90-7EE4C3B9B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026"/>
            <a:ext cx="4572000" cy="512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Desarrollo Sustentable: 2.4 Biodiversidad (desde genes hasta ecosistemas)">
            <a:extLst>
              <a:ext uri="{FF2B5EF4-FFF2-40B4-BE49-F238E27FC236}">
                <a16:creationId xmlns:a16="http://schemas.microsoft.com/office/drawing/2014/main" id="{1B1D66E6-4314-FEB4-DEE0-4334156028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" t="13868" r="3767" b="4617"/>
          <a:stretch>
            <a:fillRect/>
          </a:stretch>
        </p:blipFill>
        <p:spPr bwMode="auto">
          <a:xfrm>
            <a:off x="3784929" y="1485899"/>
            <a:ext cx="5359071" cy="36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iversidad en México: Estos son algunos de los biomas que se encuentran en  el país">
            <a:extLst>
              <a:ext uri="{FF2B5EF4-FFF2-40B4-BE49-F238E27FC236}">
                <a16:creationId xmlns:a16="http://schemas.microsoft.com/office/drawing/2014/main" id="{95B1063A-CBB8-A5BB-288D-8C866D231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761" y="997503"/>
            <a:ext cx="3334091" cy="222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3563993-8FBC-CDCE-7930-4C146947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03"/>
            <a:ext cx="7886700" cy="994200"/>
          </a:xfrm>
        </p:spPr>
        <p:txBody>
          <a:bodyPr/>
          <a:lstStyle/>
          <a:p>
            <a:pPr algn="ctr"/>
            <a:r>
              <a:rPr lang="es-MX" dirty="0"/>
              <a:t>Biodiversidad</a:t>
            </a:r>
          </a:p>
        </p:txBody>
      </p:sp>
      <p:pic>
        <p:nvPicPr>
          <p:cNvPr id="4098" name="Picture 2" descr="¿Qué significa la diversidad de especies?">
            <a:extLst>
              <a:ext uri="{FF2B5EF4-FFF2-40B4-BE49-F238E27FC236}">
                <a16:creationId xmlns:a16="http://schemas.microsoft.com/office/drawing/2014/main" id="{1EF94FEA-9668-B24C-F1A5-56C297AE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1" y="446359"/>
            <a:ext cx="2791235" cy="203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24EFA8E-8C79-9770-8130-F432487C8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34" y="2625116"/>
            <a:ext cx="3617896" cy="251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29AB8D5A-8B08-78AE-F06A-D65F1D3E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istema excretor de un insecto">
            <a:extLst>
              <a:ext uri="{FF2B5EF4-FFF2-40B4-BE49-F238E27FC236}">
                <a16:creationId xmlns:a16="http://schemas.microsoft.com/office/drawing/2014/main" id="{0139803A-E6A0-0176-B889-91C176D66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4938"/>
            <a:ext cx="2642692" cy="182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ut bacteria">
            <a:extLst>
              <a:ext uri="{FF2B5EF4-FFF2-40B4-BE49-F238E27FC236}">
                <a16:creationId xmlns:a16="http://schemas.microsoft.com/office/drawing/2014/main" id="{BEC354A8-0B67-AF25-F4D9-67C27F69D8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3" r="26843"/>
          <a:stretch>
            <a:fillRect/>
          </a:stretch>
        </p:blipFill>
        <p:spPr bwMode="auto">
          <a:xfrm>
            <a:off x="2588540" y="1622767"/>
            <a:ext cx="2366660" cy="249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59B644D-8817-D226-0062-67A207A8F4C5}"/>
              </a:ext>
            </a:extLst>
          </p:cNvPr>
          <p:cNvSpPr txBox="1">
            <a:spLocks/>
          </p:cNvSpPr>
          <p:nvPr/>
        </p:nvSpPr>
        <p:spPr>
          <a:xfrm>
            <a:off x="386912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Tambien esto es un hábitat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F25E98-A700-707A-201F-37459087C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710" y="1030014"/>
            <a:ext cx="4178290" cy="30834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E84B40-DD8C-8FBA-A202-D671D93FBDAA}"/>
              </a:ext>
            </a:extLst>
          </p:cNvPr>
          <p:cNvSpPr txBox="1"/>
          <p:nvPr/>
        </p:nvSpPr>
        <p:spPr>
          <a:xfrm>
            <a:off x="6169059" y="3982681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Bodawatta et al., 2022</a:t>
            </a:r>
          </a:p>
        </p:txBody>
      </p:sp>
    </p:spTree>
    <p:extLst>
      <p:ext uri="{BB962C8B-B14F-4D97-AF65-F5344CB8AC3E}">
        <p14:creationId xmlns:p14="http://schemas.microsoft.com/office/powerpoint/2010/main" val="16967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6A7079-9A63-EC1F-7261-C787914A8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4" y="702129"/>
            <a:ext cx="4287792" cy="38317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6CBCEE-4AE4-00E7-702E-6E543B664DE6}"/>
              </a:ext>
            </a:extLst>
          </p:cNvPr>
          <p:cNvSpPr txBox="1">
            <a:spLocks/>
          </p:cNvSpPr>
          <p:nvPr/>
        </p:nvSpPr>
        <p:spPr>
          <a:xfrm>
            <a:off x="628650" y="-39939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Composición</a:t>
            </a:r>
          </a:p>
        </p:txBody>
      </p:sp>
      <p:pic>
        <p:nvPicPr>
          <p:cNvPr id="3076" name="Picture 4" descr="Dietzia Kunjamensis Acrylic Print by Dennis Kunkel Microscopy / Science  Photo Library - Fine Art America">
            <a:extLst>
              <a:ext uri="{FF2B5EF4-FFF2-40B4-BE49-F238E27FC236}">
                <a16:creationId xmlns:a16="http://schemas.microsoft.com/office/drawing/2014/main" id="{82549470-DBE7-A96C-681A-6B0B23328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939" y="924910"/>
            <a:ext cx="1169954" cy="153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rauserella soli sp. nov., isolated from crude oil-contaminated soil |  Microbiology Society">
            <a:extLst>
              <a:ext uri="{FF2B5EF4-FFF2-40B4-BE49-F238E27FC236}">
                <a16:creationId xmlns:a16="http://schemas.microsoft.com/office/drawing/2014/main" id="{3FDAB0B0-201D-B01E-D7B1-732816A94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36" y="1757739"/>
            <a:ext cx="1906094" cy="125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6F339E0-8FE6-09B9-7BBB-1CD4A06E1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424" y="2789085"/>
            <a:ext cx="1830963" cy="125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Diversidad de la familia de Lactobacillus - Yakult en Puebla">
            <a:extLst>
              <a:ext uri="{FF2B5EF4-FFF2-40B4-BE49-F238E27FC236}">
                <a16:creationId xmlns:a16="http://schemas.microsoft.com/office/drawing/2014/main" id="{A40265E1-8851-13B8-0583-ECC57573D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533" y="173943"/>
            <a:ext cx="18415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EDEF198-EC5B-E942-AE49-3BF2CD129AC1}"/>
              </a:ext>
            </a:extLst>
          </p:cNvPr>
          <p:cNvSpPr txBox="1"/>
          <p:nvPr/>
        </p:nvSpPr>
        <p:spPr>
          <a:xfrm>
            <a:off x="5982916" y="4765033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Mariano et al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2D5CC3B1-0DC0-2FD2-5A5E-30CB1B9D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C29E9-4EB1-E0A3-BA80-DA5BF0FD4263}"/>
              </a:ext>
            </a:extLst>
          </p:cNvPr>
          <p:cNvSpPr txBox="1">
            <a:spLocks/>
          </p:cNvSpPr>
          <p:nvPr/>
        </p:nvSpPr>
        <p:spPr>
          <a:xfrm>
            <a:off x="374385" y="-4971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Estructura de las comunidades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DF2912A-80F1-6EF5-510E-2C608DE403C0}"/>
              </a:ext>
            </a:extLst>
          </p:cNvPr>
          <p:cNvSpPr txBox="1"/>
          <p:nvPr/>
        </p:nvSpPr>
        <p:spPr>
          <a:xfrm>
            <a:off x="0" y="354300"/>
            <a:ext cx="4022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Abundancia de las especies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C37C2F-C69A-1ED6-A9B6-7BE7FF75E3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8" b="5623"/>
          <a:stretch>
            <a:fillRect/>
          </a:stretch>
        </p:blipFill>
        <p:spPr>
          <a:xfrm>
            <a:off x="1568869" y="815965"/>
            <a:ext cx="6006262" cy="43275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B1B1DEA-446E-FE88-272A-DA5B7DDF82A0}"/>
              </a:ext>
            </a:extLst>
          </p:cNvPr>
          <p:cNvSpPr txBox="1"/>
          <p:nvPr/>
        </p:nvSpPr>
        <p:spPr>
          <a:xfrm>
            <a:off x="7109469" y="4835723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Abundez et al., en prep</a:t>
            </a:r>
          </a:p>
        </p:txBody>
      </p:sp>
    </p:spTree>
    <p:extLst>
      <p:ext uri="{BB962C8B-B14F-4D97-AF65-F5344CB8AC3E}">
        <p14:creationId xmlns:p14="http://schemas.microsoft.com/office/powerpoint/2010/main" val="4011892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CA128-03D2-4BD7-65AE-C2BB19F62FAF}"/>
              </a:ext>
            </a:extLst>
          </p:cNvPr>
          <p:cNvSpPr txBox="1">
            <a:spLocks/>
          </p:cNvSpPr>
          <p:nvPr/>
        </p:nvSpPr>
        <p:spPr>
          <a:xfrm>
            <a:off x="374385" y="-4971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Estructura de las comunidades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5D67E84-DEFF-4A3E-7352-796F771CE754}"/>
              </a:ext>
            </a:extLst>
          </p:cNvPr>
          <p:cNvSpPr txBox="1"/>
          <p:nvPr/>
        </p:nvSpPr>
        <p:spPr>
          <a:xfrm>
            <a:off x="0" y="354300"/>
            <a:ext cx="4022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Abundancia de las especies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0C0882-4EA9-2450-6B27-1AE575E2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110" y="968064"/>
            <a:ext cx="6201779" cy="36825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FCFEB6A-188A-140D-00A0-303FF7337111}"/>
              </a:ext>
            </a:extLst>
          </p:cNvPr>
          <p:cNvSpPr txBox="1"/>
          <p:nvPr/>
        </p:nvSpPr>
        <p:spPr>
          <a:xfrm>
            <a:off x="6576164" y="4650656"/>
            <a:ext cx="2084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Abundez et al ., en prep</a:t>
            </a:r>
          </a:p>
        </p:txBody>
      </p:sp>
    </p:spTree>
    <p:extLst>
      <p:ext uri="{BB962C8B-B14F-4D97-AF65-F5344CB8AC3E}">
        <p14:creationId xmlns:p14="http://schemas.microsoft.com/office/powerpoint/2010/main" val="191632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6E532395-5F19-DF03-3FFB-F2E9D1C4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3814C-F586-A50E-5F71-CF86AD6E4EDC}"/>
              </a:ext>
            </a:extLst>
          </p:cNvPr>
          <p:cNvSpPr txBox="1">
            <a:spLocks/>
          </p:cNvSpPr>
          <p:nvPr/>
        </p:nvSpPr>
        <p:spPr>
          <a:xfrm>
            <a:off x="374385" y="-4971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Estructura de las comunidades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C6F29D-3A09-B13D-C9F9-2F59EDE7E16C}"/>
              </a:ext>
            </a:extLst>
          </p:cNvPr>
          <p:cNvSpPr txBox="1"/>
          <p:nvPr/>
        </p:nvSpPr>
        <p:spPr>
          <a:xfrm>
            <a:off x="3411076" y="26626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Abundancia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BFE4FC-3BF1-E77D-D2C9-1C191AA9DAD9}"/>
              </a:ext>
            </a:extLst>
          </p:cNvPr>
          <p:cNvSpPr txBox="1"/>
          <p:nvPr/>
        </p:nvSpPr>
        <p:spPr>
          <a:xfrm>
            <a:off x="7109469" y="4835723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Abundez et al., en prep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2E4DDF-A20A-FED6-414C-B69CEE78771E}"/>
              </a:ext>
            </a:extLst>
          </p:cNvPr>
          <p:cNvSpPr txBox="1"/>
          <p:nvPr/>
        </p:nvSpPr>
        <p:spPr>
          <a:xfrm>
            <a:off x="374385" y="1175657"/>
            <a:ext cx="40180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Las especies, en general, se distribuyen según </a:t>
            </a:r>
          </a:p>
          <a:p>
            <a:r>
              <a:rPr lang="es-MX" sz="1800" dirty="0"/>
              <a:t>jerarquías de abundancias. Hay algunas especies muy abundantes y otras muy raras. </a:t>
            </a:r>
          </a:p>
          <a:p>
            <a:endParaRPr lang="es-MX" sz="1800" dirty="0"/>
          </a:p>
          <a:p>
            <a:r>
              <a:rPr lang="es-MX" sz="1800" dirty="0"/>
              <a:t>Cuanto mayor es el grado de dominancia de algunas especies, hay otras que son raras. Por lo tanto menor es la diversidad de la comunidad. </a:t>
            </a:r>
          </a:p>
        </p:txBody>
      </p:sp>
      <p:pic>
        <p:nvPicPr>
          <p:cNvPr id="1026" name="Picture 2" descr="bacterias y virus de color patrón sin costuras - arte vectorial de Abstracto libre de derechos">
            <a:extLst>
              <a:ext uri="{FF2B5EF4-FFF2-40B4-BE49-F238E27FC236}">
                <a16:creationId xmlns:a16="http://schemas.microsoft.com/office/drawing/2014/main" id="{FAED3FF9-0D8C-674E-6A2D-C013DD0D5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373" y="879875"/>
            <a:ext cx="3236315" cy="323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117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A6102CF-1F80-06CA-04BC-73544065A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5" y="335161"/>
            <a:ext cx="8730643" cy="434234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8EC1902-4F18-69FC-85A7-739F8F60E3E6}"/>
              </a:ext>
            </a:extLst>
          </p:cNvPr>
          <p:cNvSpPr txBox="1"/>
          <p:nvPr/>
        </p:nvSpPr>
        <p:spPr>
          <a:xfrm>
            <a:off x="1503840" y="0"/>
            <a:ext cx="6123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Estructura vertical de una comunidad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E00E78-111C-84DD-5704-60FA239F9A16}"/>
              </a:ext>
            </a:extLst>
          </p:cNvPr>
          <p:cNvSpPr txBox="1"/>
          <p:nvPr/>
        </p:nvSpPr>
        <p:spPr>
          <a:xfrm>
            <a:off x="6804898" y="4854452"/>
            <a:ext cx="23391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900" dirty="0"/>
              <a:t>Imagen tomada de Cardenas-Torres 2014</a:t>
            </a:r>
          </a:p>
        </p:txBody>
      </p:sp>
    </p:spTree>
    <p:extLst>
      <p:ext uri="{BB962C8B-B14F-4D97-AF65-F5344CB8AC3E}">
        <p14:creationId xmlns:p14="http://schemas.microsoft.com/office/powerpoint/2010/main" val="118531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96BA1-2A40-D873-B947-BCF2C043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00216"/>
            <a:ext cx="7886700" cy="994200"/>
          </a:xfrm>
        </p:spPr>
        <p:txBody>
          <a:bodyPr/>
          <a:lstStyle/>
          <a:p>
            <a:pPr algn="ctr"/>
            <a:r>
              <a:rPr lang="es-MX" dirty="0"/>
              <a:t>Estructura horizontal de una comunidad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804247-97F8-719A-6DBA-1EEFADBE6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662" y="733391"/>
            <a:ext cx="6020676" cy="41132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0EB554-0CB8-C988-BB04-D92A71BD0179}"/>
              </a:ext>
            </a:extLst>
          </p:cNvPr>
          <p:cNvSpPr txBox="1"/>
          <p:nvPr/>
        </p:nvSpPr>
        <p:spPr>
          <a:xfrm>
            <a:off x="6804898" y="4854452"/>
            <a:ext cx="23070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900" dirty="0"/>
              <a:t>Imagen tomada de Lozano-Botache 2011</a:t>
            </a:r>
          </a:p>
        </p:txBody>
      </p:sp>
    </p:spTree>
    <p:extLst>
      <p:ext uri="{BB962C8B-B14F-4D97-AF65-F5344CB8AC3E}">
        <p14:creationId xmlns:p14="http://schemas.microsoft.com/office/powerpoint/2010/main" val="3330591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E825661-E2A0-F41E-7574-9DDCED96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EE176-00A4-E16C-9A89-3F5A0327AF7A}"/>
              </a:ext>
            </a:extLst>
          </p:cNvPr>
          <p:cNvSpPr txBox="1">
            <a:spLocks/>
          </p:cNvSpPr>
          <p:nvPr/>
        </p:nvSpPr>
        <p:spPr>
          <a:xfrm>
            <a:off x="374385" y="-4971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Estructura de las comunidades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C31FED-3137-C63A-63B6-B6274BB28827}"/>
              </a:ext>
            </a:extLst>
          </p:cNvPr>
          <p:cNvSpPr txBox="1"/>
          <p:nvPr/>
        </p:nvSpPr>
        <p:spPr>
          <a:xfrm>
            <a:off x="3411076" y="266267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Abundancia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BD7445C-3EB3-336A-A2B2-C3A17DCF4B06}"/>
              </a:ext>
            </a:extLst>
          </p:cNvPr>
          <p:cNvSpPr txBox="1"/>
          <p:nvPr/>
        </p:nvSpPr>
        <p:spPr>
          <a:xfrm>
            <a:off x="7109469" y="4835723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Abundez et al., en prep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1D5F1C-E263-5DFC-1EA0-FC440CB2F58A}"/>
              </a:ext>
            </a:extLst>
          </p:cNvPr>
          <p:cNvSpPr txBox="1"/>
          <p:nvPr/>
        </p:nvSpPr>
        <p:spPr>
          <a:xfrm>
            <a:off x="374384" y="497099"/>
            <a:ext cx="443891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</a:t>
            </a:r>
            <a:r>
              <a:rPr lang="es-MX" sz="2400" b="1" dirty="0"/>
              <a:t>Índice</a:t>
            </a:r>
          </a:p>
          <a:p>
            <a:endParaRPr lang="es-MX" sz="2000" b="1" dirty="0"/>
          </a:p>
          <a:p>
            <a:r>
              <a:rPr lang="es-MX" sz="2000" dirty="0"/>
              <a:t>Es una medida numérica que resume, compara o representa el comportamiento de una o varias variables. </a:t>
            </a:r>
          </a:p>
          <a:p>
            <a:endParaRPr lang="es-MX" sz="2000" dirty="0"/>
          </a:p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Su función principal es simplificar información compleja para facilitar la interpretación de patrones, cambios o diferencias entre grupos, lugares o momentos en el tiempo.</a:t>
            </a:r>
          </a:p>
        </p:txBody>
      </p:sp>
      <p:pic>
        <p:nvPicPr>
          <p:cNvPr id="1026" name="Picture 2" descr="bacterias y virus de color patrón sin costuras - arte vectorial de Abstracto libre de derechos">
            <a:extLst>
              <a:ext uri="{FF2B5EF4-FFF2-40B4-BE49-F238E27FC236}">
                <a16:creationId xmlns:a16="http://schemas.microsoft.com/office/drawing/2014/main" id="{A959CC20-2143-DAE4-A9AF-5762BCB77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373" y="879875"/>
            <a:ext cx="3236315" cy="323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191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CD08A-958B-F76F-56AE-35760CB4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Índices de Simpson y Shannon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2EE64BAE-2B16-D24F-7757-862BBB678C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MX" dirty="0"/>
                  <a:t>Índice de Shannon (o Shannon-Wiener) </a:t>
                </a:r>
              </a:p>
              <a:p>
                <a:endParaRPr lang="es-MX" dirty="0"/>
              </a:p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/>
                          </m:ctrlPr>
                        </m:sSupPr>
                        <m:e>
                          <m:r>
                            <a:rPr lang="ar-AE" i="1"/>
                            <m:t>𝐻</m:t>
                          </m:r>
                        </m:e>
                        <m:sup>
                          <m:r>
                            <a:rPr lang="ar-AE"/>
                            <m:t>′</m:t>
                          </m:r>
                        </m:sup>
                      </m:sSup>
                      <m:r>
                        <a:rPr lang="ar-AE"/>
                        <m:t>=−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𝑖</m:t>
                          </m:r>
                          <m:r>
                            <a:rPr lang="ar-AE"/>
                            <m:t>=1</m:t>
                          </m:r>
                        </m:sub>
                        <m:sup>
                          <m:r>
                            <a:rPr lang="ar-AE" i="1"/>
                            <m:t>𝑆</m:t>
                          </m:r>
                        </m:sup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𝑝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s-MX"/>
                        <m:t>ln</m:t>
                      </m:r>
                      <m:r>
                        <a:rPr lang="es-MX"/>
                        <m:t>⁡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𝑝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139700" indent="0">
                  <a:buNone/>
                </a:pPr>
                <a:r>
                  <a:rPr lang="es-MX" dirty="0"/>
                  <a:t>Donde:</a:t>
                </a:r>
              </a:p>
              <a:p>
                <a:pPr marL="1397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𝐻</m:t>
                        </m:r>
                      </m:e>
                      <m:sup>
                        <m:r>
                          <a:rPr lang="ar-AE"/>
                          <m:t>′</m:t>
                        </m:r>
                      </m:sup>
                    </m:sSup>
                  </m:oMath>
                </a14:m>
                <a:r>
                  <a:rPr lang="ar-AE" dirty="0"/>
                  <a:t>= </a:t>
                </a:r>
                <a:r>
                  <a:rPr lang="es-MX" dirty="0"/>
                  <a:t>diversidad de Shannon </a:t>
                </a:r>
              </a:p>
              <a:p>
                <a:pPr marL="1397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mtClean="0"/>
                        </m:ctrlPr>
                      </m:sSubPr>
                      <m:e>
                        <m:r>
                          <a:rPr lang="ar-AE" i="1"/>
                          <m:t>𝑝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s-MX" dirty="0"/>
                  <a:t>proporción de individuos de la especie </a:t>
                </a:r>
                <a14:m>
                  <m:oMath xmlns:m="http://schemas.openxmlformats.org/officeDocument/2006/math">
                    <m:r>
                      <a:rPr lang="es-MX" i="1"/>
                      <m:t>𝑖</m:t>
                    </m:r>
                  </m:oMath>
                </a14:m>
                <a:endParaRPr lang="es-MX" dirty="0"/>
              </a:p>
              <a:p>
                <a:pPr marL="139700" indent="0">
                  <a:buNone/>
                </a:pPr>
                <a14:m>
                  <m:oMath xmlns:m="http://schemas.openxmlformats.org/officeDocument/2006/math">
                    <m:r>
                      <a:rPr lang="es-MX" i="1"/>
                      <m:t>𝑆</m:t>
                    </m:r>
                  </m:oMath>
                </a14:m>
                <a:r>
                  <a:rPr lang="es-MX" dirty="0"/>
                  <a:t>= número total de especies</a:t>
                </a:r>
              </a:p>
              <a:p>
                <a:endParaRPr lang="es-MX" dirty="0"/>
              </a:p>
            </p:txBody>
          </p:sp>
        </mc:Choice>
        <mc:Fallback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2EE64BAE-2B16-D24F-7757-862BBB678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24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810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049A5-C72B-3BC1-1CEC-524BBE9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Índices de Shannon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7DFCD-B1EC-A1BB-C5BA-BA8C9391C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s-MX" dirty="0"/>
              <a:t>Considera:</a:t>
            </a:r>
          </a:p>
          <a:p>
            <a:pPr>
              <a:buFont typeface="Wingdings" pitchFamily="2" charset="2"/>
              <a:buChar char="§"/>
            </a:pPr>
            <a:r>
              <a:rPr lang="es-MX" b="1" dirty="0"/>
              <a:t>Riqueza de especies</a:t>
            </a:r>
            <a:r>
              <a:rPr lang="es-MX" dirty="0"/>
              <a:t> (número de especies).</a:t>
            </a:r>
          </a:p>
          <a:p>
            <a:pPr>
              <a:buFont typeface="Wingdings" pitchFamily="2" charset="2"/>
              <a:buChar char="§"/>
            </a:pPr>
            <a:r>
              <a:rPr lang="es-MX" b="1" dirty="0"/>
              <a:t>Equitatividad</a:t>
            </a:r>
            <a:r>
              <a:rPr lang="es-MX" dirty="0"/>
              <a:t> (qué tan uniformes son las abundancias).</a:t>
            </a:r>
          </a:p>
          <a:p>
            <a:pPr>
              <a:buFont typeface="Wingdings" pitchFamily="2" charset="2"/>
              <a:buChar char="§"/>
            </a:pPr>
            <a:r>
              <a:rPr lang="es-MX" dirty="0"/>
              <a:t>Es más sensible a las </a:t>
            </a:r>
            <a:r>
              <a:rPr lang="es-MX" b="1" dirty="0"/>
              <a:t>especies raras</a:t>
            </a:r>
            <a:r>
              <a:rPr lang="es-MX" dirty="0"/>
              <a:t>. </a:t>
            </a:r>
          </a:p>
          <a:p>
            <a:pPr marL="139700" indent="0">
              <a:buNone/>
            </a:pPr>
            <a:r>
              <a:rPr lang="es-MX" dirty="0"/>
              <a:t>Interpretación: </a:t>
            </a:r>
          </a:p>
          <a:p>
            <a:pPr marL="139700" indent="0">
              <a:buNone/>
            </a:pPr>
            <a:r>
              <a:rPr lang="es-MX" dirty="0"/>
              <a:t>Si una comunidad tiene muchas especies con abundancias similares, Shannon será alto.</a:t>
            </a:r>
            <a:br>
              <a:rPr lang="es-MX" dirty="0"/>
            </a:br>
            <a:r>
              <a:rPr lang="es-MX" dirty="0"/>
              <a:t>Si hay pocas especies o una domina ampliamente, el valor disminuye.</a:t>
            </a:r>
          </a:p>
          <a:p>
            <a:pPr marL="139700" indent="0">
              <a:buNone/>
            </a:pPr>
            <a:r>
              <a:rPr lang="es-MX" dirty="0"/>
              <a:t>0.5 – 5 , pero valores inferiores a 2 se considera bajos en diversidad.</a:t>
            </a:r>
          </a:p>
          <a:p>
            <a:pPr marL="13970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1961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16EE-60A9-C5A5-0249-0F21F7D4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B0DF6-91C4-0B14-48E1-27330EA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Índices de Simpson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AF7DC0D7-2F7F-1F7B-E3EB-86ACBD2431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/>
                        <m:t>𝐷</m:t>
                      </m:r>
                      <m:r>
                        <a:rPr lang="es-MX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ctrlPr>
                                <a:rPr lang="ar-AE" i="1"/>
                              </m:ctrlPr>
                            </m:naryPr>
                            <m:sub>
                              <m:r>
                                <a:rPr lang="ar-AE" i="1"/>
                                <m:t>𝑖</m:t>
                              </m:r>
                              <m:r>
                                <a:rPr lang="ar-AE"/>
                                <m:t>=1</m:t>
                              </m:r>
                            </m:sub>
                            <m:sup>
                              <m:r>
                                <a:rPr lang="ar-AE" i="1"/>
                                <m:t>𝑆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𝑛</m:t>
                                  </m:r>
                                </m:e>
                                <m:sub>
                                  <m:r>
                                    <a:rPr lang="ar-AE" i="1"/>
                                    <m:t>𝑖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𝑛</m:t>
                                  </m:r>
                                </m:e>
                                <m:sub>
                                  <m:r>
                                    <a:rPr lang="ar-AE" i="1"/>
                                    <m:t>𝑖</m:t>
                                  </m:r>
                                </m:sub>
                              </m:sSub>
                              <m:r>
                                <a:rPr lang="ar-AE"/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ar-AE" i="1"/>
                            <m:t>𝑁</m:t>
                          </m:r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𝑁</m:t>
                              </m:r>
                              <m:r>
                                <a:rPr lang="ar-AE"/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ES" i="1" dirty="0"/>
              </a:p>
              <a:p>
                <a:pPr marL="139700" indent="0">
                  <a:buNone/>
                </a:pPr>
                <a:endParaRPr lang="es-MX" dirty="0"/>
              </a:p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/>
                        <m:t>Donde</m:t>
                      </m:r>
                      <m:r>
                        <m:rPr>
                          <m:nor/>
                        </m:rPr>
                        <a:rPr lang="es-MX"/>
                        <m:t>:</m:t>
                      </m:r>
                    </m:oMath>
                  </m:oMathPara>
                </a14:m>
                <a:endParaRPr lang="es-MX" dirty="0"/>
              </a:p>
              <a:p>
                <a:pPr marL="139700" indent="0">
                  <a:buNone/>
                </a:pPr>
                <a:endParaRPr lang="es-MX" dirty="0"/>
              </a:p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i="1"/>
                        <m:t>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el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n</m:t>
                      </m:r>
                      <m:r>
                        <m:rPr>
                          <m:nor/>
                        </m:rPr>
                        <a:rPr lang="es-MX"/>
                        <m:t>ú</m:t>
                      </m:r>
                      <m:r>
                        <m:rPr>
                          <m:nor/>
                        </m:rPr>
                        <a:rPr lang="es-MX"/>
                        <m:t>mero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de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especies</m:t>
                      </m:r>
                    </m:oMath>
                  </m:oMathPara>
                </a14:m>
                <a:endParaRPr lang="es-MX" dirty="0"/>
              </a:p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i="1"/>
                        <m:t>N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el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total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de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organismos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presentes</m:t>
                      </m:r>
                      <m:r>
                        <m:rPr>
                          <m:nor/>
                        </m:rPr>
                        <a:rPr lang="es-MX"/>
                        <m:t> (</m:t>
                      </m:r>
                      <m:r>
                        <m:rPr>
                          <m:nor/>
                        </m:rPr>
                        <a:rPr lang="es-MX"/>
                        <m:t>o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unidades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cuadradas</m:t>
                      </m:r>
                      <m:r>
                        <m:rPr>
                          <m:nor/>
                        </m:rPr>
                        <a:rPr lang="es-MX"/>
                        <m:t>)</m:t>
                      </m:r>
                    </m:oMath>
                  </m:oMathPara>
                </a14:m>
                <a:endParaRPr lang="es-MX" dirty="0"/>
              </a:p>
              <a:p>
                <a:pPr marL="1397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i="1"/>
                        <m:t>n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el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n</m:t>
                      </m:r>
                      <m:r>
                        <m:rPr>
                          <m:nor/>
                        </m:rPr>
                        <a:rPr lang="es-MX"/>
                        <m:t>ú</m:t>
                      </m:r>
                      <m:r>
                        <m:rPr>
                          <m:nor/>
                        </m:rPr>
                        <a:rPr lang="es-MX"/>
                        <m:t>mero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de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ejemplares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por</m:t>
                      </m:r>
                      <m:r>
                        <m:rPr>
                          <m:nor/>
                        </m:rPr>
                        <a:rPr lang="es-MX"/>
                        <m:t> </m:t>
                      </m:r>
                      <m:r>
                        <m:rPr>
                          <m:nor/>
                        </m:rPr>
                        <a:rPr lang="es-MX"/>
                        <m:t>especie</m:t>
                      </m:r>
                    </m:oMath>
                  </m:oMathPara>
                </a14:m>
                <a:endParaRPr lang="es-MX" dirty="0"/>
              </a:p>
              <a:p>
                <a:pPr marL="139700" indent="0">
                  <a:buNone/>
                </a:pPr>
                <a:endParaRPr lang="es-MX" dirty="0"/>
              </a:p>
            </p:txBody>
          </p:sp>
        </mc:Choice>
        <mc:Fallback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AF7DC0D7-2F7F-1F7B-E3EB-86ACBD243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71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827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27CA3-1F5E-A658-31B2-BFB1C06A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FC726-CFC9-A401-F4F8-A9C746F6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Índices de Simpson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493B67-CC28-B2C5-75F5-75F065272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s-MX" dirty="0"/>
              <a:t>Da mayor peso a las </a:t>
            </a:r>
            <a:r>
              <a:rPr lang="es-MX" b="1" dirty="0"/>
              <a:t>especies dominantes</a:t>
            </a:r>
            <a:r>
              <a:rPr lang="es-MX" dirty="0"/>
              <a:t>. </a:t>
            </a:r>
          </a:p>
          <a:p>
            <a:pPr marL="139700" indent="0">
              <a:buNone/>
            </a:pPr>
            <a:r>
              <a:rPr lang="es-MX" dirty="0"/>
              <a:t>Es menos sensible a especies raras. </a:t>
            </a:r>
          </a:p>
          <a:p>
            <a:pPr marL="139700" indent="0">
              <a:buNone/>
            </a:pPr>
            <a:r>
              <a:rPr lang="es-MX" dirty="0"/>
              <a:t>Refleja principalmente la </a:t>
            </a:r>
            <a:r>
              <a:rPr lang="es-MX" b="1" dirty="0"/>
              <a:t>dominancia</a:t>
            </a:r>
            <a:r>
              <a:rPr lang="es-MX" dirty="0"/>
              <a:t> dentro de la comunidad. </a:t>
            </a:r>
          </a:p>
          <a:p>
            <a:pPr marL="139700" indent="0">
              <a:buNone/>
            </a:pPr>
            <a:endParaRPr lang="es-MX" dirty="0"/>
          </a:p>
          <a:p>
            <a:pPr marL="139700" indent="0">
              <a:buNone/>
            </a:pPr>
            <a:r>
              <a:rPr lang="es-MX" b="1" dirty="0"/>
              <a:t>Interpretación: </a:t>
            </a:r>
          </a:p>
          <a:p>
            <a:pPr marL="139700" indent="0">
              <a:buNone/>
            </a:pPr>
            <a:r>
              <a:rPr lang="es-MX" dirty="0"/>
              <a:t>Valor cercano a 1 indica baja diversidad (alta dominancia).</a:t>
            </a:r>
          </a:p>
          <a:p>
            <a:pPr marL="139700" indent="0">
              <a:buNone/>
            </a:pPr>
            <a:r>
              <a:rPr lang="es-MX" dirty="0"/>
              <a:t>Valores cercanos a 0, alta diversidad.</a:t>
            </a:r>
          </a:p>
          <a:p>
            <a:pPr marL="13970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90840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0248C-9B1B-C026-CBD8-87AE3FC9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978"/>
            <a:ext cx="7886700" cy="994200"/>
          </a:xfrm>
        </p:spPr>
        <p:txBody>
          <a:bodyPr/>
          <a:lstStyle/>
          <a:p>
            <a:pPr algn="ctr"/>
            <a:r>
              <a:rPr lang="es-MX" dirty="0"/>
              <a:t>¿Cómo contar a las especies?</a:t>
            </a:r>
            <a:br>
              <a:rPr lang="es-MX" dirty="0"/>
            </a:br>
            <a:r>
              <a:rPr lang="es-MX" dirty="0"/>
              <a:t>Métodos directos </a:t>
            </a:r>
          </a:p>
        </p:txBody>
      </p:sp>
      <p:pic>
        <p:nvPicPr>
          <p:cNvPr id="7170" name="Picture 2" descr="Biólogo De La Conservación Observando Aves En Peligro De Extinción En Una  Selva Frondosa Stock de ilustración - Ilustración de conocimiento, aviar:  360619775">
            <a:extLst>
              <a:ext uri="{FF2B5EF4-FFF2-40B4-BE49-F238E27FC236}">
                <a16:creationId xmlns:a16="http://schemas.microsoft.com/office/drawing/2014/main" id="{7941FA60-9360-CB36-5C10-FF05714EB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38" y="1351432"/>
            <a:ext cx="4283902" cy="240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Una mujer mirando a través de un microscopio algo foto – Imagen de Ciencia  en Unsplash">
            <a:extLst>
              <a:ext uri="{FF2B5EF4-FFF2-40B4-BE49-F238E27FC236}">
                <a16:creationId xmlns:a16="http://schemas.microsoft.com/office/drawing/2014/main" id="{80E7F492-855A-E446-2757-507D37BE1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662" y="2649389"/>
            <a:ext cx="3678199" cy="245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644DC63-812A-D72A-9A65-A213517E3EE7}"/>
              </a:ext>
            </a:extLst>
          </p:cNvPr>
          <p:cNvSpPr txBox="1"/>
          <p:nvPr/>
        </p:nvSpPr>
        <p:spPr>
          <a:xfrm>
            <a:off x="5108661" y="1816501"/>
            <a:ext cx="367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/>
              <a:t>Trabajo de campo y luego trabajo en laboratorio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1E1F98-EF12-FD6E-0505-BB9CF0A224FB}"/>
              </a:ext>
            </a:extLst>
          </p:cNvPr>
          <p:cNvSpPr txBox="1"/>
          <p:nvPr/>
        </p:nvSpPr>
        <p:spPr>
          <a:xfrm>
            <a:off x="425227" y="4071175"/>
            <a:ext cx="4021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/>
              <a:t>La diversidad no es suficiente con un solo muestreo </a:t>
            </a:r>
          </a:p>
        </p:txBody>
      </p:sp>
    </p:spTree>
    <p:extLst>
      <p:ext uri="{BB962C8B-B14F-4D97-AF65-F5344CB8AC3E}">
        <p14:creationId xmlns:p14="http://schemas.microsoft.com/office/powerpoint/2010/main" val="1691358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1C4E4-89DE-120E-F3FE-B0A05DCE2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61792"/>
            <a:ext cx="7886700" cy="994200"/>
          </a:xfrm>
        </p:spPr>
        <p:txBody>
          <a:bodyPr/>
          <a:lstStyle/>
          <a:p>
            <a:pPr algn="ctr"/>
            <a:r>
              <a:rPr lang="es-MX" dirty="0"/>
              <a:t>Método indirecto: eDNA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AD9142-DECA-2780-8027-35355AC9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5308"/>
            <a:ext cx="7886700" cy="3263400"/>
          </a:xfrm>
        </p:spPr>
        <p:txBody>
          <a:bodyPr/>
          <a:lstStyle/>
          <a:p>
            <a:pPr marL="139700" indent="0" algn="ctr">
              <a:buNone/>
            </a:pPr>
            <a:r>
              <a:rPr lang="es-MX" dirty="0"/>
              <a:t>Material genético que dejan las especies en el medio.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DB779EB-0F89-EA7A-1205-8F9A531DB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026" y="732408"/>
            <a:ext cx="4405074" cy="440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CEB949-8531-DAA6-15A2-8FD9AAAE1447}"/>
              </a:ext>
            </a:extLst>
          </p:cNvPr>
          <p:cNvSpPr txBox="1"/>
          <p:nvPr/>
        </p:nvSpPr>
        <p:spPr>
          <a:xfrm>
            <a:off x="5644933" y="4649086"/>
            <a:ext cx="3361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dirty="0"/>
              <a:t>Tomado de : https://cinvestav.mx/Avance-y-Perspectiva/Secciones/Zona-Abierta/adn-ambiental-una-herramienta-no-invasiva-para-el-monitoreo-del-ajolote-del-altiplano</a:t>
            </a:r>
          </a:p>
        </p:txBody>
      </p:sp>
    </p:spTree>
    <p:extLst>
      <p:ext uri="{BB962C8B-B14F-4D97-AF65-F5344CB8AC3E}">
        <p14:creationId xmlns:p14="http://schemas.microsoft.com/office/powerpoint/2010/main" val="3016523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72ADF0D1-19E1-10A0-ACF8-1D38D43D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Genómica y Pesca">
            <a:extLst>
              <a:ext uri="{FF2B5EF4-FFF2-40B4-BE49-F238E27FC236}">
                <a16:creationId xmlns:a16="http://schemas.microsoft.com/office/drawing/2014/main" id="{CD6EB01A-473F-A00A-070E-B0297C8FE6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74661" y="965771"/>
            <a:ext cx="8743308" cy="325690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8402D5-08DA-A05E-D1A9-D79E6DBBB6F6}"/>
              </a:ext>
            </a:extLst>
          </p:cNvPr>
          <p:cNvSpPr txBox="1">
            <a:spLocks/>
          </p:cNvSpPr>
          <p:nvPr/>
        </p:nvSpPr>
        <p:spPr>
          <a:xfrm>
            <a:off x="374385" y="-2431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Marcador molecular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52F31B-DC93-6285-C994-FF9BCCCE605F}"/>
              </a:ext>
            </a:extLst>
          </p:cNvPr>
          <p:cNvSpPr txBox="1"/>
          <p:nvPr/>
        </p:nvSpPr>
        <p:spPr>
          <a:xfrm>
            <a:off x="957822" y="1333052"/>
            <a:ext cx="716891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i="0" dirty="0">
                <a:solidFill>
                  <a:srgbClr val="001D35"/>
                </a:solidFill>
                <a:effectLst/>
                <a:latin typeface="Google Sans"/>
              </a:rPr>
              <a:t>Son </a:t>
            </a:r>
            <a:r>
              <a:rPr lang="es-MX" sz="2400" b="1" dirty="0">
                <a:effectLst/>
              </a:rPr>
              <a:t>fragmentos o nucleótidos específicos de ADN</a:t>
            </a:r>
            <a:r>
              <a:rPr lang="es-MX" sz="2400" dirty="0"/>
              <a:t> que se utilizan para identificar la </a:t>
            </a:r>
            <a:r>
              <a:rPr lang="es-MX" sz="3600" b="1" dirty="0">
                <a:solidFill>
                  <a:srgbClr val="0070C0"/>
                </a:solidFill>
              </a:rPr>
              <a:t>variación </a:t>
            </a:r>
            <a:r>
              <a:rPr lang="es-MX" sz="2400" dirty="0"/>
              <a:t>genética dentro de una población o entre especies al detectar diferencias en las secuencias de ácidos nucleicos entre individuos.</a:t>
            </a:r>
          </a:p>
        </p:txBody>
      </p:sp>
    </p:spTree>
    <p:extLst>
      <p:ext uri="{BB962C8B-B14F-4D97-AF65-F5344CB8AC3E}">
        <p14:creationId xmlns:p14="http://schemas.microsoft.com/office/powerpoint/2010/main" val="4205715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CB29EA58-491E-62BB-F123-4FAFB765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B3B21-ADB4-4F9F-F5B9-EFC455FEC507}"/>
              </a:ext>
            </a:extLst>
          </p:cNvPr>
          <p:cNvSpPr txBox="1">
            <a:spLocks/>
          </p:cNvSpPr>
          <p:nvPr/>
        </p:nvSpPr>
        <p:spPr>
          <a:xfrm>
            <a:off x="374384" y="-39527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Marcador molecular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DDD539-1256-3BD3-4789-D6AF4B744F0C}"/>
              </a:ext>
            </a:extLst>
          </p:cNvPr>
          <p:cNvSpPr txBox="1"/>
          <p:nvPr/>
        </p:nvSpPr>
        <p:spPr>
          <a:xfrm>
            <a:off x="1357352" y="557046"/>
            <a:ext cx="6429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ARN ribosomal 16S (Procariontes y Arqueas)</a:t>
            </a:r>
          </a:p>
        </p:txBody>
      </p:sp>
      <p:pic>
        <p:nvPicPr>
          <p:cNvPr id="4" name="Imagen 3" descr="The schema of ribosome complex and 16S rRNA gene. The white ...">
            <a:extLst>
              <a:ext uri="{FF2B5EF4-FFF2-40B4-BE49-F238E27FC236}">
                <a16:creationId xmlns:a16="http://schemas.microsoft.com/office/drawing/2014/main" id="{B94973CB-185B-8E1C-4792-A8BB2A48B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65" y="1222448"/>
            <a:ext cx="6553749" cy="269860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B0E9CF1-287D-7BA3-F293-8FC0AC856D4F}"/>
              </a:ext>
            </a:extLst>
          </p:cNvPr>
          <p:cNvSpPr txBox="1"/>
          <p:nvPr/>
        </p:nvSpPr>
        <p:spPr>
          <a:xfrm>
            <a:off x="6148696" y="3997830"/>
            <a:ext cx="25170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50" dirty="0"/>
              <a:t>Imagen tomada de Kufunda et al 2016 </a:t>
            </a:r>
          </a:p>
        </p:txBody>
      </p:sp>
    </p:spTree>
    <p:extLst>
      <p:ext uri="{BB962C8B-B14F-4D97-AF65-F5344CB8AC3E}">
        <p14:creationId xmlns:p14="http://schemas.microsoft.com/office/powerpoint/2010/main" val="744877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23C81079-432A-1764-5946-A6B640FD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D97C5-1EBC-69F2-CD9E-52A351FFC537}"/>
              </a:ext>
            </a:extLst>
          </p:cNvPr>
          <p:cNvSpPr txBox="1">
            <a:spLocks/>
          </p:cNvSpPr>
          <p:nvPr/>
        </p:nvSpPr>
        <p:spPr>
          <a:xfrm>
            <a:off x="374384" y="-39527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Marcador molecular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D187A2-3102-57D1-1398-77C2745323E3}"/>
              </a:ext>
            </a:extLst>
          </p:cNvPr>
          <p:cNvSpPr txBox="1"/>
          <p:nvPr/>
        </p:nvSpPr>
        <p:spPr>
          <a:xfrm>
            <a:off x="1357352" y="557046"/>
            <a:ext cx="6429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ARN ribosomal 16S (Procariontes y Arqueas)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87A127-5026-EE2C-FF43-C426EDFAFF00}"/>
              </a:ext>
            </a:extLst>
          </p:cNvPr>
          <p:cNvSpPr txBox="1"/>
          <p:nvPr/>
        </p:nvSpPr>
        <p:spPr>
          <a:xfrm>
            <a:off x="6148696" y="3997830"/>
            <a:ext cx="25170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50" dirty="0"/>
              <a:t>Imagen tomada de Kufunda et al 2016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6460BB-FC4F-C523-96DC-292314203C74}"/>
              </a:ext>
            </a:extLst>
          </p:cNvPr>
          <p:cNvSpPr txBox="1"/>
          <p:nvPr/>
        </p:nvSpPr>
        <p:spPr>
          <a:xfrm>
            <a:off x="433687" y="1488322"/>
            <a:ext cx="82320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Presencia universal y funcional, se encuentra en todos los procariontes.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Regiones conservadas, (casí identicas en la mayoría de los procariontes.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Regiones hipervariables, nos permiten identificar a nivel de género (código de barras</a:t>
            </a:r>
          </a:p>
        </p:txBody>
      </p:sp>
    </p:spTree>
    <p:extLst>
      <p:ext uri="{BB962C8B-B14F-4D97-AF65-F5344CB8AC3E}">
        <p14:creationId xmlns:p14="http://schemas.microsoft.com/office/powerpoint/2010/main" val="3992060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F2C9-6EA6-A76E-00AA-5B22B7DF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00F96DE-A84A-FCF0-03B3-F7FED12F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70" y="127676"/>
            <a:ext cx="7772400" cy="39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72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9729261-77FB-A4E9-A50B-E0410F97F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23" y="75130"/>
            <a:ext cx="6416715" cy="51435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6C613C6-8FDF-8B2E-1580-281F010C8EFA}"/>
              </a:ext>
            </a:extLst>
          </p:cNvPr>
          <p:cNvSpPr txBox="1"/>
          <p:nvPr/>
        </p:nvSpPr>
        <p:spPr>
          <a:xfrm>
            <a:off x="441790" y="1232922"/>
            <a:ext cx="28151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OTUs : Unidades taxonómicas operativas</a:t>
            </a:r>
          </a:p>
          <a:p>
            <a:endParaRPr lang="es-MX" sz="2400" dirty="0"/>
          </a:p>
          <a:p>
            <a:r>
              <a:rPr lang="es-MX" sz="2400" dirty="0"/>
              <a:t>Agrupar secuencias muy similares entre sí.</a:t>
            </a:r>
          </a:p>
        </p:txBody>
      </p:sp>
    </p:spTree>
    <p:extLst>
      <p:ext uri="{BB962C8B-B14F-4D97-AF65-F5344CB8AC3E}">
        <p14:creationId xmlns:p14="http://schemas.microsoft.com/office/powerpoint/2010/main" val="258709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F5C0-111E-5621-3E65-134C2E7A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ED84E63-DF15-EAF0-A3FB-3C1E5F6D1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76" y="288615"/>
            <a:ext cx="7285434" cy="456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3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B1AA-B113-1C7A-EE1D-4CDBEA60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085EC98-279E-9A1B-BEF4-A4C6A73D295F}"/>
              </a:ext>
            </a:extLst>
          </p:cNvPr>
          <p:cNvSpPr txBox="1"/>
          <p:nvPr/>
        </p:nvSpPr>
        <p:spPr>
          <a:xfrm>
            <a:off x="488022" y="956191"/>
            <a:ext cx="621072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0" i="1" dirty="0">
                <a:solidFill>
                  <a:srgbClr val="222222"/>
                </a:solidFill>
                <a:effectLst/>
                <a:latin typeface="-apple-system"/>
              </a:rPr>
              <a:t>Cutibacterium</a:t>
            </a:r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 (15%) (</a:t>
            </a:r>
            <a:r>
              <a:rPr lang="es-MX" sz="2000" b="0" i="1" dirty="0">
                <a:solidFill>
                  <a:srgbClr val="222222"/>
                </a:solidFill>
                <a:effectLst/>
                <a:latin typeface="-apple-system"/>
              </a:rPr>
              <a:t>C. acnes</a:t>
            </a:r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 13%)</a:t>
            </a:r>
          </a:p>
          <a:p>
            <a:endParaRPr lang="es-MX" sz="2000" dirty="0">
              <a:solidFill>
                <a:srgbClr val="222222"/>
              </a:solidFill>
              <a:latin typeface="-apple-system"/>
            </a:endParaRPr>
          </a:p>
          <a:p>
            <a:r>
              <a:rPr lang="es-MX" sz="2000" b="0" i="1" dirty="0">
                <a:solidFill>
                  <a:srgbClr val="222222"/>
                </a:solidFill>
                <a:effectLst/>
                <a:latin typeface="-apple-system"/>
              </a:rPr>
              <a:t>Corynebacterium</a:t>
            </a:r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 (13%)</a:t>
            </a:r>
          </a:p>
          <a:p>
            <a:endParaRPr lang="es-MX" sz="2000" dirty="0">
              <a:solidFill>
                <a:srgbClr val="222222"/>
              </a:solidFill>
              <a:latin typeface="-apple-system"/>
            </a:endParaRPr>
          </a:p>
          <a:p>
            <a:r>
              <a:rPr lang="es-MX" sz="2000" b="0" i="1" dirty="0">
                <a:solidFill>
                  <a:srgbClr val="222222"/>
                </a:solidFill>
                <a:effectLst/>
                <a:latin typeface="-apple-system"/>
              </a:rPr>
              <a:t>Streptococcus</a:t>
            </a:r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 (9%) </a:t>
            </a:r>
          </a:p>
          <a:p>
            <a:endParaRPr lang="es-MX" sz="2000" dirty="0">
              <a:solidFill>
                <a:srgbClr val="222222"/>
              </a:solidFill>
              <a:latin typeface="-apple-system"/>
            </a:endParaRPr>
          </a:p>
          <a:p>
            <a:r>
              <a:rPr lang="es-MX" sz="2000" b="0" i="1" dirty="0">
                <a:solidFill>
                  <a:srgbClr val="222222"/>
                </a:solidFill>
                <a:effectLst/>
                <a:latin typeface="-apple-system"/>
              </a:rPr>
              <a:t>Staphylococcus</a:t>
            </a:r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 (5%) </a:t>
            </a:r>
          </a:p>
          <a:p>
            <a:endParaRPr lang="es-MX" sz="2000" dirty="0">
              <a:solidFill>
                <a:srgbClr val="222222"/>
              </a:solidFill>
              <a:latin typeface="-apple-system"/>
            </a:endParaRPr>
          </a:p>
          <a:p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(</a:t>
            </a:r>
            <a:r>
              <a:rPr lang="es-MX" sz="2000" b="0" i="1" dirty="0">
                <a:solidFill>
                  <a:srgbClr val="222222"/>
                </a:solidFill>
                <a:effectLst/>
                <a:latin typeface="-apple-system"/>
              </a:rPr>
              <a:t>S. epidermidis;</a:t>
            </a:r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 4%),</a:t>
            </a:r>
          </a:p>
          <a:p>
            <a:endParaRPr lang="es-MX" sz="2000" dirty="0">
              <a:solidFill>
                <a:srgbClr val="222222"/>
              </a:solidFill>
              <a:latin typeface="-apple-system"/>
            </a:endParaRPr>
          </a:p>
          <a:p>
            <a:r>
              <a:rPr lang="es-MX" sz="2000" b="0" i="0" dirty="0">
                <a:solidFill>
                  <a:srgbClr val="222222"/>
                </a:solidFill>
                <a:effectLst/>
                <a:latin typeface="-apple-system"/>
              </a:rPr>
              <a:t>Microbioma de la piel </a:t>
            </a:r>
            <a:endParaRPr lang="es-MX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60A5DF-4560-0A85-C74D-5A86F4DE258E}"/>
              </a:ext>
            </a:extLst>
          </p:cNvPr>
          <p:cNvSpPr txBox="1"/>
          <p:nvPr/>
        </p:nvSpPr>
        <p:spPr>
          <a:xfrm>
            <a:off x="3780890" y="164387"/>
            <a:ext cx="2084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Resultados </a:t>
            </a:r>
          </a:p>
        </p:txBody>
      </p:sp>
      <p:pic>
        <p:nvPicPr>
          <p:cNvPr id="6" name="Imagen 5" descr="Qué es el microbioma de la piel">
            <a:extLst>
              <a:ext uri="{FF2B5EF4-FFF2-40B4-BE49-F238E27FC236}">
                <a16:creationId xmlns:a16="http://schemas.microsoft.com/office/drawing/2014/main" id="{E1986C6E-11AF-ABAD-011F-330F3B699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477" y="1551398"/>
            <a:ext cx="2757327" cy="275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23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F9025-CDAC-2C1F-D0D8-CFC4D2C2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Preguntas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CAC633-C6B4-7710-0B87-344582A7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s-MX" sz="2400" dirty="0"/>
              <a:t>¿Cómo varía la composición y diversidad de las comunidades bacterianas entre distintos hábitats, y qué nos indican estas diferencias sobre el estado y funcionamiento de dichos sistemas?</a:t>
            </a:r>
          </a:p>
          <a:p>
            <a:pPr marL="139700" indent="0">
              <a:buNone/>
            </a:pPr>
            <a:endParaRPr lang="es-MX" sz="2400" dirty="0"/>
          </a:p>
          <a:p>
            <a:pPr marL="139700" indent="0">
              <a:buNone/>
            </a:pPr>
            <a:r>
              <a:rPr lang="es-MX" sz="2400" dirty="0"/>
              <a:t>¿En qué medida el uso de herramientas de metabarcoding basadas en el gen </a:t>
            </a:r>
            <a:r>
              <a:rPr lang="es-MX" sz="2400" i="1" dirty="0"/>
              <a:t>16S rRNA</a:t>
            </a:r>
            <a:r>
              <a:rPr lang="es-MX" sz="2400" dirty="0"/>
              <a:t> permite caracterizar y comparar de manera confiable estas comunidades microbianas?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4236318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61;p21">
            <a:extLst>
              <a:ext uri="{FF2B5EF4-FFF2-40B4-BE49-F238E27FC236}">
                <a16:creationId xmlns:a16="http://schemas.microsoft.com/office/drawing/2014/main" id="{ABD7288B-78D0-5BBE-CACD-BE0333D651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313" b="-2"/>
          <a:stretch/>
        </p:blipFill>
        <p:spPr>
          <a:xfrm>
            <a:off x="20" y="0"/>
            <a:ext cx="9143980" cy="51425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62;p21">
            <a:extLst>
              <a:ext uri="{FF2B5EF4-FFF2-40B4-BE49-F238E27FC236}">
                <a16:creationId xmlns:a16="http://schemas.microsoft.com/office/drawing/2014/main" id="{9224AAA1-4771-971D-6E23-3A3AA0A3F1E9}"/>
              </a:ext>
            </a:extLst>
          </p:cNvPr>
          <p:cNvSpPr txBox="1"/>
          <p:nvPr/>
        </p:nvSpPr>
        <p:spPr>
          <a:xfrm>
            <a:off x="1099841" y="3377859"/>
            <a:ext cx="6944318" cy="87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¡Gracias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32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63;p21">
            <a:extLst>
              <a:ext uri="{FF2B5EF4-FFF2-40B4-BE49-F238E27FC236}">
                <a16:creationId xmlns:a16="http://schemas.microsoft.com/office/drawing/2014/main" id="{38FD181D-B40C-BF19-61EA-6762140CAB87}"/>
              </a:ext>
            </a:extLst>
          </p:cNvPr>
          <p:cNvSpPr txBox="1"/>
          <p:nvPr/>
        </p:nvSpPr>
        <p:spPr>
          <a:xfrm>
            <a:off x="1099841" y="3922410"/>
            <a:ext cx="6944318" cy="87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Tania.garrido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@iztacala.unam.mx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783</Words>
  <Application>Microsoft Macintosh PowerPoint</Application>
  <PresentationFormat>Presentación en pantalla (16:9)</PresentationFormat>
  <Paragraphs>127</Paragraphs>
  <Slides>29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-apple-system</vt:lpstr>
      <vt:lpstr>Arial</vt:lpstr>
      <vt:lpstr>Calibri</vt:lpstr>
      <vt:lpstr>Google Sans</vt:lpstr>
      <vt:lpstr>Wingdings</vt:lpstr>
      <vt:lpstr>Simple Light</vt:lpstr>
      <vt:lpstr>Tema de Office</vt:lpstr>
      <vt:lpstr> Bacterias en comunidad: composición y estructura a través de diferentes tipos de hábitats </vt:lpstr>
      <vt:lpstr>Comunidad </vt:lpstr>
      <vt:lpstr>Presentación de PowerPoint</vt:lpstr>
      <vt:lpstr>Presentación de PowerPoint</vt:lpstr>
      <vt:lpstr>Presentación de PowerPoint</vt:lpstr>
      <vt:lpstr>Biodiversidad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Estructura horizontal de una comunidad </vt:lpstr>
      <vt:lpstr>Presentación de PowerPoint</vt:lpstr>
      <vt:lpstr>Índices de Simpson y Shannon</vt:lpstr>
      <vt:lpstr>Índices de Shannon</vt:lpstr>
      <vt:lpstr>Índices de Simpson</vt:lpstr>
      <vt:lpstr>Índices de Simpson</vt:lpstr>
      <vt:lpstr>¿Cómo contar a las especies? Métodos directos </vt:lpstr>
      <vt:lpstr>Método indirecto: eDNA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TANIA GARRIDO GARDUÑO</cp:lastModifiedBy>
  <cp:revision>29</cp:revision>
  <dcterms:modified xsi:type="dcterms:W3CDTF">2026-05-04T15:11:17Z</dcterms:modified>
</cp:coreProperties>
</file>