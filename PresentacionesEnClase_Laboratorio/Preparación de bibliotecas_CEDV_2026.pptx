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23"/>
  </p:notesMasterIdLst>
  <p:sldIdLst>
    <p:sldId id="256" r:id="rId3"/>
    <p:sldId id="257" r:id="rId4"/>
    <p:sldId id="273" r:id="rId5"/>
    <p:sldId id="258" r:id="rId6"/>
    <p:sldId id="265" r:id="rId7"/>
    <p:sldId id="275" r:id="rId8"/>
    <p:sldId id="259" r:id="rId9"/>
    <p:sldId id="261" r:id="rId10"/>
    <p:sldId id="264" r:id="rId11"/>
    <p:sldId id="267" r:id="rId12"/>
    <p:sldId id="270" r:id="rId13"/>
    <p:sldId id="266" r:id="rId14"/>
    <p:sldId id="268" r:id="rId15"/>
    <p:sldId id="269" r:id="rId16"/>
    <p:sldId id="262" r:id="rId17"/>
    <p:sldId id="263" r:id="rId18"/>
    <p:sldId id="260" r:id="rId19"/>
    <p:sldId id="271" r:id="rId20"/>
    <p:sldId id="272" r:id="rId21"/>
    <p:sldId id="274" r:id="rId2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1d8980c183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21d8980c183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d8980c18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g21d8980c18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1d8980c183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g21d8980c183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1d8980c183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1d8980c183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1d8980c183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g21d8980c183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0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900">
                <a:solidFill>
                  <a:srgbClr val="898989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grpSp>
        <p:nvGrpSpPr>
          <p:cNvPr id="9" name="Google Shape;9;p1"/>
          <p:cNvGrpSpPr/>
          <p:nvPr/>
        </p:nvGrpSpPr>
        <p:grpSpPr>
          <a:xfrm>
            <a:off x="156841" y="4197848"/>
            <a:ext cx="8864706" cy="952797"/>
            <a:chOff x="209121" y="5597130"/>
            <a:chExt cx="11819608" cy="1270396"/>
          </a:xfrm>
        </p:grpSpPr>
        <p:pic>
          <p:nvPicPr>
            <p:cNvPr id="10" name="Google Shape;10;p1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10609392" y="5597130"/>
              <a:ext cx="1419336" cy="12703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1"/>
            <p:cNvPicPr preferRelativeResize="0"/>
            <p:nvPr/>
          </p:nvPicPr>
          <p:blipFill rotWithShape="1">
            <a:blip r:embed="rId14">
              <a:alphaModFix/>
            </a:blip>
            <a:srcRect l="8000" t="18013" r="7160" b="19175"/>
            <a:stretch/>
          </p:blipFill>
          <p:spPr>
            <a:xfrm>
              <a:off x="209121" y="5820720"/>
              <a:ext cx="3194157" cy="8723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1"/>
            <p:cNvPicPr preferRelativeResize="0"/>
            <p:nvPr/>
          </p:nvPicPr>
          <p:blipFill rotWithShape="1">
            <a:blip r:embed="rId15">
              <a:alphaModFix/>
            </a:blip>
            <a:srcRect l="8825" t="41592" r="60425"/>
            <a:stretch/>
          </p:blipFill>
          <p:spPr>
            <a:xfrm>
              <a:off x="5851890" y="5668273"/>
              <a:ext cx="1291424" cy="109211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5"/>
          <p:cNvPicPr preferRelativeResize="0"/>
          <p:nvPr/>
        </p:nvPicPr>
        <p:blipFill rotWithShape="1">
          <a:blip r:embed="rId3">
            <a:alphaModFix amt="16000"/>
          </a:blip>
          <a:srcRect l="32990" t="7113" r="22075" b="15144"/>
          <a:stretch/>
        </p:blipFill>
        <p:spPr>
          <a:xfrm rot="-5400000">
            <a:off x="1960959" y="-2039540"/>
            <a:ext cx="5179219" cy="92154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25"/>
          <p:cNvGrpSpPr/>
          <p:nvPr/>
        </p:nvGrpSpPr>
        <p:grpSpPr>
          <a:xfrm>
            <a:off x="100013" y="-114300"/>
            <a:ext cx="8796170" cy="1785937"/>
            <a:chOff x="100013" y="-114300"/>
            <a:chExt cx="8796170" cy="1785937"/>
          </a:xfrm>
        </p:grpSpPr>
        <p:pic>
          <p:nvPicPr>
            <p:cNvPr id="135" name="Google Shape;135;p2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900862" y="-114300"/>
              <a:ext cx="1995320" cy="17859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25"/>
            <p:cNvPicPr preferRelativeResize="0"/>
            <p:nvPr/>
          </p:nvPicPr>
          <p:blipFill rotWithShape="1">
            <a:blip r:embed="rId5">
              <a:alphaModFix/>
            </a:blip>
            <a:srcRect l="8000" t="18013" r="7160" b="19175"/>
            <a:stretch/>
          </p:blipFill>
          <p:spPr>
            <a:xfrm>
              <a:off x="100013" y="200025"/>
              <a:ext cx="4490382" cy="12262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7" name="Google Shape;137;p25"/>
            <p:cNvPicPr preferRelativeResize="0"/>
            <p:nvPr/>
          </p:nvPicPr>
          <p:blipFill rotWithShape="1">
            <a:blip r:embed="rId6">
              <a:alphaModFix/>
            </a:blip>
            <a:srcRect l="8825" t="41592" r="60425"/>
            <a:stretch/>
          </p:blipFill>
          <p:spPr>
            <a:xfrm>
              <a:off x="4818994" y="-14287"/>
              <a:ext cx="1815497" cy="1535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" name="Google Shape;138;p25"/>
          <p:cNvSpPr txBox="1">
            <a:spLocks noGrp="1"/>
          </p:cNvSpPr>
          <p:nvPr>
            <p:ph type="ctrTitle"/>
          </p:nvPr>
        </p:nvSpPr>
        <p:spPr>
          <a:xfrm>
            <a:off x="98813" y="2414100"/>
            <a:ext cx="89466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endParaRPr sz="2400" b="1" dirty="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" sz="2400" b="1" i="1" dirty="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“Preparación de bibliotecas por el método de amplificación del gen 16s RNA ribosomal”</a:t>
            </a:r>
            <a:endParaRPr i="1" dirty="0">
              <a:solidFill>
                <a:srgbClr val="1C4587"/>
              </a:solidFill>
            </a:endParaRPr>
          </a:p>
        </p:txBody>
      </p:sp>
      <p:sp>
        <p:nvSpPr>
          <p:cNvPr id="139" name="Google Shape;139;p25"/>
          <p:cNvSpPr txBox="1">
            <a:spLocks noGrp="1"/>
          </p:cNvSpPr>
          <p:nvPr>
            <p:ph type="subTitle" idx="1"/>
          </p:nvPr>
        </p:nvSpPr>
        <p:spPr>
          <a:xfrm>
            <a:off x="5567657" y="4251102"/>
            <a:ext cx="3780300" cy="10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" sz="1500" b="1" dirty="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Dra. Clara Estela Díaz Velásquez</a:t>
            </a:r>
            <a:endParaRPr sz="1500" b="1" dirty="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" sz="1500" b="1" dirty="0">
                <a:solidFill>
                  <a:srgbClr val="1C4587"/>
                </a:solidFill>
                <a:latin typeface="Arial"/>
                <a:cs typeface="Arial"/>
                <a:sym typeface="Arial"/>
              </a:rPr>
              <a:t>Mayo del 2026</a:t>
            </a:r>
            <a:endParaRPr sz="1500" dirty="0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agrama de flujo: proceso alternativo 10">
            <a:extLst>
              <a:ext uri="{FF2B5EF4-FFF2-40B4-BE49-F238E27FC236}">
                <a16:creationId xmlns:a16="http://schemas.microsoft.com/office/drawing/2014/main" id="{3B61C28F-BC84-0B11-B4BF-FBCA43E72045}"/>
              </a:ext>
            </a:extLst>
          </p:cNvPr>
          <p:cNvSpPr/>
          <p:nvPr/>
        </p:nvSpPr>
        <p:spPr>
          <a:xfrm>
            <a:off x="459775" y="649302"/>
            <a:ext cx="3530390" cy="555462"/>
          </a:xfrm>
          <a:prstGeom prst="flowChartAlternate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Fragmentación del DNA</a:t>
            </a:r>
          </a:p>
        </p:txBody>
      </p:sp>
      <p:sp>
        <p:nvSpPr>
          <p:cNvPr id="12" name="Diagrama de flujo: proceso alternativo 11">
            <a:extLst>
              <a:ext uri="{FF2B5EF4-FFF2-40B4-BE49-F238E27FC236}">
                <a16:creationId xmlns:a16="http://schemas.microsoft.com/office/drawing/2014/main" id="{B0C67967-F5E9-0235-7762-A8BB938C1098}"/>
              </a:ext>
            </a:extLst>
          </p:cNvPr>
          <p:cNvSpPr/>
          <p:nvPr/>
        </p:nvSpPr>
        <p:spPr>
          <a:xfrm>
            <a:off x="459775" y="1486049"/>
            <a:ext cx="3530390" cy="710993"/>
          </a:xfrm>
          <a:prstGeom prst="flowChartAlternate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Adición de adaptadores universales</a:t>
            </a:r>
          </a:p>
        </p:txBody>
      </p:sp>
      <p:sp>
        <p:nvSpPr>
          <p:cNvPr id="13" name="Diagrama de flujo: proceso alternativo 12">
            <a:extLst>
              <a:ext uri="{FF2B5EF4-FFF2-40B4-BE49-F238E27FC236}">
                <a16:creationId xmlns:a16="http://schemas.microsoft.com/office/drawing/2014/main" id="{544E2231-C84B-84D6-0BF2-7FB75AC6F1D3}"/>
              </a:ext>
            </a:extLst>
          </p:cNvPr>
          <p:cNvSpPr/>
          <p:nvPr/>
        </p:nvSpPr>
        <p:spPr>
          <a:xfrm>
            <a:off x="459775" y="2473782"/>
            <a:ext cx="3530390" cy="733212"/>
          </a:xfrm>
          <a:prstGeom prst="flowChartAlternate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Adición de índices moleculares o índices</a:t>
            </a:r>
          </a:p>
        </p:txBody>
      </p:sp>
      <p:sp>
        <p:nvSpPr>
          <p:cNvPr id="14" name="Diagrama de flujo: proceso alternativo 13">
            <a:extLst>
              <a:ext uri="{FF2B5EF4-FFF2-40B4-BE49-F238E27FC236}">
                <a16:creationId xmlns:a16="http://schemas.microsoft.com/office/drawing/2014/main" id="{8911A81A-CECC-E7BD-DACB-601B2AD5868C}"/>
              </a:ext>
            </a:extLst>
          </p:cNvPr>
          <p:cNvSpPr/>
          <p:nvPr/>
        </p:nvSpPr>
        <p:spPr>
          <a:xfrm>
            <a:off x="4729293" y="649302"/>
            <a:ext cx="3668177" cy="555462"/>
          </a:xfrm>
          <a:prstGeom prst="flowChartAlternateProcess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Puede ser por métodos enzimáticos, mecánicos o químicos.</a:t>
            </a:r>
          </a:p>
        </p:txBody>
      </p:sp>
      <p:sp>
        <p:nvSpPr>
          <p:cNvPr id="15" name="Diagrama de flujo: proceso alternativo 14">
            <a:extLst>
              <a:ext uri="{FF2B5EF4-FFF2-40B4-BE49-F238E27FC236}">
                <a16:creationId xmlns:a16="http://schemas.microsoft.com/office/drawing/2014/main" id="{39A3F793-698E-C35B-6F40-AFDE58801930}"/>
              </a:ext>
            </a:extLst>
          </p:cNvPr>
          <p:cNvSpPr/>
          <p:nvPr/>
        </p:nvSpPr>
        <p:spPr>
          <a:xfrm>
            <a:off x="4729293" y="1486049"/>
            <a:ext cx="3129334" cy="699197"/>
          </a:xfrm>
          <a:prstGeom prst="flowChartAlternateProcess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Se unen 2 adaptadores universales.</a:t>
            </a:r>
          </a:p>
        </p:txBody>
      </p:sp>
      <p:sp>
        <p:nvSpPr>
          <p:cNvPr id="16" name="Diagrama de flujo: proceso alternativo 15">
            <a:extLst>
              <a:ext uri="{FF2B5EF4-FFF2-40B4-BE49-F238E27FC236}">
                <a16:creationId xmlns:a16="http://schemas.microsoft.com/office/drawing/2014/main" id="{036E08A2-D4C6-E662-9096-728C74D1819F}"/>
              </a:ext>
            </a:extLst>
          </p:cNvPr>
          <p:cNvSpPr/>
          <p:nvPr/>
        </p:nvSpPr>
        <p:spPr>
          <a:xfrm>
            <a:off x="4729293" y="2400699"/>
            <a:ext cx="3530390" cy="879378"/>
          </a:xfrm>
          <a:prstGeom prst="flowChartAlternateProcess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Secuencias de 8 nucleótidos para identificar las muestras.</a:t>
            </a:r>
          </a:p>
        </p:txBody>
      </p:sp>
      <p:sp>
        <p:nvSpPr>
          <p:cNvPr id="17" name="Diagrama de flujo: proceso alternativo 16">
            <a:extLst>
              <a:ext uri="{FF2B5EF4-FFF2-40B4-BE49-F238E27FC236}">
                <a16:creationId xmlns:a16="http://schemas.microsoft.com/office/drawing/2014/main" id="{79B1915D-6644-FB14-8BDA-E96BC3DBD605}"/>
              </a:ext>
            </a:extLst>
          </p:cNvPr>
          <p:cNvSpPr/>
          <p:nvPr/>
        </p:nvSpPr>
        <p:spPr>
          <a:xfrm>
            <a:off x="449034" y="3475442"/>
            <a:ext cx="3530390" cy="733212"/>
          </a:xfrm>
          <a:prstGeom prst="flowChartAlternate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Enriquecimiento</a:t>
            </a:r>
          </a:p>
        </p:txBody>
      </p:sp>
      <p:sp>
        <p:nvSpPr>
          <p:cNvPr id="18" name="Diagrama de flujo: proceso alternativo 17">
            <a:extLst>
              <a:ext uri="{FF2B5EF4-FFF2-40B4-BE49-F238E27FC236}">
                <a16:creationId xmlns:a16="http://schemas.microsoft.com/office/drawing/2014/main" id="{C5BAEE22-BDF8-D16A-C8A1-125FF5B92A65}"/>
              </a:ext>
            </a:extLst>
          </p:cNvPr>
          <p:cNvSpPr/>
          <p:nvPr/>
        </p:nvSpPr>
        <p:spPr>
          <a:xfrm>
            <a:off x="4729293" y="3492195"/>
            <a:ext cx="4085974" cy="733212"/>
          </a:xfrm>
          <a:prstGeom prst="flowChartAlternateProcess">
            <a:avLst/>
          </a:prstGeom>
          <a:solidFill>
            <a:srgbClr val="74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Amplicones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, captura de híbridos.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D760609-878B-3129-09AE-64618D2EA62C}"/>
              </a:ext>
            </a:extLst>
          </p:cNvPr>
          <p:cNvSpPr txBox="1"/>
          <p:nvPr/>
        </p:nvSpPr>
        <p:spPr>
          <a:xfrm>
            <a:off x="400050" y="114299"/>
            <a:ext cx="7160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dirty="0">
                <a:latin typeface="Arial" panose="020B0604020202020204" pitchFamily="34" charset="0"/>
                <a:cs typeface="Arial" panose="020B0604020202020204" pitchFamily="34" charset="0"/>
              </a:rPr>
              <a:t>PREPARACIÓN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 DE BIBLIOTECAS PARA SECUENCIACIÓN MASIVA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A5387-5D8F-769A-ECDE-4818BFCA9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906"/>
            <a:ext cx="4572000" cy="527265"/>
          </a:xfrm>
        </p:spPr>
        <p:txBody>
          <a:bodyPr>
            <a:normAutofit/>
          </a:bodyPr>
          <a:lstStyle/>
          <a:p>
            <a:pPr algn="l"/>
            <a:r>
              <a:rPr lang="es-MX" sz="1800" b="1" dirty="0"/>
              <a:t>Métodos de enriquecimiento</a:t>
            </a:r>
            <a:endParaRPr lang="en-US" sz="1800" b="1" dirty="0"/>
          </a:p>
        </p:txBody>
      </p:sp>
      <p:pic>
        <p:nvPicPr>
          <p:cNvPr id="4104" name="Picture 8" descr="Resultado de imagen para reaccion en cadena de la polimerasa imagenes">
            <a:extLst>
              <a:ext uri="{FF2B5EF4-FFF2-40B4-BE49-F238E27FC236}">
                <a16:creationId xmlns:a16="http://schemas.microsoft.com/office/drawing/2014/main" id="{A96B8598-A3D4-60C2-6CF7-1CD70DF92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647" y="757075"/>
            <a:ext cx="3785054" cy="362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5D118E0B-729B-39BB-22FF-0DC6D8642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189" y="1439635"/>
            <a:ext cx="2986768" cy="2834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745A1DE-D81D-F121-E80F-1EBECBF6E546}"/>
              </a:ext>
            </a:extLst>
          </p:cNvPr>
          <p:cNvSpPr txBox="1"/>
          <p:nvPr/>
        </p:nvSpPr>
        <p:spPr>
          <a:xfrm>
            <a:off x="1420585" y="489342"/>
            <a:ext cx="1216479" cy="30777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 err="1"/>
              <a:t>Amplicones</a:t>
            </a:r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DAE190D-7C01-E8F7-E453-892CABE5D6C9}"/>
              </a:ext>
            </a:extLst>
          </p:cNvPr>
          <p:cNvSpPr txBox="1"/>
          <p:nvPr/>
        </p:nvSpPr>
        <p:spPr>
          <a:xfrm>
            <a:off x="5549675" y="489342"/>
            <a:ext cx="1914526" cy="30777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Captura de Híbridos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23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B889A5F-CD51-8389-542C-C2424C685622}"/>
              </a:ext>
            </a:extLst>
          </p:cNvPr>
          <p:cNvPicPr/>
          <p:nvPr/>
        </p:nvPicPr>
        <p:blipFill rotWithShape="1">
          <a:blip r:embed="rId3"/>
          <a:srcRect l="20488" t="36891" r="21960" b="33875"/>
          <a:stretch/>
        </p:blipFill>
        <p:spPr bwMode="auto">
          <a:xfrm>
            <a:off x="1333856" y="922565"/>
            <a:ext cx="6476287" cy="310305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665F84D-F979-C90B-106F-FAA2C932BE7B}"/>
              </a:ext>
            </a:extLst>
          </p:cNvPr>
          <p:cNvSpPr txBox="1"/>
          <p:nvPr/>
        </p:nvSpPr>
        <p:spPr>
          <a:xfrm>
            <a:off x="195943" y="228599"/>
            <a:ext cx="6392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800" b="1" dirty="0"/>
              <a:t>Objetivo:  Preparar una biblioteca de secuenciación </a:t>
            </a:r>
            <a:endParaRPr lang="en-US" sz="1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B71913-0C9E-555C-9614-0B037FD46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29" y="91300"/>
            <a:ext cx="8520600" cy="572700"/>
          </a:xfrm>
        </p:spPr>
        <p:txBody>
          <a:bodyPr>
            <a:normAutofit/>
          </a:bodyPr>
          <a:lstStyle/>
          <a:p>
            <a:r>
              <a:rPr lang="es-MX" sz="1800" b="1" dirty="0"/>
              <a:t>Evaluación de la integridad del </a:t>
            </a:r>
            <a:r>
              <a:rPr lang="es-MX" sz="1800" b="1" dirty="0" err="1"/>
              <a:t>ADNg</a:t>
            </a:r>
            <a:r>
              <a:rPr lang="es-MX" sz="1800" b="1" dirty="0"/>
              <a:t> </a:t>
            </a:r>
            <a:endParaRPr lang="en-US" sz="1800" b="1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1078D166-58FF-EC6D-3B48-7912D7A39EBE}"/>
              </a:ext>
            </a:extLst>
          </p:cNvPr>
          <p:cNvGrpSpPr/>
          <p:nvPr/>
        </p:nvGrpSpPr>
        <p:grpSpPr>
          <a:xfrm>
            <a:off x="931631" y="664000"/>
            <a:ext cx="5955208" cy="3553271"/>
            <a:chOff x="1282696" y="664000"/>
            <a:chExt cx="5955208" cy="3553271"/>
          </a:xfrm>
        </p:grpSpPr>
        <p:pic>
          <p:nvPicPr>
            <p:cNvPr id="4" name="Google Shape;129;p25">
              <a:extLst>
                <a:ext uri="{FF2B5EF4-FFF2-40B4-BE49-F238E27FC236}">
                  <a16:creationId xmlns:a16="http://schemas.microsoft.com/office/drawing/2014/main" id="{1DFF23CF-1C68-3B99-A6FD-A8BED6F54616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rcRect r="15113"/>
            <a:stretch/>
          </p:blipFill>
          <p:spPr>
            <a:xfrm>
              <a:off x="2277638" y="950350"/>
              <a:ext cx="4930733" cy="326692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8E9245E5-4F1C-4FD9-07DD-B96345C19441}"/>
                </a:ext>
              </a:extLst>
            </p:cNvPr>
            <p:cNvSpPr/>
            <p:nvPr/>
          </p:nvSpPr>
          <p:spPr>
            <a:xfrm>
              <a:off x="3348601" y="673680"/>
              <a:ext cx="463380" cy="286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s-ES" dirty="0"/>
                <a:t>2</a:t>
              </a:r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62B0F2AD-F572-1AAF-3C82-63DB44C9105D}"/>
                </a:ext>
              </a:extLst>
            </p:cNvPr>
            <p:cNvSpPr/>
            <p:nvPr/>
          </p:nvSpPr>
          <p:spPr>
            <a:xfrm>
              <a:off x="4114297" y="665918"/>
              <a:ext cx="463380" cy="286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s-ES" dirty="0"/>
                <a:t>4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95F85B11-75D3-F50C-966D-6D59D6277A2E}"/>
                </a:ext>
              </a:extLst>
            </p:cNvPr>
            <p:cNvSpPr/>
            <p:nvPr/>
          </p:nvSpPr>
          <p:spPr>
            <a:xfrm>
              <a:off x="4465255" y="668597"/>
              <a:ext cx="463380" cy="286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s-ES" dirty="0"/>
                <a:t>5</a:t>
              </a:r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464DD7AF-F70B-1C06-DACD-AF8D4D6DD3B1}"/>
                </a:ext>
              </a:extLst>
            </p:cNvPr>
            <p:cNvSpPr/>
            <p:nvPr/>
          </p:nvSpPr>
          <p:spPr>
            <a:xfrm>
              <a:off x="4870134" y="664000"/>
              <a:ext cx="463380" cy="286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s-ES" dirty="0"/>
                <a:t>6</a:t>
              </a: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44944E4C-5E6E-1183-A82E-C20121D8484E}"/>
                </a:ext>
              </a:extLst>
            </p:cNvPr>
            <p:cNvSpPr/>
            <p:nvPr/>
          </p:nvSpPr>
          <p:spPr>
            <a:xfrm>
              <a:off x="5242494" y="665918"/>
              <a:ext cx="463380" cy="286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s-ES" dirty="0"/>
                <a:t>7</a:t>
              </a: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74C5FE92-DECA-B9E8-8418-3022B400B687}"/>
                </a:ext>
              </a:extLst>
            </p:cNvPr>
            <p:cNvSpPr/>
            <p:nvPr/>
          </p:nvSpPr>
          <p:spPr>
            <a:xfrm>
              <a:off x="5625971" y="664000"/>
              <a:ext cx="463380" cy="286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s-ES" dirty="0"/>
                <a:t>8</a:t>
              </a:r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2A93A7FB-550C-6A95-E895-DA3D7D33E9E0}"/>
                </a:ext>
              </a:extLst>
            </p:cNvPr>
            <p:cNvSpPr/>
            <p:nvPr/>
          </p:nvSpPr>
          <p:spPr>
            <a:xfrm>
              <a:off x="6019733" y="664000"/>
              <a:ext cx="463380" cy="286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s-ES" dirty="0"/>
                <a:t>9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0C7052AB-DF15-B308-3D44-01BA71798029}"/>
                </a:ext>
              </a:extLst>
            </p:cNvPr>
            <p:cNvSpPr/>
            <p:nvPr/>
          </p:nvSpPr>
          <p:spPr>
            <a:xfrm>
              <a:off x="6381171" y="664000"/>
              <a:ext cx="463380" cy="286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s-ES" dirty="0"/>
                <a:t>10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2FB4A586-07A5-3AA7-6A61-8421025CCCB5}"/>
                </a:ext>
              </a:extLst>
            </p:cNvPr>
            <p:cNvSpPr/>
            <p:nvPr/>
          </p:nvSpPr>
          <p:spPr>
            <a:xfrm>
              <a:off x="3697474" y="668773"/>
              <a:ext cx="463380" cy="286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s-ES" dirty="0"/>
                <a:t>3</a:t>
              </a: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D5C47C36-2C77-6DB6-6C33-A1CC709FB5F1}"/>
                </a:ext>
              </a:extLst>
            </p:cNvPr>
            <p:cNvSpPr/>
            <p:nvPr/>
          </p:nvSpPr>
          <p:spPr>
            <a:xfrm>
              <a:off x="6774524" y="671139"/>
              <a:ext cx="463380" cy="286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s-ES" dirty="0"/>
                <a:t>11</a:t>
              </a:r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663590ED-3743-2204-9D82-189D330AA9A2}"/>
                </a:ext>
              </a:extLst>
            </p:cNvPr>
            <p:cNvSpPr/>
            <p:nvPr/>
          </p:nvSpPr>
          <p:spPr>
            <a:xfrm>
              <a:off x="2824597" y="671139"/>
              <a:ext cx="675996" cy="286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s-ES" dirty="0"/>
                <a:t>MPM</a:t>
              </a:r>
            </a:p>
          </p:txBody>
        </p:sp>
        <p:cxnSp>
          <p:nvCxnSpPr>
            <p:cNvPr id="17" name="Conector recto de flecha 16">
              <a:extLst>
                <a:ext uri="{FF2B5EF4-FFF2-40B4-BE49-F238E27FC236}">
                  <a16:creationId xmlns:a16="http://schemas.microsoft.com/office/drawing/2014/main" id="{0F1D13AF-CC73-3013-668F-F2D873BC5E21}"/>
                </a:ext>
              </a:extLst>
            </p:cNvPr>
            <p:cNvCxnSpPr/>
            <p:nvPr/>
          </p:nvCxnSpPr>
          <p:spPr>
            <a:xfrm>
              <a:off x="1958693" y="3022088"/>
              <a:ext cx="31894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84E58210-3714-386D-7ABC-91F649604D97}"/>
                </a:ext>
              </a:extLst>
            </p:cNvPr>
            <p:cNvCxnSpPr>
              <a:cxnSpLocks/>
            </p:cNvCxnSpPr>
            <p:nvPr/>
          </p:nvCxnSpPr>
          <p:spPr>
            <a:xfrm>
              <a:off x="1958692" y="2305808"/>
              <a:ext cx="31894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C19DBB82-6457-3083-19C5-634277DE29CE}"/>
                </a:ext>
              </a:extLst>
            </p:cNvPr>
            <p:cNvCxnSpPr>
              <a:cxnSpLocks/>
            </p:cNvCxnSpPr>
            <p:nvPr/>
          </p:nvCxnSpPr>
          <p:spPr>
            <a:xfrm>
              <a:off x="1958691" y="1886708"/>
              <a:ext cx="31894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de flecha 19">
              <a:extLst>
                <a:ext uri="{FF2B5EF4-FFF2-40B4-BE49-F238E27FC236}">
                  <a16:creationId xmlns:a16="http://schemas.microsoft.com/office/drawing/2014/main" id="{D6CDD092-8AFD-DA9A-9BE5-485EF3E16267}"/>
                </a:ext>
              </a:extLst>
            </p:cNvPr>
            <p:cNvCxnSpPr>
              <a:cxnSpLocks/>
            </p:cNvCxnSpPr>
            <p:nvPr/>
          </p:nvCxnSpPr>
          <p:spPr>
            <a:xfrm>
              <a:off x="1958690" y="1661918"/>
              <a:ext cx="31894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77D50F3B-89FC-E136-6C66-469C099C0711}"/>
                </a:ext>
              </a:extLst>
            </p:cNvPr>
            <p:cNvSpPr/>
            <p:nvPr/>
          </p:nvSpPr>
          <p:spPr>
            <a:xfrm>
              <a:off x="1282696" y="2874202"/>
              <a:ext cx="675996" cy="286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r"/>
              <a:r>
                <a:rPr lang="es-ES" sz="1100" dirty="0"/>
                <a:t>100</a:t>
              </a:r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261E818B-A7A0-B421-19FE-2C915EE0A740}"/>
                </a:ext>
              </a:extLst>
            </p:cNvPr>
            <p:cNvSpPr/>
            <p:nvPr/>
          </p:nvSpPr>
          <p:spPr>
            <a:xfrm>
              <a:off x="1286502" y="2160481"/>
              <a:ext cx="675996" cy="286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r"/>
              <a:r>
                <a:rPr lang="es-ES" sz="1100" dirty="0"/>
                <a:t>1000</a:t>
              </a:r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5180A412-972C-2C13-D266-FEBF1567F0BD}"/>
                </a:ext>
              </a:extLst>
            </p:cNvPr>
            <p:cNvSpPr/>
            <p:nvPr/>
          </p:nvSpPr>
          <p:spPr>
            <a:xfrm>
              <a:off x="1282696" y="1740601"/>
              <a:ext cx="675996" cy="286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r"/>
              <a:r>
                <a:rPr lang="es-ES" sz="1100" dirty="0"/>
                <a:t>3000</a:t>
              </a:r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24EC1C24-5903-8D96-709B-EA2C4DBA7397}"/>
                </a:ext>
              </a:extLst>
            </p:cNvPr>
            <p:cNvSpPr/>
            <p:nvPr/>
          </p:nvSpPr>
          <p:spPr>
            <a:xfrm>
              <a:off x="1287046" y="1512410"/>
              <a:ext cx="675996" cy="2863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chemeClr val="dk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r"/>
              <a:r>
                <a:rPr lang="es-ES" sz="1100" dirty="0"/>
                <a:t>10000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1910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612996-4634-DA6E-F5A8-888965842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1471" y="307852"/>
            <a:ext cx="3492857" cy="572700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Muestras del curso</a:t>
            </a:r>
            <a:endParaRPr lang="en-US" b="1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DC69A5-6920-84A7-C428-D3832971D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C699A25-3DD1-179C-2BDA-646F1B950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615" y="1510393"/>
            <a:ext cx="4572000" cy="212271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ED4FDE2-F199-214E-9898-5D95DD06C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9" y="220436"/>
            <a:ext cx="4804000" cy="204409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FC19802-BF3D-31F0-C20A-C158C56DB8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55673"/>
            <a:ext cx="4947557" cy="212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39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2EDDD3-7C4D-F0C6-52D7-CCBDAAB30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326" y="0"/>
            <a:ext cx="5543348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0763AB8-2749-C1C4-5C94-68387F323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 algn="just" rtl="0">
              <a:spcBef>
                <a:spcPts val="0"/>
              </a:spcBef>
              <a:spcAft>
                <a:spcPts val="1000"/>
              </a:spcAft>
              <a:buNone/>
            </a:pPr>
            <a:endParaRPr lang="en-US" b="0" dirty="0">
              <a:effectLst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“</a:t>
            </a:r>
            <a:r>
              <a:rPr lang="en-US" sz="1800" b="0" i="1" u="sng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Forward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” = </a:t>
            </a:r>
          </a:p>
          <a:p>
            <a:pPr marL="114300" indent="0" rtl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5’TCGTCGGCAGCGTCAGATGTGTATAAGAGACAGCCTACGGGNGGCWGCAG3’</a:t>
            </a:r>
            <a:endParaRPr lang="en-US" sz="1800" b="0" i="1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rtl="0" fontAlgn="base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“</a:t>
            </a:r>
            <a:r>
              <a:rPr lang="en-US" sz="1800" b="0" i="1" u="sng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Reverse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” =</a:t>
            </a:r>
          </a:p>
          <a:p>
            <a:pPr marL="114300" indent="0" rtl="0" fontAlgn="base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5’GTCTCGTGGGCTCGGAGATGTGTATAAGAGACAGGACTACHVGGGTATCTAATCC3’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2E9B2F8-972A-A638-7224-C9BC7A310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1" y="80634"/>
            <a:ext cx="4521919" cy="98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431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B71913-0C9E-555C-9614-0B037FD46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386" y="0"/>
            <a:ext cx="8520600" cy="572700"/>
          </a:xfrm>
        </p:spPr>
        <p:txBody>
          <a:bodyPr>
            <a:normAutofit/>
          </a:bodyPr>
          <a:lstStyle/>
          <a:p>
            <a:r>
              <a:rPr lang="es-MX" sz="1800" b="1" dirty="0"/>
              <a:t>Análisis del gen 16s RNA ribosomal</a:t>
            </a:r>
            <a:endParaRPr lang="en-US" sz="1800" b="1" dirty="0"/>
          </a:p>
        </p:txBody>
      </p:sp>
      <p:pic>
        <p:nvPicPr>
          <p:cNvPr id="3074" name="Picture 2" descr="Microbiome Sequencing">
            <a:extLst>
              <a:ext uri="{FF2B5EF4-FFF2-40B4-BE49-F238E27FC236}">
                <a16:creationId xmlns:a16="http://schemas.microsoft.com/office/drawing/2014/main" id="{0E60C20C-777E-C13E-4DE1-FA6F9B080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121" y="445025"/>
            <a:ext cx="5265965" cy="4326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8648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8BDD4-E335-3310-59D7-DE120A361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2791CE-9744-5403-C933-8F5666599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18s ribosomal rna 16s ribosomal rna ribosomal dna secuenciación de ADN,  azul, ángulo, texto png | PNGWing">
            <a:extLst>
              <a:ext uri="{FF2B5EF4-FFF2-40B4-BE49-F238E27FC236}">
                <a16:creationId xmlns:a16="http://schemas.microsoft.com/office/drawing/2014/main" id="{1178E98F-D200-49AF-0D61-EA5386E63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700" y="574625"/>
            <a:ext cx="8763000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576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60978A-FBDA-AE53-FEBC-BFE25347A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00" y="118453"/>
            <a:ext cx="8520600" cy="572700"/>
          </a:xfrm>
        </p:spPr>
        <p:txBody>
          <a:bodyPr>
            <a:normAutofit/>
          </a:bodyPr>
          <a:lstStyle/>
          <a:p>
            <a:r>
              <a:rPr lang="es-MX" sz="1800" b="1" dirty="0"/>
              <a:t>Evaluación de la amplificación en gel de agarosa al 1%</a:t>
            </a:r>
            <a:endParaRPr lang="en-US" sz="1800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E137626-439C-170D-F8D8-5EBE009B8B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135"/>
          <a:stretch/>
        </p:blipFill>
        <p:spPr>
          <a:xfrm>
            <a:off x="0" y="1355271"/>
            <a:ext cx="9144000" cy="188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455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B71913-0C9E-555C-9614-0B037FD46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332DC44-DC05-849C-ED4B-82C678573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5" y="0"/>
            <a:ext cx="5441317" cy="1171005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BCE965E-8B1E-8954-9EFE-F22EFB175D2D}"/>
              </a:ext>
            </a:extLst>
          </p:cNvPr>
          <p:cNvSpPr txBox="1"/>
          <p:nvPr/>
        </p:nvSpPr>
        <p:spPr>
          <a:xfrm>
            <a:off x="5600701" y="115604"/>
            <a:ext cx="3231600" cy="107721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Uso de perlas magnéticas.</a:t>
            </a:r>
          </a:p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Mecanismo:  adsorción-resorción. </a:t>
            </a:r>
          </a:p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Precipitación con PEG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8F9C3B6-0EDA-D05D-171A-D44C471545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304" t="12542" r="7065" b="38159"/>
          <a:stretch/>
        </p:blipFill>
        <p:spPr>
          <a:xfrm>
            <a:off x="1052483" y="1500426"/>
            <a:ext cx="7039034" cy="254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46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DEB42C-DBD7-66DE-9AF8-A1B6D3793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25"/>
            <a:ext cx="8520600" cy="572700"/>
          </a:xfrm>
        </p:spPr>
        <p:txBody>
          <a:bodyPr>
            <a:normAutofit/>
          </a:bodyPr>
          <a:lstStyle/>
          <a:p>
            <a:r>
              <a:rPr lang="es-MX" sz="1800" b="1" dirty="0"/>
              <a:t>Selección de fragmentos por medio de perlas magnéticas</a:t>
            </a:r>
            <a:endParaRPr lang="en-US" sz="1800" b="1" dirty="0"/>
          </a:p>
        </p:txBody>
      </p:sp>
      <p:pic>
        <p:nvPicPr>
          <p:cNvPr id="4" name="Picture 2" descr="Resultado de imagen para PERLAS AMPURE">
            <a:extLst>
              <a:ext uri="{FF2B5EF4-FFF2-40B4-BE49-F238E27FC236}">
                <a16:creationId xmlns:a16="http://schemas.microsoft.com/office/drawing/2014/main" id="{AFDAB7E3-CAE9-06B7-DEB8-98D97D5A7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563" y="427668"/>
            <a:ext cx="5216623" cy="4466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742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93B543-7F41-90E6-FFF6-C49AEAF6D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8" y="15308"/>
            <a:ext cx="8520600" cy="572700"/>
          </a:xfrm>
        </p:spPr>
        <p:txBody>
          <a:bodyPr>
            <a:normAutofit/>
          </a:bodyPr>
          <a:lstStyle/>
          <a:p>
            <a:r>
              <a:rPr lang="es-MX" sz="1800" b="1" dirty="0"/>
              <a:t>Rendimiento de la reacción por </a:t>
            </a:r>
            <a:r>
              <a:rPr lang="es-MX" sz="1800" b="1" dirty="0" err="1"/>
              <a:t>fluorometría</a:t>
            </a:r>
            <a:endParaRPr lang="en-US" sz="1800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8F71277-4BB7-BFF5-3571-BC3E71EAC6FA}"/>
              </a:ext>
            </a:extLst>
          </p:cNvPr>
          <p:cNvSpPr txBox="1"/>
          <p:nvPr/>
        </p:nvSpPr>
        <p:spPr>
          <a:xfrm>
            <a:off x="4475330" y="526833"/>
            <a:ext cx="4445391" cy="156966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Fluorometría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: utiliza un </a:t>
            </a:r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fluoróforo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intercalante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dsDNA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</a:p>
          <a:p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Usa 2 puntos de referencia:</a:t>
            </a:r>
          </a:p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S1 – agua</a:t>
            </a:r>
          </a:p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S2 –100ng de </a:t>
            </a:r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dsDNA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2" descr="Resultado de imagen para tubo eppendorf dibujo">
            <a:extLst>
              <a:ext uri="{FF2B5EF4-FFF2-40B4-BE49-F238E27FC236}">
                <a16:creationId xmlns:a16="http://schemas.microsoft.com/office/drawing/2014/main" id="{2635C2A1-EC46-DB13-37B5-034928DFC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177" y="1095174"/>
            <a:ext cx="794459" cy="133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32610784-Quantus-CalloutImage-2">
            <a:extLst>
              <a:ext uri="{FF2B5EF4-FFF2-40B4-BE49-F238E27FC236}">
                <a16:creationId xmlns:a16="http://schemas.microsoft.com/office/drawing/2014/main" id="{C8D97C58-1201-F296-7829-81C7A36ED4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5940" y="1763956"/>
            <a:ext cx="2041086" cy="2396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053F15D-F4A9-75EF-CDBD-1242D2CBC8C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80" t="12156" r="5000" b="8675"/>
          <a:stretch/>
        </p:blipFill>
        <p:spPr>
          <a:xfrm>
            <a:off x="5226500" y="2890009"/>
            <a:ext cx="2943049" cy="146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267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9A59ABA-BCD0-28F9-791E-24679955C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3" y="121321"/>
            <a:ext cx="5030411" cy="906607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1D6F837-417E-FB09-C461-A050067DEC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430418"/>
              </p:ext>
            </p:extLst>
          </p:nvPr>
        </p:nvGraphicFramePr>
        <p:xfrm>
          <a:off x="400055" y="1027928"/>
          <a:ext cx="6307596" cy="3996505"/>
        </p:xfrm>
        <a:graphic>
          <a:graphicData uri="http://schemas.openxmlformats.org/drawingml/2006/table">
            <a:tbl>
              <a:tblPr/>
              <a:tblGrid>
                <a:gridCol w="700844">
                  <a:extLst>
                    <a:ext uri="{9D8B030D-6E8A-4147-A177-3AD203B41FA5}">
                      <a16:colId xmlns:a16="http://schemas.microsoft.com/office/drawing/2014/main" val="1450294070"/>
                    </a:ext>
                  </a:extLst>
                </a:gridCol>
                <a:gridCol w="700844">
                  <a:extLst>
                    <a:ext uri="{9D8B030D-6E8A-4147-A177-3AD203B41FA5}">
                      <a16:colId xmlns:a16="http://schemas.microsoft.com/office/drawing/2014/main" val="531023345"/>
                    </a:ext>
                  </a:extLst>
                </a:gridCol>
                <a:gridCol w="700844">
                  <a:extLst>
                    <a:ext uri="{9D8B030D-6E8A-4147-A177-3AD203B41FA5}">
                      <a16:colId xmlns:a16="http://schemas.microsoft.com/office/drawing/2014/main" val="3535065162"/>
                    </a:ext>
                  </a:extLst>
                </a:gridCol>
                <a:gridCol w="700844">
                  <a:extLst>
                    <a:ext uri="{9D8B030D-6E8A-4147-A177-3AD203B41FA5}">
                      <a16:colId xmlns:a16="http://schemas.microsoft.com/office/drawing/2014/main" val="3850748920"/>
                    </a:ext>
                  </a:extLst>
                </a:gridCol>
                <a:gridCol w="700844">
                  <a:extLst>
                    <a:ext uri="{9D8B030D-6E8A-4147-A177-3AD203B41FA5}">
                      <a16:colId xmlns:a16="http://schemas.microsoft.com/office/drawing/2014/main" val="3508870309"/>
                    </a:ext>
                  </a:extLst>
                </a:gridCol>
                <a:gridCol w="700844">
                  <a:extLst>
                    <a:ext uri="{9D8B030D-6E8A-4147-A177-3AD203B41FA5}">
                      <a16:colId xmlns:a16="http://schemas.microsoft.com/office/drawing/2014/main" val="4109711911"/>
                    </a:ext>
                  </a:extLst>
                </a:gridCol>
                <a:gridCol w="700844">
                  <a:extLst>
                    <a:ext uri="{9D8B030D-6E8A-4147-A177-3AD203B41FA5}">
                      <a16:colId xmlns:a16="http://schemas.microsoft.com/office/drawing/2014/main" val="2002277183"/>
                    </a:ext>
                  </a:extLst>
                </a:gridCol>
                <a:gridCol w="700844">
                  <a:extLst>
                    <a:ext uri="{9D8B030D-6E8A-4147-A177-3AD203B41FA5}">
                      <a16:colId xmlns:a16="http://schemas.microsoft.com/office/drawing/2014/main" val="91607123"/>
                    </a:ext>
                  </a:extLst>
                </a:gridCol>
                <a:gridCol w="700844">
                  <a:extLst>
                    <a:ext uri="{9D8B030D-6E8A-4147-A177-3AD203B41FA5}">
                      <a16:colId xmlns:a16="http://schemas.microsoft.com/office/drawing/2014/main" val="3790419135"/>
                    </a:ext>
                  </a:extLst>
                </a:gridCol>
              </a:tblGrid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Adapter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AGATCGGAAGAGCACACGTCTGAACTCCAGTCA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0225735"/>
                  </a:ext>
                </a:extLst>
              </a:tr>
              <a:tr h="22380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AdapterRead2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AGATCGGAAGAGCGTCGTGTAGGGAAAGAGTGT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55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572845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[Data]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059797"/>
                  </a:ext>
                </a:extLst>
              </a:tr>
              <a:tr h="247843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Sample_ID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Sample_Name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Sample_Plate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Sample_Well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I7_Index_ID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I5_Index_ID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index2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Sample_Project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610137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BR-08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BR-08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D703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CGCTCATT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D505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AGGCGAAG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4421125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BR-09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BR-09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D704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GAGATTCC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D505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AGGCGAAG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8328282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BR-10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BR-10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D705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ATTCAGAA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D505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AGGCGAAG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1857535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BR-11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BR-11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D706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GAATTCGT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D505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AGGCGAAG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3059146"/>
                  </a:ext>
                </a:extLst>
              </a:tr>
              <a:tr h="154654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BR-13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BR-13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D707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CTGAAGCT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D505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AGGCGAAG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7554450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BR-14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BR-14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D708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TAATGCGC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D505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AGGCGAAG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6555193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BR-15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BR-15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D709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CGGCTATG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D505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AGGCGAAG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345350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BR-16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BR-16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D710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TCCGCGAA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D505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AGGCGAAG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634439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BR-17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BR-17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D711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TCTCGCGC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D505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AGGCGAAG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4608587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BR-19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BR-19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D712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AGCGATAG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D505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AGGCGAAG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915993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BR-20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BR-20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D701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ATTACTCG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D506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TAATCTTA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5508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BR-21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BR-21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D702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TCCGGAGA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D506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TAATCTTA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209560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BR-22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BR-22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D703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CGCTCATT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D506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TAATCTTA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3244600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BR-23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BR-23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D704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GAGATTCC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D506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TAATCTTA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065557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BR-24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BR-24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D705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ATTCAGAA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D506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TAATCTTA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2969958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BR-25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BR-25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D706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GAATTCGT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D506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TAATCTTA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1186255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BR-26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BR-26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D707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CTGAAGCT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D506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TAATCTTA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1890016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BR-30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BR-30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D708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TAATGCGC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D506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TAATCTTA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0149811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BR-31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BR-31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D709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CGGCTATG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D506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TAATCTTA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INVEGEMB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8805323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GT274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GT274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D710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TCCGCGAA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D506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TAATCTTA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SHCMYO28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886509"/>
                  </a:ext>
                </a:extLst>
              </a:tr>
              <a:tr h="127381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GT404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GT404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D711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TCTCGCGC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D506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TAATCTTA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SHCMYO28</a:t>
                      </a:r>
                    </a:p>
                  </a:txBody>
                  <a:tcPr marL="7877" marR="7877" marT="787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2375495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4681710A-2052-5637-AA31-181A31CD6F9F}"/>
              </a:ext>
            </a:extLst>
          </p:cNvPr>
          <p:cNvSpPr txBox="1"/>
          <p:nvPr/>
        </p:nvSpPr>
        <p:spPr>
          <a:xfrm>
            <a:off x="6192355" y="30951"/>
            <a:ext cx="2951645" cy="107721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Por medio de la reacción en cadena de la polimerasa, se amplifica el DNA y se añaden los índices.</a:t>
            </a:r>
          </a:p>
        </p:txBody>
      </p:sp>
    </p:spTree>
    <p:extLst>
      <p:ext uri="{BB962C8B-B14F-4D97-AF65-F5344CB8AC3E}">
        <p14:creationId xmlns:p14="http://schemas.microsoft.com/office/powerpoint/2010/main" val="2535511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6F45F5-C3FC-0684-57DE-065497A49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" y="76920"/>
            <a:ext cx="5065076" cy="9954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2EF45AD-E69A-C486-4BA5-323B4DA34EF0}"/>
              </a:ext>
            </a:extLst>
          </p:cNvPr>
          <p:cNvSpPr txBox="1"/>
          <p:nvPr/>
        </p:nvSpPr>
        <p:spPr>
          <a:xfrm>
            <a:off x="4314648" y="1072329"/>
            <a:ext cx="4412974" cy="132343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Electroforesis de alta resolución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Podemos determinar:</a:t>
            </a:r>
          </a:p>
          <a:p>
            <a:pPr marL="285750" indent="-285750">
              <a:buFontTx/>
              <a:buChar char="-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Distribución de tamaños de la biblioteca.</a:t>
            </a:r>
          </a:p>
          <a:p>
            <a:pPr marL="285750" indent="-285750">
              <a:buFontTx/>
              <a:buChar char="-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Presencia de oligonucleótidos (</a:t>
            </a:r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primers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285750" indent="-285750">
              <a:buFontTx/>
              <a:buChar char="-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Concentración de la biblioteca.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02D519A-39D1-913D-E54D-2FC94A0080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88" t="15829" r="9783" b="10705"/>
          <a:stretch/>
        </p:blipFill>
        <p:spPr>
          <a:xfrm>
            <a:off x="334050" y="2450372"/>
            <a:ext cx="4828997" cy="2370826"/>
          </a:xfrm>
          <a:prstGeom prst="rect">
            <a:avLst/>
          </a:prstGeom>
        </p:spPr>
      </p:pic>
      <p:pic>
        <p:nvPicPr>
          <p:cNvPr id="5122" name="Picture 2" descr="Quality Control | Stanford Genomics | Stanford Medicine">
            <a:extLst>
              <a:ext uri="{FF2B5EF4-FFF2-40B4-BE49-F238E27FC236}">
                <a16:creationId xmlns:a16="http://schemas.microsoft.com/office/drawing/2014/main" id="{010EDE2F-9C93-089B-747D-4765A96757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9546" y="2955197"/>
            <a:ext cx="3126147" cy="2188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sultado de imagen para chip bioanalyzer">
            <a:extLst>
              <a:ext uri="{FF2B5EF4-FFF2-40B4-BE49-F238E27FC236}">
                <a16:creationId xmlns:a16="http://schemas.microsoft.com/office/drawing/2014/main" id="{97B14C12-1936-D762-316E-0562FAAE3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047" y="2505712"/>
            <a:ext cx="1135640" cy="1130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5042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840130CC-46D5-DB30-CAB8-DDBDC563DB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28" y="1042750"/>
            <a:ext cx="8249801" cy="3400900"/>
          </a:xfrm>
          <a:prstGeom prst="rect">
            <a:avLst/>
          </a:prstGeom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65728B35-506E-7F6B-523F-0F35A362AB0C}"/>
              </a:ext>
            </a:extLst>
          </p:cNvPr>
          <p:cNvSpPr txBox="1">
            <a:spLocks/>
          </p:cNvSpPr>
          <p:nvPr/>
        </p:nvSpPr>
        <p:spPr>
          <a:xfrm>
            <a:off x="30878" y="1530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s-MX" sz="1800" b="1" dirty="0"/>
              <a:t>Electroferograma de biblioteca 16s del gen RNA ribosomal</a:t>
            </a:r>
            <a:endParaRPr lang="en-US" sz="18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6A650D1-BAFC-E40E-D312-4720202E86B4}"/>
              </a:ext>
            </a:extLst>
          </p:cNvPr>
          <p:cNvSpPr txBox="1"/>
          <p:nvPr/>
        </p:nvSpPr>
        <p:spPr>
          <a:xfrm>
            <a:off x="3641271" y="888861"/>
            <a:ext cx="1861458" cy="30777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MX" dirty="0"/>
              <a:t>Producto de 600 </a:t>
            </a:r>
            <a:r>
              <a:rPr lang="es-MX" dirty="0" err="1"/>
              <a:t>bp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7A46CEC-9784-820C-6088-1CD5CC28DFC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48635" y="365125"/>
            <a:ext cx="4500952" cy="2484211"/>
          </a:xfrm>
          <a:prstGeom prst="rect">
            <a:avLst/>
          </a:prstGeom>
        </p:spPr>
      </p:pic>
      <p:pic>
        <p:nvPicPr>
          <p:cNvPr id="4" name="Picture 2" descr="Resultado de imagen para chip bioanalyzer primers">
            <a:extLst>
              <a:ext uri="{FF2B5EF4-FFF2-40B4-BE49-F238E27FC236}">
                <a16:creationId xmlns:a16="http://schemas.microsoft.com/office/drawing/2014/main" id="{7DD4AE72-40E2-38EF-1D11-BA7C4A717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822" y="1922100"/>
            <a:ext cx="3164242" cy="2672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88A6F3C-DE7B-101B-1A86-286F2F4BCD7E}"/>
              </a:ext>
            </a:extLst>
          </p:cNvPr>
          <p:cNvSpPr txBox="1"/>
          <p:nvPr/>
        </p:nvSpPr>
        <p:spPr>
          <a:xfrm>
            <a:off x="5407479" y="823056"/>
            <a:ext cx="2327836" cy="33855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Biblioteca óptima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0C3ED55-C75C-CBC3-533F-54AF56EB1F19}"/>
              </a:ext>
            </a:extLst>
          </p:cNvPr>
          <p:cNvSpPr txBox="1"/>
          <p:nvPr/>
        </p:nvSpPr>
        <p:spPr>
          <a:xfrm>
            <a:off x="2398171" y="3258351"/>
            <a:ext cx="2327836" cy="33855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Biblioteca subóptima</a:t>
            </a:r>
            <a:endParaRPr lang="es-MX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231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136A6B-4C87-403D-AEFA-E12E6DF45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D942F3-C70F-2540-433C-665927B3D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4" y="1796143"/>
            <a:ext cx="8995711" cy="188015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EEEE3FB-E19E-C2E8-E6E0-1215EB9EDAFE}"/>
              </a:ext>
            </a:extLst>
          </p:cNvPr>
          <p:cNvSpPr txBox="1"/>
          <p:nvPr/>
        </p:nvSpPr>
        <p:spPr>
          <a:xfrm>
            <a:off x="2277007" y="582040"/>
            <a:ext cx="4445391" cy="33855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Concentración del </a:t>
            </a:r>
            <a:r>
              <a:rPr lang="es-MX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gDNA</a:t>
            </a:r>
            <a:endParaRPr lang="es-MX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997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280DD3CD-5373-35E0-90C0-50F71F8C5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585" y="574624"/>
            <a:ext cx="6441621" cy="172021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85B24061-54BB-01CF-3B4D-149963471103}"/>
              </a:ext>
            </a:extLst>
          </p:cNvPr>
          <p:cNvSpPr txBox="1"/>
          <p:nvPr/>
        </p:nvSpPr>
        <p:spPr>
          <a:xfrm>
            <a:off x="728061" y="2580593"/>
            <a:ext cx="7826667" cy="181588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Calidad del </a:t>
            </a:r>
            <a:r>
              <a:rPr lang="es-MX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gDNA</a:t>
            </a:r>
            <a:endParaRPr lang="es-MX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Proteínas: pueden cubrir el DNA evitando que algunas enzimas se unan a su sustrato. </a:t>
            </a:r>
          </a:p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La presencia de agentes quelantes como el EDTA secuestran cofactores enzimáticos.</a:t>
            </a:r>
          </a:p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Proteasas, detergentes y etanol pueden degradar las enzimas.</a:t>
            </a:r>
          </a:p>
          <a:p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Presencia de inhibidores como el ácido húmico y fúlvico.</a:t>
            </a:r>
          </a:p>
        </p:txBody>
      </p:sp>
    </p:spTree>
    <p:extLst>
      <p:ext uri="{BB962C8B-B14F-4D97-AF65-F5344CB8AC3E}">
        <p14:creationId xmlns:p14="http://schemas.microsoft.com/office/powerpoint/2010/main" val="316597253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17153</TotalTime>
  <Words>490</Words>
  <Application>Microsoft Office PowerPoint</Application>
  <PresentationFormat>Presentación en pantalla (16:9)</PresentationFormat>
  <Paragraphs>228</Paragraphs>
  <Slides>20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Arial</vt:lpstr>
      <vt:lpstr>Calibri</vt:lpstr>
      <vt:lpstr>Times New Roman</vt:lpstr>
      <vt:lpstr>Simple Light</vt:lpstr>
      <vt:lpstr>Tema de Office</vt:lpstr>
      <vt:lpstr> “Preparación de bibliotecas por el método de amplificación del gen 16s RNA ribosomal”</vt:lpstr>
      <vt:lpstr>Presentación de PowerPoint</vt:lpstr>
      <vt:lpstr>Métodos de enriquecimiento</vt:lpstr>
      <vt:lpstr>Presentación de PowerPoint</vt:lpstr>
      <vt:lpstr>Evaluación de la integridad del ADNg </vt:lpstr>
      <vt:lpstr>Muestras del curso</vt:lpstr>
      <vt:lpstr>Presentación de PowerPoint</vt:lpstr>
      <vt:lpstr>Presentación de PowerPoint</vt:lpstr>
      <vt:lpstr>Análisis del gen 16s RNA ribosomal</vt:lpstr>
      <vt:lpstr>Presentación de PowerPoint</vt:lpstr>
      <vt:lpstr>Evaluación de la amplificación en gel de agarosa al 1%</vt:lpstr>
      <vt:lpstr>Presentación de PowerPoint</vt:lpstr>
      <vt:lpstr>Selección de fragmentos por medio de perlas magnéticas</vt:lpstr>
      <vt:lpstr>Rendimiento de la reacción por fluorometría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“Preparación de bibliotecas por el método de amplificación del gen 16s RNA ribosomal”</dc:title>
  <dc:creator>CLARA ESTELA DIAZ VELASQUEZ</dc:creator>
  <cp:lastModifiedBy>CLARA ESTELA DIAZ VELASQUEZ</cp:lastModifiedBy>
  <cp:revision>14</cp:revision>
  <dcterms:modified xsi:type="dcterms:W3CDTF">2026-04-26T20:45:57Z</dcterms:modified>
</cp:coreProperties>
</file>